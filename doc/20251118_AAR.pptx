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4" r:id="rId1"/>
  </p:sldMasterIdLst>
  <p:notesMasterIdLst>
    <p:notesMasterId r:id="rId27"/>
  </p:notesMasterIdLst>
  <p:handoutMasterIdLst>
    <p:handoutMasterId r:id="rId28"/>
  </p:handoutMasterIdLst>
  <p:sldIdLst>
    <p:sldId id="283" r:id="rId2"/>
    <p:sldId id="316" r:id="rId3"/>
    <p:sldId id="320" r:id="rId4"/>
    <p:sldId id="309" r:id="rId5"/>
    <p:sldId id="317" r:id="rId6"/>
    <p:sldId id="310" r:id="rId7"/>
    <p:sldId id="311" r:id="rId8"/>
    <p:sldId id="312" r:id="rId9"/>
    <p:sldId id="318" r:id="rId10"/>
    <p:sldId id="313" r:id="rId11"/>
    <p:sldId id="314" r:id="rId12"/>
    <p:sldId id="315" r:id="rId13"/>
    <p:sldId id="319" r:id="rId14"/>
    <p:sldId id="308" r:id="rId15"/>
    <p:sldId id="306" r:id="rId16"/>
    <p:sldId id="304" r:id="rId17"/>
    <p:sldId id="297" r:id="rId18"/>
    <p:sldId id="305" r:id="rId19"/>
    <p:sldId id="298" r:id="rId20"/>
    <p:sldId id="307" r:id="rId21"/>
    <p:sldId id="300" r:id="rId22"/>
    <p:sldId id="299" r:id="rId23"/>
    <p:sldId id="301" r:id="rId24"/>
    <p:sldId id="302" r:id="rId25"/>
    <p:sldId id="303" r:id="rId26"/>
  </p:sldIdLst>
  <p:sldSz cx="9906000" cy="6858000" type="A4"/>
  <p:notesSz cx="6858000" cy="9144000"/>
  <p:embeddedFontLst>
    <p:embeddedFont>
      <p:font typeface="KoPub돋움체 Bold" panose="02020603020101020101" pitchFamily="18" charset="-127"/>
      <p:regular r:id="rId29"/>
      <p:bold r:id="rId30"/>
    </p:embeddedFont>
    <p:embeddedFont>
      <p:font typeface="KoPub돋움체 Light" panose="02020603020101020101" pitchFamily="18" charset="-127"/>
      <p:regular r:id="rId31"/>
    </p:embeddedFont>
    <p:embeddedFont>
      <p:font typeface="KoPub돋움체 Medium" panose="02020603020101020101" pitchFamily="18" charset="-127"/>
      <p:regular r:id="rId32"/>
    </p:embeddedFont>
    <p:embeddedFont>
      <p:font typeface="맑은 고딕" panose="020B0503020000020004" pitchFamily="50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Ⅲ. 기술 및 기능" id="{17CCE45C-2348-4288-A1EF-670851B4D79B}">
          <p14:sldIdLst>
            <p14:sldId id="283"/>
            <p14:sldId id="316"/>
            <p14:sldId id="320"/>
            <p14:sldId id="309"/>
            <p14:sldId id="317"/>
            <p14:sldId id="310"/>
            <p14:sldId id="311"/>
            <p14:sldId id="312"/>
            <p14:sldId id="318"/>
            <p14:sldId id="313"/>
            <p14:sldId id="314"/>
            <p14:sldId id="315"/>
            <p14:sldId id="319"/>
            <p14:sldId id="308"/>
            <p14:sldId id="306"/>
            <p14:sldId id="304"/>
            <p14:sldId id="297"/>
            <p14:sldId id="305"/>
            <p14:sldId id="298"/>
            <p14:sldId id="307"/>
            <p14:sldId id="300"/>
            <p14:sldId id="299"/>
            <p14:sldId id="301"/>
            <p14:sldId id="302"/>
            <p14:sldId id="303"/>
          </p14:sldIdLst>
        </p14:section>
        <p14:section name="가이드 구역" id="{D6FA30C5-85E0-4693-A621-A5ED5D5719B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172" userDrawn="1">
          <p15:clr>
            <a:srgbClr val="A4A3A4"/>
          </p15:clr>
        </p15:guide>
        <p15:guide id="4" orient="horz" pos="618" userDrawn="1">
          <p15:clr>
            <a:srgbClr val="A4A3A4"/>
          </p15:clr>
        </p15:guide>
        <p15:guide id="5" orient="horz" pos="4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BBF4"/>
    <a:srgbClr val="23B45D"/>
    <a:srgbClr val="ECF7FE"/>
    <a:srgbClr val="F5FAFD"/>
    <a:srgbClr val="D9EEFC"/>
    <a:srgbClr val="0066AC"/>
    <a:srgbClr val="0CB8EE"/>
    <a:srgbClr val="0067AC"/>
    <a:srgbClr val="0078B9"/>
    <a:srgbClr val="74D9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72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2982" y="858"/>
      </p:cViewPr>
      <p:guideLst>
        <p:guide orient="horz" pos="2160"/>
        <p:guide pos="3120"/>
        <p:guide pos="172"/>
        <p:guide orient="horz" pos="618"/>
        <p:guide orient="horz" pos="48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89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77922AE-C4FE-A8FF-E468-FC44F541CB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2617681-4C10-ABF8-0675-31426C2FAD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D1D58F-FAE1-4ED8-805F-25EA6268E4CA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839DC6C-C936-8A8A-F455-286B9EA2BA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4B7D6B-AFF3-B490-5241-872082F21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191DD1-690D-4730-B213-539F86DDE9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87993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89CF5E-F414-41A7-A322-9EC6ECEEBADD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A5350-41E5-4D8C-B797-ACE2C2677F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27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1C0B283-51A9-2C2D-354B-4DDF7CA5CC9C}"/>
              </a:ext>
            </a:extLst>
          </p:cNvPr>
          <p:cNvSpPr/>
          <p:nvPr userDrawn="1"/>
        </p:nvSpPr>
        <p:spPr>
          <a:xfrm>
            <a:off x="0" y="1567526"/>
            <a:ext cx="9906000" cy="232977"/>
          </a:xfrm>
          <a:prstGeom prst="rect">
            <a:avLst/>
          </a:prstGeom>
          <a:solidFill>
            <a:srgbClr val="EC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C097AC-1786-185E-F67A-D7528FD21708}"/>
              </a:ext>
            </a:extLst>
          </p:cNvPr>
          <p:cNvSpPr txBox="1"/>
          <p:nvPr userDrawn="1"/>
        </p:nvSpPr>
        <p:spPr>
          <a:xfrm>
            <a:off x="4694125" y="6551466"/>
            <a:ext cx="5212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000" b="0">
                <a:ln w="3175"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dirty="0"/>
              <a:t>Ⅰ-</a:t>
            </a:r>
            <a:fld id="{E36F03CF-389E-4D93-9FB1-49222009B45F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3839DA65-9D56-2403-7812-8E11396129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1139" y="468868"/>
            <a:ext cx="5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>
              <a:buFontTx/>
              <a:buNone/>
              <a:defRPr kumimoji="1" lang="ko-Kore-KR" altLang="en-US" sz="1800" b="0" i="0" u="none" strike="noStrike" kern="1200" cap="none" spc="-50" normalizeH="0" baseline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342880" marR="0" lvl="0" indent="-342880" algn="l" defTabSz="91434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1.1.1.1.1 </a:t>
            </a:r>
            <a:r>
              <a:rPr kumimoji="1" lang="ko-KR" altLang="en-US" dirty="0"/>
              <a:t>마지막 제목</a:t>
            </a:r>
            <a:endParaRPr kumimoji="1" lang="ko-Kore-KR" altLang="en-US" dirty="0"/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46D79DFF-34C4-F233-C9CC-4BF1D3AF32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139" y="145620"/>
            <a:ext cx="5400000" cy="217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buFontTx/>
              <a:buNone/>
              <a:defRPr kumimoji="1" lang="ko-Kore-KR" altLang="en-US" sz="900" b="0" spc="-5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dirty="0"/>
              <a:t>1.1 </a:t>
            </a:r>
            <a:r>
              <a:rPr kumimoji="1" lang="ko-KR" altLang="en-US" dirty="0"/>
              <a:t>둘째 제목 </a:t>
            </a:r>
            <a:r>
              <a:rPr kumimoji="1" lang="en-US" altLang="ko-KR" dirty="0"/>
              <a:t>&gt; 1.1.1 </a:t>
            </a:r>
            <a:r>
              <a:rPr kumimoji="1" lang="ko-KR" altLang="en-US" dirty="0"/>
              <a:t>셋째 제목 </a:t>
            </a:r>
            <a:r>
              <a:rPr kumimoji="1" lang="en-US" altLang="ko-KR" dirty="0"/>
              <a:t>&gt; 1.1.1.1 </a:t>
            </a:r>
            <a:r>
              <a:rPr kumimoji="1" lang="ko-KR" altLang="en-US" dirty="0"/>
              <a:t>넷째 제목</a:t>
            </a:r>
            <a:endParaRPr kumimoji="1" lang="ko-Kore-KR" altLang="en-US" dirty="0"/>
          </a:p>
        </p:txBody>
      </p:sp>
      <p:sp>
        <p:nvSpPr>
          <p:cNvPr id="22" name="텍스트 개체 틀 18">
            <a:extLst>
              <a:ext uri="{FF2B5EF4-FFF2-40B4-BE49-F238E27FC236}">
                <a16:creationId xmlns:a16="http://schemas.microsoft.com/office/drawing/2014/main" id="{A6BFA2E1-628C-19AA-41FB-2290A1C308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2482" y="979980"/>
            <a:ext cx="9361040" cy="497546"/>
          </a:xfrm>
          <a:prstGeom prst="rect">
            <a:avLst/>
          </a:prstGeom>
        </p:spPr>
        <p:txBody>
          <a:bodyPr lIns="0" anchor="t"/>
          <a:lstStyle>
            <a:lvl1pPr marL="54000" indent="0">
              <a:buNone/>
              <a:defRPr lang="en-US" altLang="ko-KR" sz="1200" b="0" i="0" spc="-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225450" lvl="0" indent="-171450" latinLnBrk="0">
              <a:lnSpc>
                <a:spcPct val="100000"/>
              </a:lnSpc>
              <a:spcBef>
                <a:spcPts val="300"/>
              </a:spcBef>
            </a:pPr>
            <a:r>
              <a:rPr kumimoji="1" lang="ko-KR" altLang="en-US" dirty="0" err="1"/>
              <a:t>거버닝</a:t>
            </a:r>
            <a:r>
              <a:rPr kumimoji="1" lang="ko-KR" altLang="en-US" dirty="0"/>
              <a:t> 메시지를 </a:t>
            </a:r>
            <a:r>
              <a:rPr kumimoji="1" lang="en-US" altLang="ko-KR" dirty="0"/>
              <a:t>2</a:t>
            </a:r>
            <a:r>
              <a:rPr kumimoji="1" lang="ko-KR" altLang="en-US" dirty="0"/>
              <a:t>줄로 입력해주세요</a:t>
            </a:r>
            <a:r>
              <a:rPr kumimoji="1" lang="en-US" altLang="ko-KR" dirty="0"/>
              <a:t>. (</a:t>
            </a:r>
            <a:r>
              <a:rPr kumimoji="1" lang="en-US" altLang="ko-KR" dirty="0" err="1"/>
              <a:t>Kopub</a:t>
            </a:r>
            <a:r>
              <a:rPr kumimoji="1" lang="en-US" altLang="ko-KR" dirty="0"/>
              <a:t> </a:t>
            </a:r>
            <a:r>
              <a:rPr kumimoji="1" lang="ko-KR" altLang="en-US" dirty="0"/>
              <a:t>돋움체 </a:t>
            </a:r>
            <a:r>
              <a:rPr kumimoji="1" lang="en-US" altLang="ko-KR" dirty="0"/>
              <a:t>Medium</a:t>
            </a:r>
            <a:r>
              <a:rPr kumimoji="1" lang="ko-KR" altLang="en-US" dirty="0"/>
              <a:t> </a:t>
            </a:r>
            <a:r>
              <a:rPr kumimoji="1" lang="en-US" altLang="ko-KR" dirty="0"/>
              <a:t>12pt)</a:t>
            </a:r>
          </a:p>
          <a:p>
            <a:pPr marL="225450" lvl="0" indent="-171450" latinLnBrk="0">
              <a:lnSpc>
                <a:spcPct val="100000"/>
              </a:lnSpc>
              <a:spcBef>
                <a:spcPts val="300"/>
              </a:spcBef>
            </a:pPr>
            <a:endParaRPr kumimoji="1" lang="en-US" altLang="ko-KR" dirty="0"/>
          </a:p>
        </p:txBody>
      </p:sp>
      <p:sp>
        <p:nvSpPr>
          <p:cNvPr id="23" name="텍스트 개체 틀 4">
            <a:extLst>
              <a:ext uri="{FF2B5EF4-FFF2-40B4-BE49-F238E27FC236}">
                <a16:creationId xmlns:a16="http://schemas.microsoft.com/office/drawing/2014/main" id="{29368C50-87D3-A418-5C61-0D939C73D3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381" y="1590531"/>
            <a:ext cx="9041457" cy="184666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>
            <a:lvl1pPr marL="0" indent="0">
              <a:buNone/>
              <a:defRPr kumimoji="1" lang="ko-Kore-KR" altLang="en-US" sz="1200" b="0" i="0" u="none" strike="noStrike" kern="0" cap="none" spc="-5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KoPub돋움체 Bold" panose="02020603020101020101" pitchFamily="18" charset="-127"/>
              </a:defRPr>
            </a:lvl1pPr>
          </a:lstStyle>
          <a:p>
            <a:pPr marL="228600" marR="0" lvl="0" indent="-2286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1" lang="ko-KR" altLang="en-US" dirty="0"/>
              <a:t>소제목을 입력해주세요</a:t>
            </a:r>
            <a:endParaRPr kumimoji="1" lang="ko-Kore-KR" altLang="en-US" dirty="0"/>
          </a:p>
        </p:txBody>
      </p:sp>
      <p:sp>
        <p:nvSpPr>
          <p:cNvPr id="2" name="텍스트 개체 틀 215">
            <a:extLst>
              <a:ext uri="{FF2B5EF4-FFF2-40B4-BE49-F238E27FC236}">
                <a16:creationId xmlns:a16="http://schemas.microsoft.com/office/drawing/2014/main" id="{6A299CD4-3FE1-4948-A4D7-810ABE84CDF7}"/>
              </a:ext>
            </a:extLst>
          </p:cNvPr>
          <p:cNvSpPr txBox="1">
            <a:spLocks/>
          </p:cNvSpPr>
          <p:nvPr userDrawn="1"/>
        </p:nvSpPr>
        <p:spPr>
          <a:xfrm>
            <a:off x="361263" y="549230"/>
            <a:ext cx="641917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Chapter</a:t>
            </a:r>
            <a:r>
              <a:rPr kumimoji="1" lang="en-US" altLang="ko-KR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Ⅰ</a:t>
            </a: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.</a:t>
            </a:r>
            <a:endParaRPr kumimoji="1" lang="ko-Kore-KR" altLang="en-US" sz="1050" b="0" kern="1200" spc="-50" baseline="0" noProof="0" dirty="0">
              <a:solidFill>
                <a:srgbClr val="0078B9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3" name="텍스트 개체 틀 215">
            <a:extLst>
              <a:ext uri="{FF2B5EF4-FFF2-40B4-BE49-F238E27FC236}">
                <a16:creationId xmlns:a16="http://schemas.microsoft.com/office/drawing/2014/main" id="{576DFA47-B34F-0FA9-B0F5-15571405BD07}"/>
              </a:ext>
            </a:extLst>
          </p:cNvPr>
          <p:cNvSpPr txBox="1">
            <a:spLocks/>
          </p:cNvSpPr>
          <p:nvPr userDrawn="1"/>
        </p:nvSpPr>
        <p:spPr>
          <a:xfrm>
            <a:off x="964947" y="549230"/>
            <a:ext cx="1041409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kern="1200" spc="-50" baseline="0" noProof="0" dirty="0">
                <a:gradFill>
                  <a:gsLst>
                    <a:gs pos="0">
                      <a:srgbClr val="5F5E5E"/>
                    </a:gs>
                    <a:gs pos="100000">
                      <a:srgbClr val="5F5E5E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제안개요</a:t>
            </a:r>
            <a:endParaRPr kumimoji="1" lang="ko-Kore-KR" altLang="en-US" sz="1050" b="0" kern="1200" spc="-50" baseline="0" noProof="0" dirty="0">
              <a:gradFill>
                <a:gsLst>
                  <a:gs pos="0">
                    <a:srgbClr val="5F5E5E"/>
                  </a:gs>
                  <a:gs pos="100000">
                    <a:srgbClr val="5F5E5E"/>
                  </a:gs>
                </a:gsLst>
                <a:lin ang="540000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5C25CF9-93FB-1B87-3C1E-8BDE8C451E90}"/>
              </a:ext>
            </a:extLst>
          </p:cNvPr>
          <p:cNvGrpSpPr/>
          <p:nvPr userDrawn="1"/>
        </p:nvGrpSpPr>
        <p:grpSpPr>
          <a:xfrm>
            <a:off x="324168" y="1589493"/>
            <a:ext cx="130913" cy="186743"/>
            <a:chOff x="698782" y="3650471"/>
            <a:chExt cx="199745" cy="284932"/>
          </a:xfrm>
        </p:grpSpPr>
        <p:sp>
          <p:nvSpPr>
            <p:cNvPr id="26" name="자유형 287">
              <a:extLst>
                <a:ext uri="{FF2B5EF4-FFF2-40B4-BE49-F238E27FC236}">
                  <a16:creationId xmlns:a16="http://schemas.microsoft.com/office/drawing/2014/main" id="{81B6EDD0-CECC-4B4B-A218-F0C44F7C7B2B}"/>
                </a:ext>
              </a:extLst>
            </p:cNvPr>
            <p:cNvSpPr/>
            <p:nvPr/>
          </p:nvSpPr>
          <p:spPr>
            <a:xfrm>
              <a:off x="698782" y="3650471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CB8E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27" name="자유형 288">
              <a:extLst>
                <a:ext uri="{FF2B5EF4-FFF2-40B4-BE49-F238E27FC236}">
                  <a16:creationId xmlns:a16="http://schemas.microsoft.com/office/drawing/2014/main" id="{C4FC1A53-F0D1-FA7B-E4F2-EFE00AEC3205}"/>
                </a:ext>
              </a:extLst>
            </p:cNvPr>
            <p:cNvSpPr/>
            <p:nvPr/>
          </p:nvSpPr>
          <p:spPr>
            <a:xfrm flipH="1">
              <a:off x="698782" y="3744469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066AC">
                <a:alpha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2AC320EE-4746-05B4-5784-BEE7A96B17EE}"/>
              </a:ext>
            </a:extLst>
          </p:cNvPr>
          <p:cNvSpPr/>
          <p:nvPr userDrawn="1"/>
        </p:nvSpPr>
        <p:spPr>
          <a:xfrm>
            <a:off x="0" y="1477526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spc="0" baseline="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7DD0AB3-348E-833F-65F9-F178896AB0F2}"/>
              </a:ext>
            </a:extLst>
          </p:cNvPr>
          <p:cNvSpPr/>
          <p:nvPr userDrawn="1"/>
        </p:nvSpPr>
        <p:spPr>
          <a:xfrm>
            <a:off x="0" y="1802575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spc="0" baseline="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13" name="Rectangle 250">
            <a:extLst>
              <a:ext uri="{FF2B5EF4-FFF2-40B4-BE49-F238E27FC236}">
                <a16:creationId xmlns:a16="http://schemas.microsoft.com/office/drawing/2014/main" id="{A16632E6-7CBB-CE89-8961-AF3683F9D8B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75563" y="1894647"/>
            <a:ext cx="9360000" cy="4573056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8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23062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70559A0-73A0-007B-9755-E16B739E53C8}"/>
              </a:ext>
            </a:extLst>
          </p:cNvPr>
          <p:cNvSpPr/>
          <p:nvPr userDrawn="1"/>
        </p:nvSpPr>
        <p:spPr>
          <a:xfrm>
            <a:off x="0" y="996493"/>
            <a:ext cx="9906000" cy="232977"/>
          </a:xfrm>
          <a:prstGeom prst="rect">
            <a:avLst/>
          </a:prstGeom>
          <a:solidFill>
            <a:srgbClr val="EC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1FED7A-4BB5-F8C7-9678-F08D8C044056}"/>
              </a:ext>
            </a:extLst>
          </p:cNvPr>
          <p:cNvSpPr txBox="1"/>
          <p:nvPr userDrawn="1"/>
        </p:nvSpPr>
        <p:spPr>
          <a:xfrm>
            <a:off x="4694125" y="6551466"/>
            <a:ext cx="5212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000" b="0">
                <a:ln w="3175"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dirty="0"/>
              <a:t>Ⅰ-</a:t>
            </a:r>
            <a:fld id="{E36F03CF-389E-4D93-9FB1-49222009B45F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5BE079-059E-272A-95D5-DCCC72603EB3}"/>
              </a:ext>
            </a:extLst>
          </p:cNvPr>
          <p:cNvSpPr/>
          <p:nvPr userDrawn="1"/>
        </p:nvSpPr>
        <p:spPr>
          <a:xfrm>
            <a:off x="0" y="1233769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15" name="Rectangle 250">
            <a:extLst>
              <a:ext uri="{FF2B5EF4-FFF2-40B4-BE49-F238E27FC236}">
                <a16:creationId xmlns:a16="http://schemas.microsoft.com/office/drawing/2014/main" id="{D3AA96CD-FDC3-7C58-B3D3-9E59012BF2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75563" y="1328068"/>
            <a:ext cx="9360000" cy="5139635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8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3" name="텍스트 개체 틀 4">
            <a:extLst>
              <a:ext uri="{FF2B5EF4-FFF2-40B4-BE49-F238E27FC236}">
                <a16:creationId xmlns:a16="http://schemas.microsoft.com/office/drawing/2014/main" id="{6B215538-86B3-6DE5-A85D-40AB9138F5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381" y="1021967"/>
            <a:ext cx="9041457" cy="184666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>
            <a:lvl1pPr marL="0" indent="0">
              <a:buNone/>
              <a:defRPr kumimoji="1" lang="ko-Kore-KR" altLang="en-US" sz="1200" b="0" i="0" u="none" strike="noStrike" kern="0" cap="none" spc="-5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KoPub돋움체 Bold" panose="02020603020101020101" pitchFamily="18" charset="-127"/>
              </a:defRPr>
            </a:lvl1pPr>
          </a:lstStyle>
          <a:p>
            <a:pPr marL="228600" marR="0" lvl="0" indent="-2286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1" lang="ko-KR" altLang="en-US" dirty="0"/>
              <a:t>소제목을 입력해주세요</a:t>
            </a:r>
            <a:endParaRPr kumimoji="1" lang="ko-Kore-KR" altLang="en-US" dirty="0"/>
          </a:p>
        </p:txBody>
      </p:sp>
      <p:sp>
        <p:nvSpPr>
          <p:cNvPr id="24" name="텍스트 개체 틀 4">
            <a:extLst>
              <a:ext uri="{FF2B5EF4-FFF2-40B4-BE49-F238E27FC236}">
                <a16:creationId xmlns:a16="http://schemas.microsoft.com/office/drawing/2014/main" id="{011EFD4E-FC18-40ED-51BF-44718A75AF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1139" y="468868"/>
            <a:ext cx="5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>
              <a:buFontTx/>
              <a:buNone/>
              <a:defRPr kumimoji="1" lang="ko-Kore-KR" altLang="en-US" sz="1800" b="0" i="0" u="none" strike="noStrike" kern="1200" cap="none" spc="-50" normalizeH="0" baseline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342880" marR="0" lvl="0" indent="-342880" algn="l" defTabSz="91434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1.1.1.1.1 </a:t>
            </a:r>
            <a:r>
              <a:rPr kumimoji="1" lang="ko-KR" altLang="en-US" dirty="0"/>
              <a:t>마지막 제목</a:t>
            </a:r>
            <a:endParaRPr kumimoji="1" lang="ko-Kore-KR" altLang="en-US" dirty="0"/>
          </a:p>
        </p:txBody>
      </p:sp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E697468-7B37-E774-5330-EE2827580E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139" y="145620"/>
            <a:ext cx="5400000" cy="217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buFontTx/>
              <a:buNone/>
              <a:defRPr kumimoji="1" lang="ko-Kore-KR" altLang="en-US" sz="900" b="0" spc="-5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dirty="0"/>
              <a:t>1.1 </a:t>
            </a:r>
            <a:r>
              <a:rPr kumimoji="1" lang="ko-KR" altLang="en-US" dirty="0"/>
              <a:t>둘째 제목 </a:t>
            </a:r>
            <a:r>
              <a:rPr kumimoji="1" lang="en-US" altLang="ko-KR" dirty="0"/>
              <a:t>&gt; 1.1.1 </a:t>
            </a:r>
            <a:r>
              <a:rPr kumimoji="1" lang="ko-KR" altLang="en-US" dirty="0"/>
              <a:t>셋째 제목 </a:t>
            </a:r>
            <a:r>
              <a:rPr kumimoji="1" lang="en-US" altLang="ko-KR" dirty="0"/>
              <a:t>&gt; 1.1.1.1 </a:t>
            </a:r>
            <a:r>
              <a:rPr kumimoji="1" lang="ko-KR" altLang="en-US" dirty="0"/>
              <a:t>넷째 제목</a:t>
            </a:r>
            <a:endParaRPr kumimoji="1" lang="ko-Kore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B154654-E5CE-8730-733D-D1A7632FF6F9}"/>
              </a:ext>
            </a:extLst>
          </p:cNvPr>
          <p:cNvGrpSpPr/>
          <p:nvPr userDrawn="1"/>
        </p:nvGrpSpPr>
        <p:grpSpPr>
          <a:xfrm>
            <a:off x="324168" y="1022384"/>
            <a:ext cx="130913" cy="186743"/>
            <a:chOff x="698782" y="3650471"/>
            <a:chExt cx="199745" cy="284932"/>
          </a:xfrm>
        </p:grpSpPr>
        <p:sp>
          <p:nvSpPr>
            <p:cNvPr id="21" name="자유형 287">
              <a:extLst>
                <a:ext uri="{FF2B5EF4-FFF2-40B4-BE49-F238E27FC236}">
                  <a16:creationId xmlns:a16="http://schemas.microsoft.com/office/drawing/2014/main" id="{42EA8AA6-CE86-148E-79F5-234E9F99B27D}"/>
                </a:ext>
              </a:extLst>
            </p:cNvPr>
            <p:cNvSpPr/>
            <p:nvPr/>
          </p:nvSpPr>
          <p:spPr>
            <a:xfrm>
              <a:off x="698782" y="3650471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CB8E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22" name="자유형 288">
              <a:extLst>
                <a:ext uri="{FF2B5EF4-FFF2-40B4-BE49-F238E27FC236}">
                  <a16:creationId xmlns:a16="http://schemas.microsoft.com/office/drawing/2014/main" id="{54593F79-E3D2-F6F8-01F4-8B2136C99CF3}"/>
                </a:ext>
              </a:extLst>
            </p:cNvPr>
            <p:cNvSpPr/>
            <p:nvPr/>
          </p:nvSpPr>
          <p:spPr>
            <a:xfrm flipH="1">
              <a:off x="698782" y="3744469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066AC">
                <a:alpha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</p:grpSp>
      <p:sp>
        <p:nvSpPr>
          <p:cNvPr id="3" name="텍스트 개체 틀 215">
            <a:extLst>
              <a:ext uri="{FF2B5EF4-FFF2-40B4-BE49-F238E27FC236}">
                <a16:creationId xmlns:a16="http://schemas.microsoft.com/office/drawing/2014/main" id="{6E56645C-BC9B-3619-3642-D573CC1A8610}"/>
              </a:ext>
            </a:extLst>
          </p:cNvPr>
          <p:cNvSpPr txBox="1">
            <a:spLocks/>
          </p:cNvSpPr>
          <p:nvPr userDrawn="1"/>
        </p:nvSpPr>
        <p:spPr>
          <a:xfrm>
            <a:off x="361263" y="549230"/>
            <a:ext cx="641917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Chapter</a:t>
            </a:r>
            <a:r>
              <a:rPr kumimoji="1" lang="en-US" altLang="ko-KR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Ⅰ</a:t>
            </a: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.</a:t>
            </a:r>
            <a:endParaRPr kumimoji="1" lang="ko-Kore-KR" altLang="en-US" sz="1050" b="0" kern="1200" spc="-50" baseline="0" noProof="0" dirty="0">
              <a:solidFill>
                <a:srgbClr val="0078B9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6" name="텍스트 개체 틀 215">
            <a:extLst>
              <a:ext uri="{FF2B5EF4-FFF2-40B4-BE49-F238E27FC236}">
                <a16:creationId xmlns:a16="http://schemas.microsoft.com/office/drawing/2014/main" id="{FC0C4BCD-DCB2-6914-F4A5-09562947B789}"/>
              </a:ext>
            </a:extLst>
          </p:cNvPr>
          <p:cNvSpPr txBox="1">
            <a:spLocks/>
          </p:cNvSpPr>
          <p:nvPr userDrawn="1"/>
        </p:nvSpPr>
        <p:spPr>
          <a:xfrm>
            <a:off x="964947" y="549230"/>
            <a:ext cx="1041409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kern="1200" spc="-50" baseline="0" noProof="0" dirty="0">
                <a:gradFill>
                  <a:gsLst>
                    <a:gs pos="0">
                      <a:srgbClr val="5F5E5E"/>
                    </a:gs>
                    <a:gs pos="100000">
                      <a:srgbClr val="5F5E5E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제안개요</a:t>
            </a:r>
            <a:endParaRPr kumimoji="1" lang="ko-Kore-KR" altLang="en-US" sz="1050" b="0" kern="1200" spc="-50" baseline="0" noProof="0" dirty="0">
              <a:gradFill>
                <a:gsLst>
                  <a:gs pos="0">
                    <a:srgbClr val="5F5E5E"/>
                  </a:gs>
                  <a:gs pos="100000">
                    <a:srgbClr val="5F5E5E"/>
                  </a:gs>
                </a:gsLst>
                <a:lin ang="540000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6682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C3083E06-949F-F62F-2328-F121BC0B9C35}"/>
              </a:ext>
            </a:extLst>
          </p:cNvPr>
          <p:cNvSpPr/>
          <p:nvPr userDrawn="1"/>
        </p:nvSpPr>
        <p:spPr>
          <a:xfrm>
            <a:off x="0" y="1567526"/>
            <a:ext cx="9906000" cy="232977"/>
          </a:xfrm>
          <a:prstGeom prst="rect">
            <a:avLst/>
          </a:prstGeom>
          <a:solidFill>
            <a:srgbClr val="EC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C097AC-1786-185E-F67A-D7528FD21708}"/>
              </a:ext>
            </a:extLst>
          </p:cNvPr>
          <p:cNvSpPr txBox="1"/>
          <p:nvPr userDrawn="1"/>
        </p:nvSpPr>
        <p:spPr>
          <a:xfrm>
            <a:off x="4690118" y="6551466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000" b="0">
                <a:ln w="3175"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dirty="0"/>
              <a:t>Ⅱ-</a:t>
            </a:r>
            <a:fld id="{E36F03CF-389E-4D93-9FB1-49222009B45F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3839DA65-9D56-2403-7812-8E11396129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1139" y="468868"/>
            <a:ext cx="5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>
              <a:buFontTx/>
              <a:buNone/>
              <a:defRPr kumimoji="1" lang="ko-Kore-KR" altLang="en-US" sz="1800" b="0" i="0" u="none" strike="noStrike" kern="1200" cap="none" spc="-50" normalizeH="0" baseline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342880" marR="0" lvl="0" indent="-342880" algn="l" defTabSz="91434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1.1.1.1.1 </a:t>
            </a:r>
            <a:r>
              <a:rPr kumimoji="1" lang="ko-KR" altLang="en-US" dirty="0"/>
              <a:t>마지막 제목</a:t>
            </a:r>
            <a:endParaRPr kumimoji="1" lang="ko-Kore-KR" altLang="en-US" dirty="0"/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46D79DFF-34C4-F233-C9CC-4BF1D3AF32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139" y="145620"/>
            <a:ext cx="5400000" cy="217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buFontTx/>
              <a:buNone/>
              <a:defRPr kumimoji="1" lang="ko-Kore-KR" altLang="en-US" sz="900" b="0" spc="-5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dirty="0"/>
              <a:t>1.1 </a:t>
            </a:r>
            <a:r>
              <a:rPr kumimoji="1" lang="ko-KR" altLang="en-US" dirty="0"/>
              <a:t>둘째 제목 </a:t>
            </a:r>
            <a:r>
              <a:rPr kumimoji="1" lang="en-US" altLang="ko-KR" dirty="0"/>
              <a:t>&gt; 1.1.1 </a:t>
            </a:r>
            <a:r>
              <a:rPr kumimoji="1" lang="ko-KR" altLang="en-US" dirty="0"/>
              <a:t>셋째 제목 </a:t>
            </a:r>
            <a:r>
              <a:rPr kumimoji="1" lang="en-US" altLang="ko-KR" dirty="0"/>
              <a:t>&gt; 1.1.1.1 </a:t>
            </a:r>
            <a:r>
              <a:rPr kumimoji="1" lang="ko-KR" altLang="en-US" dirty="0"/>
              <a:t>넷째 제목</a:t>
            </a:r>
            <a:endParaRPr kumimoji="1" lang="ko-Kore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347B95-4A82-1291-7783-EF112AC75983}"/>
              </a:ext>
            </a:extLst>
          </p:cNvPr>
          <p:cNvSpPr/>
          <p:nvPr userDrawn="1"/>
        </p:nvSpPr>
        <p:spPr>
          <a:xfrm>
            <a:off x="0" y="1477526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spc="0" baseline="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DB40DA-B380-275C-02C0-6CAA8570AD64}"/>
              </a:ext>
            </a:extLst>
          </p:cNvPr>
          <p:cNvSpPr/>
          <p:nvPr userDrawn="1"/>
        </p:nvSpPr>
        <p:spPr>
          <a:xfrm>
            <a:off x="0" y="1802575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spc="0" baseline="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25" name="Rectangle 250">
            <a:extLst>
              <a:ext uri="{FF2B5EF4-FFF2-40B4-BE49-F238E27FC236}">
                <a16:creationId xmlns:a16="http://schemas.microsoft.com/office/drawing/2014/main" id="{E411BC25-1BC6-4E89-BCA9-66C74AEB07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75563" y="1894647"/>
            <a:ext cx="9360000" cy="4573056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8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ADECF9E3-8C68-D016-8C59-771FE60739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2482" y="979980"/>
            <a:ext cx="9361040" cy="497546"/>
          </a:xfrm>
          <a:prstGeom prst="rect">
            <a:avLst/>
          </a:prstGeom>
        </p:spPr>
        <p:txBody>
          <a:bodyPr lIns="0" anchor="t"/>
          <a:lstStyle>
            <a:lvl1pPr marL="54000" indent="0">
              <a:buNone/>
              <a:defRPr lang="en-US" altLang="ko-KR" sz="1200" b="0" i="0" spc="-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225450" lvl="0" indent="-171450" latinLnBrk="0">
              <a:lnSpc>
                <a:spcPct val="100000"/>
              </a:lnSpc>
              <a:spcBef>
                <a:spcPts val="300"/>
              </a:spcBef>
            </a:pPr>
            <a:r>
              <a:rPr kumimoji="1" lang="ko-KR" altLang="en-US" dirty="0" err="1"/>
              <a:t>거버닝</a:t>
            </a:r>
            <a:r>
              <a:rPr kumimoji="1" lang="ko-KR" altLang="en-US" dirty="0"/>
              <a:t> 메시지를 </a:t>
            </a:r>
            <a:r>
              <a:rPr kumimoji="1" lang="en-US" altLang="ko-KR" dirty="0"/>
              <a:t>2</a:t>
            </a:r>
            <a:r>
              <a:rPr kumimoji="1" lang="ko-KR" altLang="en-US" dirty="0"/>
              <a:t>줄로 입력해주세요</a:t>
            </a:r>
            <a:r>
              <a:rPr kumimoji="1" lang="en-US" altLang="ko-KR" dirty="0"/>
              <a:t>. (</a:t>
            </a:r>
            <a:r>
              <a:rPr kumimoji="1" lang="en-US" altLang="ko-KR" dirty="0" err="1"/>
              <a:t>Kopub</a:t>
            </a:r>
            <a:r>
              <a:rPr kumimoji="1" lang="en-US" altLang="ko-KR" dirty="0"/>
              <a:t> </a:t>
            </a:r>
            <a:r>
              <a:rPr kumimoji="1" lang="ko-KR" altLang="en-US" dirty="0"/>
              <a:t>돋움체 </a:t>
            </a:r>
            <a:r>
              <a:rPr kumimoji="1" lang="en-US" altLang="ko-KR" dirty="0"/>
              <a:t>Medium</a:t>
            </a:r>
            <a:r>
              <a:rPr kumimoji="1" lang="ko-KR" altLang="en-US" dirty="0"/>
              <a:t> </a:t>
            </a:r>
            <a:r>
              <a:rPr kumimoji="1" lang="en-US" altLang="ko-KR" dirty="0"/>
              <a:t>12pt)</a:t>
            </a:r>
          </a:p>
          <a:p>
            <a:pPr marL="225450" lvl="0" indent="-171450" latinLnBrk="0">
              <a:lnSpc>
                <a:spcPct val="100000"/>
              </a:lnSpc>
              <a:spcBef>
                <a:spcPts val="300"/>
              </a:spcBef>
            </a:pPr>
            <a:endParaRPr kumimoji="1" lang="en-US" altLang="ko-KR" dirty="0"/>
          </a:p>
        </p:txBody>
      </p:sp>
      <p:sp>
        <p:nvSpPr>
          <p:cNvPr id="2" name="텍스트 개체 틀 215">
            <a:extLst>
              <a:ext uri="{FF2B5EF4-FFF2-40B4-BE49-F238E27FC236}">
                <a16:creationId xmlns:a16="http://schemas.microsoft.com/office/drawing/2014/main" id="{7B3D7E7A-18EE-8AAF-FD58-C1FAD38C6670}"/>
              </a:ext>
            </a:extLst>
          </p:cNvPr>
          <p:cNvSpPr txBox="1">
            <a:spLocks/>
          </p:cNvSpPr>
          <p:nvPr userDrawn="1"/>
        </p:nvSpPr>
        <p:spPr>
          <a:xfrm>
            <a:off x="361263" y="549230"/>
            <a:ext cx="641917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ChapterⅡ.</a:t>
            </a:r>
            <a:endParaRPr kumimoji="1" lang="ko-Kore-KR" altLang="en-US" sz="1050" b="0" kern="1200" spc="-50" baseline="0" noProof="0" dirty="0">
              <a:solidFill>
                <a:srgbClr val="0078B9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3" name="텍스트 개체 틀 215">
            <a:extLst>
              <a:ext uri="{FF2B5EF4-FFF2-40B4-BE49-F238E27FC236}">
                <a16:creationId xmlns:a16="http://schemas.microsoft.com/office/drawing/2014/main" id="{B61A5DD5-C0F9-514E-1DC9-FE07B45780B5}"/>
              </a:ext>
            </a:extLst>
          </p:cNvPr>
          <p:cNvSpPr txBox="1">
            <a:spLocks/>
          </p:cNvSpPr>
          <p:nvPr userDrawn="1"/>
        </p:nvSpPr>
        <p:spPr>
          <a:xfrm>
            <a:off x="982703" y="549230"/>
            <a:ext cx="1041409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kern="1200" spc="-50" baseline="0" noProof="0" dirty="0">
                <a:gradFill>
                  <a:gsLst>
                    <a:gs pos="0">
                      <a:srgbClr val="5F5E5E"/>
                    </a:gs>
                    <a:gs pos="100000">
                      <a:srgbClr val="5F5E5E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제안사 현황</a:t>
            </a:r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C1B40B98-B2FE-0091-7F08-681B81E677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381" y="1590531"/>
            <a:ext cx="9041457" cy="184666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>
            <a:lvl1pPr marL="0" indent="0">
              <a:buNone/>
              <a:defRPr kumimoji="1" lang="ko-Kore-KR" altLang="en-US" sz="1200" b="0" i="0" u="none" strike="noStrike" kern="0" cap="none" spc="-5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KoPub돋움체 Bold" panose="02020603020101020101" pitchFamily="18" charset="-127"/>
              </a:defRPr>
            </a:lvl1pPr>
          </a:lstStyle>
          <a:p>
            <a:pPr marL="228600" marR="0" lvl="0" indent="-2286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1" lang="ko-KR" altLang="en-US" dirty="0"/>
              <a:t>소제목을 입력해주세요</a:t>
            </a:r>
            <a:endParaRPr kumimoji="1" lang="ko-Kore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FD096EE-7CC6-BA88-894C-8C3A9189D8F1}"/>
              </a:ext>
            </a:extLst>
          </p:cNvPr>
          <p:cNvGrpSpPr/>
          <p:nvPr userDrawn="1"/>
        </p:nvGrpSpPr>
        <p:grpSpPr>
          <a:xfrm>
            <a:off x="324168" y="1589493"/>
            <a:ext cx="130913" cy="186743"/>
            <a:chOff x="698782" y="3650471"/>
            <a:chExt cx="199745" cy="284932"/>
          </a:xfrm>
        </p:grpSpPr>
        <p:sp>
          <p:nvSpPr>
            <p:cNvPr id="18" name="자유형 287">
              <a:extLst>
                <a:ext uri="{FF2B5EF4-FFF2-40B4-BE49-F238E27FC236}">
                  <a16:creationId xmlns:a16="http://schemas.microsoft.com/office/drawing/2014/main" id="{0934D683-4DBF-0DA5-C9E2-1C6A007174F4}"/>
                </a:ext>
              </a:extLst>
            </p:cNvPr>
            <p:cNvSpPr/>
            <p:nvPr/>
          </p:nvSpPr>
          <p:spPr>
            <a:xfrm>
              <a:off x="698782" y="3650471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CB8E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19" name="자유형 288">
              <a:extLst>
                <a:ext uri="{FF2B5EF4-FFF2-40B4-BE49-F238E27FC236}">
                  <a16:creationId xmlns:a16="http://schemas.microsoft.com/office/drawing/2014/main" id="{44988116-8155-90D1-E34F-67EAAFF9E9B9}"/>
                </a:ext>
              </a:extLst>
            </p:cNvPr>
            <p:cNvSpPr/>
            <p:nvPr/>
          </p:nvSpPr>
          <p:spPr>
            <a:xfrm flipH="1">
              <a:off x="698782" y="3744469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066AC">
                <a:alpha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6363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9D8F0AE-4455-6095-6EC9-AED728FCFFEA}"/>
              </a:ext>
            </a:extLst>
          </p:cNvPr>
          <p:cNvSpPr/>
          <p:nvPr userDrawn="1"/>
        </p:nvSpPr>
        <p:spPr>
          <a:xfrm>
            <a:off x="0" y="996493"/>
            <a:ext cx="9906000" cy="232977"/>
          </a:xfrm>
          <a:prstGeom prst="rect">
            <a:avLst/>
          </a:prstGeom>
          <a:solidFill>
            <a:srgbClr val="EC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5BE079-059E-272A-95D5-DCCC72603EB3}"/>
              </a:ext>
            </a:extLst>
          </p:cNvPr>
          <p:cNvSpPr/>
          <p:nvPr userDrawn="1"/>
        </p:nvSpPr>
        <p:spPr>
          <a:xfrm>
            <a:off x="0" y="1233769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15" name="Rectangle 250">
            <a:extLst>
              <a:ext uri="{FF2B5EF4-FFF2-40B4-BE49-F238E27FC236}">
                <a16:creationId xmlns:a16="http://schemas.microsoft.com/office/drawing/2014/main" id="{D3AA96CD-FDC3-7C58-B3D3-9E59012BF2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75563" y="1328068"/>
            <a:ext cx="9360000" cy="5139635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8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4" name="텍스트 개체 틀 4">
            <a:extLst>
              <a:ext uri="{FF2B5EF4-FFF2-40B4-BE49-F238E27FC236}">
                <a16:creationId xmlns:a16="http://schemas.microsoft.com/office/drawing/2014/main" id="{011EFD4E-FC18-40ED-51BF-44718A75AF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1139" y="468868"/>
            <a:ext cx="5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>
              <a:buFontTx/>
              <a:buNone/>
              <a:defRPr kumimoji="1" lang="ko-Kore-KR" altLang="en-US" sz="1800" b="0" i="0" u="none" strike="noStrike" kern="1200" cap="none" spc="-50" normalizeH="0" baseline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342880" marR="0" lvl="0" indent="-342880" algn="l" defTabSz="91434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1.1.1.1.1 </a:t>
            </a:r>
            <a:r>
              <a:rPr kumimoji="1" lang="ko-KR" altLang="en-US" dirty="0"/>
              <a:t>마지막 제목</a:t>
            </a:r>
            <a:endParaRPr kumimoji="1" lang="ko-Kore-KR" altLang="en-US" dirty="0"/>
          </a:p>
        </p:txBody>
      </p:sp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E697468-7B37-E774-5330-EE2827580E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139" y="145620"/>
            <a:ext cx="5400000" cy="217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buFontTx/>
              <a:buNone/>
              <a:defRPr kumimoji="1" lang="ko-Kore-KR" altLang="en-US" sz="900" b="0" spc="-5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dirty="0"/>
              <a:t>1.1 </a:t>
            </a:r>
            <a:r>
              <a:rPr kumimoji="1" lang="ko-KR" altLang="en-US" dirty="0"/>
              <a:t>둘째 제목 </a:t>
            </a:r>
            <a:r>
              <a:rPr kumimoji="1" lang="en-US" altLang="ko-KR" dirty="0"/>
              <a:t>&gt; 1.1.1 </a:t>
            </a:r>
            <a:r>
              <a:rPr kumimoji="1" lang="ko-KR" altLang="en-US" dirty="0"/>
              <a:t>셋째 제목 </a:t>
            </a:r>
            <a:r>
              <a:rPr kumimoji="1" lang="en-US" altLang="ko-KR" dirty="0"/>
              <a:t>&gt; 1.1.1.1 </a:t>
            </a:r>
            <a:r>
              <a:rPr kumimoji="1" lang="ko-KR" altLang="en-US" dirty="0"/>
              <a:t>넷째 제목</a:t>
            </a:r>
            <a:endParaRPr kumimoji="1" lang="ko-Kore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DD83E4-1986-E580-0147-3148D31FDD93}"/>
              </a:ext>
            </a:extLst>
          </p:cNvPr>
          <p:cNvSpPr txBox="1"/>
          <p:nvPr userDrawn="1"/>
        </p:nvSpPr>
        <p:spPr>
          <a:xfrm>
            <a:off x="4690118" y="6551466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000" b="0">
                <a:ln w="3175"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dirty="0"/>
              <a:t>Ⅱ-</a:t>
            </a:r>
            <a:fld id="{E36F03CF-389E-4D93-9FB1-49222009B45F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4" name="텍스트 개체 틀 215">
            <a:extLst>
              <a:ext uri="{FF2B5EF4-FFF2-40B4-BE49-F238E27FC236}">
                <a16:creationId xmlns:a16="http://schemas.microsoft.com/office/drawing/2014/main" id="{8CA778DF-CA03-23E8-247D-D9CC06BDC80A}"/>
              </a:ext>
            </a:extLst>
          </p:cNvPr>
          <p:cNvSpPr txBox="1">
            <a:spLocks/>
          </p:cNvSpPr>
          <p:nvPr userDrawn="1"/>
        </p:nvSpPr>
        <p:spPr>
          <a:xfrm>
            <a:off x="361263" y="549230"/>
            <a:ext cx="641917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ChapterⅡ.</a:t>
            </a:r>
            <a:endParaRPr kumimoji="1" lang="ko-Kore-KR" altLang="en-US" sz="1050" b="0" kern="1200" spc="-50" baseline="0" noProof="0" dirty="0">
              <a:solidFill>
                <a:srgbClr val="0078B9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텍스트 개체 틀 215">
            <a:extLst>
              <a:ext uri="{FF2B5EF4-FFF2-40B4-BE49-F238E27FC236}">
                <a16:creationId xmlns:a16="http://schemas.microsoft.com/office/drawing/2014/main" id="{B27D1E05-A68F-2F17-E14A-428E3ADB966C}"/>
              </a:ext>
            </a:extLst>
          </p:cNvPr>
          <p:cNvSpPr txBox="1">
            <a:spLocks/>
          </p:cNvSpPr>
          <p:nvPr userDrawn="1"/>
        </p:nvSpPr>
        <p:spPr>
          <a:xfrm>
            <a:off x="982703" y="549230"/>
            <a:ext cx="1041409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kern="1200" spc="-50" baseline="0" noProof="0" dirty="0">
                <a:gradFill>
                  <a:gsLst>
                    <a:gs pos="0">
                      <a:srgbClr val="5F5E5E"/>
                    </a:gs>
                    <a:gs pos="100000">
                      <a:srgbClr val="5F5E5E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제안사 현황</a:t>
            </a:r>
          </a:p>
        </p:txBody>
      </p:sp>
      <p:sp>
        <p:nvSpPr>
          <p:cNvPr id="9" name="텍스트 개체 틀 4">
            <a:extLst>
              <a:ext uri="{FF2B5EF4-FFF2-40B4-BE49-F238E27FC236}">
                <a16:creationId xmlns:a16="http://schemas.microsoft.com/office/drawing/2014/main" id="{44F9BE2B-2E0B-7471-4145-22037EB7066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381" y="1021967"/>
            <a:ext cx="9041457" cy="184666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>
            <a:lvl1pPr marL="0" indent="0">
              <a:buNone/>
              <a:defRPr kumimoji="1" lang="ko-Kore-KR" altLang="en-US" sz="1200" b="0" i="0" u="none" strike="noStrike" kern="0" cap="none" spc="-5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KoPub돋움체 Bold" panose="02020603020101020101" pitchFamily="18" charset="-127"/>
              </a:defRPr>
            </a:lvl1pPr>
          </a:lstStyle>
          <a:p>
            <a:pPr marL="228600" marR="0" lvl="0" indent="-2286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1" lang="ko-KR" altLang="en-US" dirty="0"/>
              <a:t>소제목을 입력해주세요</a:t>
            </a:r>
            <a:endParaRPr kumimoji="1" lang="ko-Kore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816AF26-AC0A-7742-FF6E-48EAEFDBD66E}"/>
              </a:ext>
            </a:extLst>
          </p:cNvPr>
          <p:cNvGrpSpPr/>
          <p:nvPr userDrawn="1"/>
        </p:nvGrpSpPr>
        <p:grpSpPr>
          <a:xfrm>
            <a:off x="324168" y="1022384"/>
            <a:ext cx="130913" cy="186743"/>
            <a:chOff x="698782" y="3650471"/>
            <a:chExt cx="199745" cy="284932"/>
          </a:xfrm>
        </p:grpSpPr>
        <p:sp>
          <p:nvSpPr>
            <p:cNvPr id="11" name="자유형 287">
              <a:extLst>
                <a:ext uri="{FF2B5EF4-FFF2-40B4-BE49-F238E27FC236}">
                  <a16:creationId xmlns:a16="http://schemas.microsoft.com/office/drawing/2014/main" id="{41F9FC5A-9E34-AEC5-56A6-5777090FAF8F}"/>
                </a:ext>
              </a:extLst>
            </p:cNvPr>
            <p:cNvSpPr/>
            <p:nvPr/>
          </p:nvSpPr>
          <p:spPr>
            <a:xfrm>
              <a:off x="698782" y="3650471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CB8E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12" name="자유형 288">
              <a:extLst>
                <a:ext uri="{FF2B5EF4-FFF2-40B4-BE49-F238E27FC236}">
                  <a16:creationId xmlns:a16="http://schemas.microsoft.com/office/drawing/2014/main" id="{716530E4-ABF7-C956-54E3-DC1F9B7C0F41}"/>
                </a:ext>
              </a:extLst>
            </p:cNvPr>
            <p:cNvSpPr/>
            <p:nvPr/>
          </p:nvSpPr>
          <p:spPr>
            <a:xfrm flipH="1">
              <a:off x="698782" y="3744469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066AC">
                <a:alpha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3420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0A3CD58-AD89-C2AC-14D3-824F079723AD}"/>
              </a:ext>
            </a:extLst>
          </p:cNvPr>
          <p:cNvSpPr/>
          <p:nvPr userDrawn="1"/>
        </p:nvSpPr>
        <p:spPr>
          <a:xfrm>
            <a:off x="0" y="1567526"/>
            <a:ext cx="9906000" cy="232977"/>
          </a:xfrm>
          <a:prstGeom prst="rect">
            <a:avLst/>
          </a:prstGeom>
          <a:solidFill>
            <a:srgbClr val="EC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C097AC-1786-185E-F67A-D7528FD21708}"/>
              </a:ext>
            </a:extLst>
          </p:cNvPr>
          <p:cNvSpPr txBox="1"/>
          <p:nvPr userDrawn="1"/>
        </p:nvSpPr>
        <p:spPr>
          <a:xfrm>
            <a:off x="4690118" y="6551466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000" b="0">
                <a:ln w="3175"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dirty="0"/>
              <a:t>Ⅲ-</a:t>
            </a:r>
            <a:fld id="{E36F03CF-389E-4D93-9FB1-49222009B45F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3839DA65-9D56-2403-7812-8E11396129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1139" y="468868"/>
            <a:ext cx="5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>
              <a:buFontTx/>
              <a:buNone/>
              <a:defRPr kumimoji="1" lang="ko-Kore-KR" altLang="en-US" sz="1800" b="0" i="0" u="none" strike="noStrike" kern="1200" cap="none" spc="-50" normalizeH="0" baseline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342880" marR="0" lvl="0" indent="-342880" algn="l" defTabSz="91434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1.1.1.1.1 </a:t>
            </a:r>
            <a:r>
              <a:rPr kumimoji="1" lang="ko-KR" altLang="en-US" dirty="0"/>
              <a:t>마지막 제목</a:t>
            </a:r>
            <a:endParaRPr kumimoji="1" lang="ko-Kore-KR" altLang="en-US" dirty="0"/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46D79DFF-34C4-F233-C9CC-4BF1D3AF32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139" y="145620"/>
            <a:ext cx="5400000" cy="217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buFontTx/>
              <a:buNone/>
              <a:defRPr kumimoji="1" lang="ko-Kore-KR" altLang="en-US" sz="900" b="0" spc="-5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dirty="0"/>
              <a:t>1.1 </a:t>
            </a:r>
            <a:r>
              <a:rPr kumimoji="1" lang="ko-KR" altLang="en-US" dirty="0"/>
              <a:t>둘째 제목 </a:t>
            </a:r>
            <a:r>
              <a:rPr kumimoji="1" lang="en-US" altLang="ko-KR" dirty="0"/>
              <a:t>&gt; 1.1.1 </a:t>
            </a:r>
            <a:r>
              <a:rPr kumimoji="1" lang="ko-KR" altLang="en-US" dirty="0"/>
              <a:t>셋째 제목 </a:t>
            </a:r>
            <a:r>
              <a:rPr kumimoji="1" lang="en-US" altLang="ko-KR" dirty="0"/>
              <a:t>&gt; 1.1.1.1 </a:t>
            </a:r>
            <a:r>
              <a:rPr kumimoji="1" lang="ko-KR" altLang="en-US" dirty="0"/>
              <a:t>넷째 제목</a:t>
            </a:r>
            <a:endParaRPr kumimoji="1" lang="ko-Kore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347B95-4A82-1291-7783-EF112AC75983}"/>
              </a:ext>
            </a:extLst>
          </p:cNvPr>
          <p:cNvSpPr/>
          <p:nvPr userDrawn="1"/>
        </p:nvSpPr>
        <p:spPr>
          <a:xfrm>
            <a:off x="0" y="1477526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spc="0" baseline="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DB40DA-B380-275C-02C0-6CAA8570AD64}"/>
              </a:ext>
            </a:extLst>
          </p:cNvPr>
          <p:cNvSpPr/>
          <p:nvPr userDrawn="1"/>
        </p:nvSpPr>
        <p:spPr>
          <a:xfrm>
            <a:off x="0" y="1802575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spc="0" baseline="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25" name="Rectangle 250">
            <a:extLst>
              <a:ext uri="{FF2B5EF4-FFF2-40B4-BE49-F238E27FC236}">
                <a16:creationId xmlns:a16="http://schemas.microsoft.com/office/drawing/2014/main" id="{E411BC25-1BC6-4E89-BCA9-66C74AEB07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75563" y="1894647"/>
            <a:ext cx="9360000" cy="4573056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8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351DF183-C3D3-3129-B8FF-BF1F57BCD4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2482" y="979980"/>
            <a:ext cx="9361040" cy="497546"/>
          </a:xfrm>
          <a:prstGeom prst="rect">
            <a:avLst/>
          </a:prstGeom>
        </p:spPr>
        <p:txBody>
          <a:bodyPr lIns="0" anchor="t"/>
          <a:lstStyle>
            <a:lvl1pPr marL="54000" indent="0">
              <a:buNone/>
              <a:defRPr lang="en-US" altLang="ko-KR" sz="1200" b="0" i="0" spc="-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225450" lvl="0" indent="-171450" latinLnBrk="0">
              <a:lnSpc>
                <a:spcPct val="100000"/>
              </a:lnSpc>
              <a:spcBef>
                <a:spcPts val="300"/>
              </a:spcBef>
            </a:pPr>
            <a:r>
              <a:rPr kumimoji="1" lang="ko-KR" altLang="en-US" dirty="0" err="1"/>
              <a:t>거버닝</a:t>
            </a:r>
            <a:r>
              <a:rPr kumimoji="1" lang="ko-KR" altLang="en-US" dirty="0"/>
              <a:t> 메시지를 </a:t>
            </a:r>
            <a:r>
              <a:rPr kumimoji="1" lang="en-US" altLang="ko-KR" dirty="0"/>
              <a:t>2</a:t>
            </a:r>
            <a:r>
              <a:rPr kumimoji="1" lang="ko-KR" altLang="en-US" dirty="0"/>
              <a:t>줄로 입력해주세요</a:t>
            </a:r>
            <a:r>
              <a:rPr kumimoji="1" lang="en-US" altLang="ko-KR" dirty="0"/>
              <a:t>. (</a:t>
            </a:r>
            <a:r>
              <a:rPr kumimoji="1" lang="en-US" altLang="ko-KR" dirty="0" err="1"/>
              <a:t>Kopub</a:t>
            </a:r>
            <a:r>
              <a:rPr kumimoji="1" lang="en-US" altLang="ko-KR" dirty="0"/>
              <a:t> </a:t>
            </a:r>
            <a:r>
              <a:rPr kumimoji="1" lang="ko-KR" altLang="en-US" dirty="0"/>
              <a:t>돋움체 </a:t>
            </a:r>
            <a:r>
              <a:rPr kumimoji="1" lang="en-US" altLang="ko-KR" dirty="0"/>
              <a:t>Medium</a:t>
            </a:r>
            <a:r>
              <a:rPr kumimoji="1" lang="ko-KR" altLang="en-US" dirty="0"/>
              <a:t> </a:t>
            </a:r>
            <a:r>
              <a:rPr kumimoji="1" lang="en-US" altLang="ko-KR" dirty="0"/>
              <a:t>12pt)</a:t>
            </a:r>
          </a:p>
          <a:p>
            <a:pPr marL="225450" lvl="0" indent="-171450" latinLnBrk="0">
              <a:lnSpc>
                <a:spcPct val="100000"/>
              </a:lnSpc>
              <a:spcBef>
                <a:spcPts val="300"/>
              </a:spcBef>
            </a:pPr>
            <a:endParaRPr kumimoji="1" lang="en-US" altLang="ko-KR" dirty="0"/>
          </a:p>
        </p:txBody>
      </p:sp>
      <p:sp>
        <p:nvSpPr>
          <p:cNvPr id="2" name="텍스트 개체 틀 215">
            <a:extLst>
              <a:ext uri="{FF2B5EF4-FFF2-40B4-BE49-F238E27FC236}">
                <a16:creationId xmlns:a16="http://schemas.microsoft.com/office/drawing/2014/main" id="{DED870D5-10F8-4817-22BA-B2464D179B2B}"/>
              </a:ext>
            </a:extLst>
          </p:cNvPr>
          <p:cNvSpPr txBox="1">
            <a:spLocks/>
          </p:cNvSpPr>
          <p:nvPr userDrawn="1"/>
        </p:nvSpPr>
        <p:spPr>
          <a:xfrm>
            <a:off x="361263" y="549230"/>
            <a:ext cx="641917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Chapter</a:t>
            </a:r>
            <a:r>
              <a:rPr kumimoji="1" lang="en-US" altLang="ko-KR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Ⅲ</a:t>
            </a: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.</a:t>
            </a:r>
            <a:endParaRPr kumimoji="1" lang="ko-Kore-KR" altLang="en-US" sz="1050" b="0" kern="1200" spc="-50" baseline="0" noProof="0" dirty="0">
              <a:solidFill>
                <a:srgbClr val="0078B9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3" name="텍스트 개체 틀 215">
            <a:extLst>
              <a:ext uri="{FF2B5EF4-FFF2-40B4-BE49-F238E27FC236}">
                <a16:creationId xmlns:a16="http://schemas.microsoft.com/office/drawing/2014/main" id="{3EF7670D-C8C3-193C-EF79-1CE5541FCBBC}"/>
              </a:ext>
            </a:extLst>
          </p:cNvPr>
          <p:cNvSpPr txBox="1">
            <a:spLocks/>
          </p:cNvSpPr>
          <p:nvPr userDrawn="1"/>
        </p:nvSpPr>
        <p:spPr>
          <a:xfrm>
            <a:off x="982703" y="549230"/>
            <a:ext cx="1041409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kern="1200" spc="-50" baseline="0" noProof="0" dirty="0">
                <a:gradFill>
                  <a:gsLst>
                    <a:gs pos="0">
                      <a:srgbClr val="5F5E5E"/>
                    </a:gs>
                    <a:gs pos="100000">
                      <a:srgbClr val="5F5E5E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사업수행계획</a:t>
            </a:r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19B16B8D-4EE1-984B-E35A-385FBE8FF6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381" y="1590531"/>
            <a:ext cx="9041457" cy="184666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>
            <a:lvl1pPr marL="0" indent="0">
              <a:buNone/>
              <a:defRPr kumimoji="1" lang="ko-Kore-KR" altLang="en-US" sz="1200" b="0" i="0" u="none" strike="noStrike" kern="0" cap="none" spc="-5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KoPub돋움체 Bold" panose="02020603020101020101" pitchFamily="18" charset="-127"/>
              </a:defRPr>
            </a:lvl1pPr>
          </a:lstStyle>
          <a:p>
            <a:pPr marL="228600" marR="0" lvl="0" indent="-2286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1" lang="ko-KR" altLang="en-US" dirty="0"/>
              <a:t>소제목을 입력해주세요</a:t>
            </a:r>
            <a:endParaRPr kumimoji="1" lang="ko-Kore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6659CFDB-914E-2EC2-6912-640D41AC017B}"/>
              </a:ext>
            </a:extLst>
          </p:cNvPr>
          <p:cNvGrpSpPr/>
          <p:nvPr userDrawn="1"/>
        </p:nvGrpSpPr>
        <p:grpSpPr>
          <a:xfrm>
            <a:off x="324168" y="1589493"/>
            <a:ext cx="130913" cy="186743"/>
            <a:chOff x="698782" y="3650471"/>
            <a:chExt cx="199745" cy="284932"/>
          </a:xfrm>
        </p:grpSpPr>
        <p:sp>
          <p:nvSpPr>
            <p:cNvPr id="18" name="자유형 287">
              <a:extLst>
                <a:ext uri="{FF2B5EF4-FFF2-40B4-BE49-F238E27FC236}">
                  <a16:creationId xmlns:a16="http://schemas.microsoft.com/office/drawing/2014/main" id="{DD693D77-C2CE-246F-7122-1C346B6EDA24}"/>
                </a:ext>
              </a:extLst>
            </p:cNvPr>
            <p:cNvSpPr/>
            <p:nvPr/>
          </p:nvSpPr>
          <p:spPr>
            <a:xfrm>
              <a:off x="698782" y="3650471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CB8E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19" name="자유형 288">
              <a:extLst>
                <a:ext uri="{FF2B5EF4-FFF2-40B4-BE49-F238E27FC236}">
                  <a16:creationId xmlns:a16="http://schemas.microsoft.com/office/drawing/2014/main" id="{E7189DD0-5F3E-C892-133B-4E039F1F4C5D}"/>
                </a:ext>
              </a:extLst>
            </p:cNvPr>
            <p:cNvSpPr/>
            <p:nvPr/>
          </p:nvSpPr>
          <p:spPr>
            <a:xfrm flipH="1">
              <a:off x="698782" y="3744469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066AC">
                <a:alpha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869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5CBE79D8-F8D1-7A67-1B93-E9DC2FFB9D6D}"/>
              </a:ext>
            </a:extLst>
          </p:cNvPr>
          <p:cNvSpPr/>
          <p:nvPr userDrawn="1"/>
        </p:nvSpPr>
        <p:spPr>
          <a:xfrm>
            <a:off x="0" y="996493"/>
            <a:ext cx="9906000" cy="232977"/>
          </a:xfrm>
          <a:prstGeom prst="rect">
            <a:avLst/>
          </a:prstGeom>
          <a:solidFill>
            <a:srgbClr val="EC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5BE079-059E-272A-95D5-DCCC72603EB3}"/>
              </a:ext>
            </a:extLst>
          </p:cNvPr>
          <p:cNvSpPr/>
          <p:nvPr userDrawn="1"/>
        </p:nvSpPr>
        <p:spPr>
          <a:xfrm>
            <a:off x="0" y="1233769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15" name="Rectangle 250">
            <a:extLst>
              <a:ext uri="{FF2B5EF4-FFF2-40B4-BE49-F238E27FC236}">
                <a16:creationId xmlns:a16="http://schemas.microsoft.com/office/drawing/2014/main" id="{D3AA96CD-FDC3-7C58-B3D3-9E59012BF2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75563" y="1328068"/>
            <a:ext cx="9360000" cy="5139635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8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4" name="텍스트 개체 틀 4">
            <a:extLst>
              <a:ext uri="{FF2B5EF4-FFF2-40B4-BE49-F238E27FC236}">
                <a16:creationId xmlns:a16="http://schemas.microsoft.com/office/drawing/2014/main" id="{011EFD4E-FC18-40ED-51BF-44718A75AF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1139" y="468868"/>
            <a:ext cx="5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>
              <a:buFontTx/>
              <a:buNone/>
              <a:defRPr kumimoji="1" lang="ko-Kore-KR" altLang="en-US" sz="1800" b="0" i="0" u="none" strike="noStrike" kern="1200" cap="none" spc="-50" normalizeH="0" baseline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342880" marR="0" lvl="0" indent="-342880" algn="l" defTabSz="91434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1.1.1.1.1 </a:t>
            </a:r>
            <a:r>
              <a:rPr kumimoji="1" lang="ko-KR" altLang="en-US" dirty="0"/>
              <a:t>마지막 제목</a:t>
            </a:r>
            <a:endParaRPr kumimoji="1" lang="ko-Kore-KR" altLang="en-US" dirty="0"/>
          </a:p>
        </p:txBody>
      </p:sp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E697468-7B37-E774-5330-EE2827580E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139" y="145620"/>
            <a:ext cx="5400000" cy="217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buFontTx/>
              <a:buNone/>
              <a:defRPr kumimoji="1" lang="ko-Kore-KR" altLang="en-US" sz="900" b="0" spc="-5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dirty="0"/>
              <a:t>1.1 </a:t>
            </a:r>
            <a:r>
              <a:rPr kumimoji="1" lang="ko-KR" altLang="en-US" dirty="0"/>
              <a:t>둘째 제목 </a:t>
            </a:r>
            <a:r>
              <a:rPr kumimoji="1" lang="en-US" altLang="ko-KR" dirty="0"/>
              <a:t>&gt; 1.1.1 </a:t>
            </a:r>
            <a:r>
              <a:rPr kumimoji="1" lang="ko-KR" altLang="en-US" dirty="0"/>
              <a:t>셋째 제목 </a:t>
            </a:r>
            <a:r>
              <a:rPr kumimoji="1" lang="en-US" altLang="ko-KR" dirty="0"/>
              <a:t>&gt; 1.1.1.1 </a:t>
            </a:r>
            <a:r>
              <a:rPr kumimoji="1" lang="ko-KR" altLang="en-US" dirty="0"/>
              <a:t>넷째 제목</a:t>
            </a:r>
            <a:endParaRPr kumimoji="1" lang="ko-Kore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094014-5673-7D2A-7B9C-8849276170F4}"/>
              </a:ext>
            </a:extLst>
          </p:cNvPr>
          <p:cNvSpPr txBox="1"/>
          <p:nvPr userDrawn="1"/>
        </p:nvSpPr>
        <p:spPr>
          <a:xfrm>
            <a:off x="4690118" y="6551466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000" b="0">
                <a:ln w="3175"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dirty="0"/>
              <a:t>Ⅲ-</a:t>
            </a:r>
            <a:fld id="{E36F03CF-389E-4D93-9FB1-49222009B45F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4" name="텍스트 개체 틀 215">
            <a:extLst>
              <a:ext uri="{FF2B5EF4-FFF2-40B4-BE49-F238E27FC236}">
                <a16:creationId xmlns:a16="http://schemas.microsoft.com/office/drawing/2014/main" id="{95D316D8-AA2E-BE85-E05D-CE2077794B52}"/>
              </a:ext>
            </a:extLst>
          </p:cNvPr>
          <p:cNvSpPr txBox="1">
            <a:spLocks/>
          </p:cNvSpPr>
          <p:nvPr userDrawn="1"/>
        </p:nvSpPr>
        <p:spPr>
          <a:xfrm>
            <a:off x="361263" y="549230"/>
            <a:ext cx="641917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Chapter</a:t>
            </a:r>
            <a:r>
              <a:rPr kumimoji="1" lang="en-US" altLang="ko-KR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Ⅲ</a:t>
            </a: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.</a:t>
            </a:r>
            <a:endParaRPr kumimoji="1" lang="ko-Kore-KR" altLang="en-US" sz="1050" b="0" kern="1200" spc="-50" baseline="0" noProof="0" dirty="0">
              <a:solidFill>
                <a:srgbClr val="0078B9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텍스트 개체 틀 215">
            <a:extLst>
              <a:ext uri="{FF2B5EF4-FFF2-40B4-BE49-F238E27FC236}">
                <a16:creationId xmlns:a16="http://schemas.microsoft.com/office/drawing/2014/main" id="{CB21A3F2-F007-3231-FCB0-25F789F377FB}"/>
              </a:ext>
            </a:extLst>
          </p:cNvPr>
          <p:cNvSpPr txBox="1">
            <a:spLocks/>
          </p:cNvSpPr>
          <p:nvPr userDrawn="1"/>
        </p:nvSpPr>
        <p:spPr>
          <a:xfrm>
            <a:off x="982703" y="549230"/>
            <a:ext cx="1041409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kern="1200" spc="-50" baseline="0" noProof="0" dirty="0">
                <a:gradFill>
                  <a:gsLst>
                    <a:gs pos="0">
                      <a:srgbClr val="5F5E5E"/>
                    </a:gs>
                    <a:gs pos="100000">
                      <a:srgbClr val="5F5E5E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사업수행계획</a:t>
            </a:r>
          </a:p>
        </p:txBody>
      </p:sp>
      <p:sp>
        <p:nvSpPr>
          <p:cNvPr id="9" name="텍스트 개체 틀 4">
            <a:extLst>
              <a:ext uri="{FF2B5EF4-FFF2-40B4-BE49-F238E27FC236}">
                <a16:creationId xmlns:a16="http://schemas.microsoft.com/office/drawing/2014/main" id="{DFA60A26-901D-047B-C1E0-E969F2C9CD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381" y="1021967"/>
            <a:ext cx="9041457" cy="184666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>
            <a:lvl1pPr marL="0" indent="0">
              <a:buNone/>
              <a:defRPr kumimoji="1" lang="ko-Kore-KR" altLang="en-US" sz="1200" b="0" i="0" u="none" strike="noStrike" kern="0" cap="none" spc="-5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KoPub돋움체 Bold" panose="02020603020101020101" pitchFamily="18" charset="-127"/>
              </a:defRPr>
            </a:lvl1pPr>
          </a:lstStyle>
          <a:p>
            <a:pPr marL="228600" marR="0" lvl="0" indent="-2286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1" lang="ko-KR" altLang="en-US" dirty="0"/>
              <a:t>소제목을 입력해주세요</a:t>
            </a:r>
            <a:endParaRPr kumimoji="1" lang="ko-Kore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2B59E00-08F0-4633-6298-F1F8C534905D}"/>
              </a:ext>
            </a:extLst>
          </p:cNvPr>
          <p:cNvGrpSpPr/>
          <p:nvPr userDrawn="1"/>
        </p:nvGrpSpPr>
        <p:grpSpPr>
          <a:xfrm>
            <a:off x="324168" y="1022384"/>
            <a:ext cx="130913" cy="186743"/>
            <a:chOff x="698782" y="3650471"/>
            <a:chExt cx="199745" cy="284932"/>
          </a:xfrm>
        </p:grpSpPr>
        <p:sp>
          <p:nvSpPr>
            <p:cNvPr id="11" name="자유형 287">
              <a:extLst>
                <a:ext uri="{FF2B5EF4-FFF2-40B4-BE49-F238E27FC236}">
                  <a16:creationId xmlns:a16="http://schemas.microsoft.com/office/drawing/2014/main" id="{05CE4B19-1238-65AF-F21C-A1928F74D99B}"/>
                </a:ext>
              </a:extLst>
            </p:cNvPr>
            <p:cNvSpPr/>
            <p:nvPr/>
          </p:nvSpPr>
          <p:spPr>
            <a:xfrm>
              <a:off x="698782" y="3650471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CB8E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12" name="자유형 288">
              <a:extLst>
                <a:ext uri="{FF2B5EF4-FFF2-40B4-BE49-F238E27FC236}">
                  <a16:creationId xmlns:a16="http://schemas.microsoft.com/office/drawing/2014/main" id="{B629C5D7-426C-141C-75B5-093E81FEADF6}"/>
                </a:ext>
              </a:extLst>
            </p:cNvPr>
            <p:cNvSpPr/>
            <p:nvPr/>
          </p:nvSpPr>
          <p:spPr>
            <a:xfrm flipH="1">
              <a:off x="698782" y="3744469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066AC">
                <a:alpha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5232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5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86939F8-D294-0D2A-08E2-DDA86C1A521D}"/>
              </a:ext>
            </a:extLst>
          </p:cNvPr>
          <p:cNvSpPr/>
          <p:nvPr userDrawn="1"/>
        </p:nvSpPr>
        <p:spPr>
          <a:xfrm>
            <a:off x="0" y="1567526"/>
            <a:ext cx="9906000" cy="232977"/>
          </a:xfrm>
          <a:prstGeom prst="rect">
            <a:avLst/>
          </a:prstGeom>
          <a:solidFill>
            <a:srgbClr val="EC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C097AC-1786-185E-F67A-D7528FD21708}"/>
              </a:ext>
            </a:extLst>
          </p:cNvPr>
          <p:cNvSpPr txBox="1"/>
          <p:nvPr userDrawn="1"/>
        </p:nvSpPr>
        <p:spPr>
          <a:xfrm>
            <a:off x="4690118" y="6551466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000" b="0">
                <a:ln w="3175"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dirty="0"/>
              <a:t>Ⅳ-</a:t>
            </a:r>
            <a:fld id="{E36F03CF-389E-4D93-9FB1-49222009B45F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3839DA65-9D56-2403-7812-8E11396129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1139" y="468868"/>
            <a:ext cx="5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>
              <a:buFontTx/>
              <a:buNone/>
              <a:defRPr kumimoji="1" lang="ko-Kore-KR" altLang="en-US" sz="1800" b="0" i="0" u="none" strike="noStrike" kern="1200" cap="none" spc="-50" normalizeH="0" baseline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342880" marR="0" lvl="0" indent="-342880" algn="l" defTabSz="91434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1.1.1.1.1 </a:t>
            </a:r>
            <a:r>
              <a:rPr kumimoji="1" lang="ko-KR" altLang="en-US" dirty="0"/>
              <a:t>마지막 제목</a:t>
            </a:r>
            <a:endParaRPr kumimoji="1" lang="ko-Kore-KR" altLang="en-US" dirty="0"/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46D79DFF-34C4-F233-C9CC-4BF1D3AF32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139" y="145620"/>
            <a:ext cx="5400000" cy="217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buFontTx/>
              <a:buNone/>
              <a:defRPr kumimoji="1" lang="ko-Kore-KR" altLang="en-US" sz="900" b="0" spc="-5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dirty="0"/>
              <a:t>1.1 </a:t>
            </a:r>
            <a:r>
              <a:rPr kumimoji="1" lang="ko-KR" altLang="en-US" dirty="0"/>
              <a:t>둘째 제목 </a:t>
            </a:r>
            <a:r>
              <a:rPr kumimoji="1" lang="en-US" altLang="ko-KR" dirty="0"/>
              <a:t>&gt; 1.1.1 </a:t>
            </a:r>
            <a:r>
              <a:rPr kumimoji="1" lang="ko-KR" altLang="en-US" dirty="0"/>
              <a:t>셋째 제목 </a:t>
            </a:r>
            <a:r>
              <a:rPr kumimoji="1" lang="en-US" altLang="ko-KR" dirty="0"/>
              <a:t>&gt; 1.1.1.1 </a:t>
            </a:r>
            <a:r>
              <a:rPr kumimoji="1" lang="ko-KR" altLang="en-US" dirty="0"/>
              <a:t>넷째 제목</a:t>
            </a:r>
            <a:endParaRPr kumimoji="1" lang="ko-Kore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347B95-4A82-1291-7783-EF112AC75983}"/>
              </a:ext>
            </a:extLst>
          </p:cNvPr>
          <p:cNvSpPr/>
          <p:nvPr userDrawn="1"/>
        </p:nvSpPr>
        <p:spPr>
          <a:xfrm>
            <a:off x="0" y="1477526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spc="0" baseline="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DB40DA-B380-275C-02C0-6CAA8570AD64}"/>
              </a:ext>
            </a:extLst>
          </p:cNvPr>
          <p:cNvSpPr/>
          <p:nvPr userDrawn="1"/>
        </p:nvSpPr>
        <p:spPr>
          <a:xfrm>
            <a:off x="0" y="1802575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spc="0" baseline="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25" name="Rectangle 250">
            <a:extLst>
              <a:ext uri="{FF2B5EF4-FFF2-40B4-BE49-F238E27FC236}">
                <a16:creationId xmlns:a16="http://schemas.microsoft.com/office/drawing/2014/main" id="{E411BC25-1BC6-4E89-BCA9-66C74AEB07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75563" y="1894647"/>
            <a:ext cx="9360000" cy="4573056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8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147522C3-A8AF-C8BD-F111-3879611257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2482" y="979980"/>
            <a:ext cx="9361040" cy="497546"/>
          </a:xfrm>
          <a:prstGeom prst="rect">
            <a:avLst/>
          </a:prstGeom>
        </p:spPr>
        <p:txBody>
          <a:bodyPr lIns="0" anchor="t"/>
          <a:lstStyle>
            <a:lvl1pPr marL="54000" indent="0">
              <a:buNone/>
              <a:defRPr lang="en-US" altLang="ko-KR" sz="1200" b="0" i="0" spc="-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225450" lvl="0" indent="-171450" latinLnBrk="0">
              <a:lnSpc>
                <a:spcPct val="100000"/>
              </a:lnSpc>
              <a:spcBef>
                <a:spcPts val="300"/>
              </a:spcBef>
            </a:pPr>
            <a:r>
              <a:rPr kumimoji="1" lang="ko-KR" altLang="en-US" dirty="0" err="1"/>
              <a:t>거버닝</a:t>
            </a:r>
            <a:r>
              <a:rPr kumimoji="1" lang="ko-KR" altLang="en-US" dirty="0"/>
              <a:t> 메시지를 </a:t>
            </a:r>
            <a:r>
              <a:rPr kumimoji="1" lang="en-US" altLang="ko-KR" dirty="0"/>
              <a:t>2</a:t>
            </a:r>
            <a:r>
              <a:rPr kumimoji="1" lang="ko-KR" altLang="en-US" dirty="0"/>
              <a:t>줄로 입력해주세요</a:t>
            </a:r>
            <a:r>
              <a:rPr kumimoji="1" lang="en-US" altLang="ko-KR" dirty="0"/>
              <a:t>. (</a:t>
            </a:r>
            <a:r>
              <a:rPr kumimoji="1" lang="en-US" altLang="ko-KR" dirty="0" err="1"/>
              <a:t>Kopub</a:t>
            </a:r>
            <a:r>
              <a:rPr kumimoji="1" lang="en-US" altLang="ko-KR" dirty="0"/>
              <a:t> </a:t>
            </a:r>
            <a:r>
              <a:rPr kumimoji="1" lang="ko-KR" altLang="en-US" dirty="0"/>
              <a:t>돋움체 </a:t>
            </a:r>
            <a:r>
              <a:rPr kumimoji="1" lang="en-US" altLang="ko-KR" dirty="0"/>
              <a:t>Medium</a:t>
            </a:r>
            <a:r>
              <a:rPr kumimoji="1" lang="ko-KR" altLang="en-US" dirty="0"/>
              <a:t> </a:t>
            </a:r>
            <a:r>
              <a:rPr kumimoji="1" lang="en-US" altLang="ko-KR" dirty="0"/>
              <a:t>12pt)</a:t>
            </a:r>
          </a:p>
          <a:p>
            <a:pPr marL="225450" lvl="0" indent="-171450" latinLnBrk="0">
              <a:lnSpc>
                <a:spcPct val="100000"/>
              </a:lnSpc>
              <a:spcBef>
                <a:spcPts val="300"/>
              </a:spcBef>
            </a:pPr>
            <a:endParaRPr kumimoji="1" lang="en-US" altLang="ko-KR" dirty="0"/>
          </a:p>
        </p:txBody>
      </p:sp>
      <p:sp>
        <p:nvSpPr>
          <p:cNvPr id="2" name="텍스트 개체 틀 215">
            <a:extLst>
              <a:ext uri="{FF2B5EF4-FFF2-40B4-BE49-F238E27FC236}">
                <a16:creationId xmlns:a16="http://schemas.microsoft.com/office/drawing/2014/main" id="{27512E91-8C6F-0119-6C9C-15E5C7CF1005}"/>
              </a:ext>
            </a:extLst>
          </p:cNvPr>
          <p:cNvSpPr txBox="1">
            <a:spLocks/>
          </p:cNvSpPr>
          <p:nvPr userDrawn="1"/>
        </p:nvSpPr>
        <p:spPr>
          <a:xfrm>
            <a:off x="361263" y="549230"/>
            <a:ext cx="641917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Chapter</a:t>
            </a:r>
            <a:r>
              <a:rPr kumimoji="1" lang="en-US" altLang="ko-KR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Ⅳ</a:t>
            </a: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.</a:t>
            </a:r>
            <a:endParaRPr kumimoji="1" lang="ko-Kore-KR" altLang="en-US" sz="1050" b="0" kern="1200" spc="-50" baseline="0" noProof="0" dirty="0">
              <a:solidFill>
                <a:srgbClr val="0078B9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3" name="텍스트 개체 틀 215">
            <a:extLst>
              <a:ext uri="{FF2B5EF4-FFF2-40B4-BE49-F238E27FC236}">
                <a16:creationId xmlns:a16="http://schemas.microsoft.com/office/drawing/2014/main" id="{148DEBCB-A780-AC7A-0413-644C7A58A65B}"/>
              </a:ext>
            </a:extLst>
          </p:cNvPr>
          <p:cNvSpPr txBox="1">
            <a:spLocks/>
          </p:cNvSpPr>
          <p:nvPr userDrawn="1"/>
        </p:nvSpPr>
        <p:spPr>
          <a:xfrm>
            <a:off x="982703" y="549230"/>
            <a:ext cx="1041409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kern="1200" spc="-50" baseline="0" noProof="0" dirty="0">
                <a:gradFill>
                  <a:gsLst>
                    <a:gs pos="0">
                      <a:srgbClr val="5F5E5E"/>
                    </a:gs>
                    <a:gs pos="100000">
                      <a:srgbClr val="5F5E5E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사업관리부문</a:t>
            </a:r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A8461D85-CF52-2366-1FA4-B7D9088F12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381" y="1590531"/>
            <a:ext cx="9041457" cy="184666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>
            <a:lvl1pPr marL="0" indent="0">
              <a:buNone/>
              <a:defRPr kumimoji="1" lang="ko-Kore-KR" altLang="en-US" sz="1200" b="0" i="0" u="none" strike="noStrike" kern="0" cap="none" spc="-5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KoPub돋움체 Bold" panose="02020603020101020101" pitchFamily="18" charset="-127"/>
              </a:defRPr>
            </a:lvl1pPr>
          </a:lstStyle>
          <a:p>
            <a:pPr marL="228600" marR="0" lvl="0" indent="-2286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1" lang="ko-KR" altLang="en-US" dirty="0"/>
              <a:t>소제목을 입력해주세요</a:t>
            </a:r>
            <a:endParaRPr kumimoji="1" lang="ko-Kore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26C5D54-5668-68A1-B358-986578A382B4}"/>
              </a:ext>
            </a:extLst>
          </p:cNvPr>
          <p:cNvGrpSpPr/>
          <p:nvPr userDrawn="1"/>
        </p:nvGrpSpPr>
        <p:grpSpPr>
          <a:xfrm>
            <a:off x="324168" y="1589493"/>
            <a:ext cx="130913" cy="186743"/>
            <a:chOff x="698782" y="3650471"/>
            <a:chExt cx="199745" cy="284932"/>
          </a:xfrm>
        </p:grpSpPr>
        <p:sp>
          <p:nvSpPr>
            <p:cNvPr id="18" name="자유형 287">
              <a:extLst>
                <a:ext uri="{FF2B5EF4-FFF2-40B4-BE49-F238E27FC236}">
                  <a16:creationId xmlns:a16="http://schemas.microsoft.com/office/drawing/2014/main" id="{0C52D996-5686-AB3A-FA67-8D6D355A160C}"/>
                </a:ext>
              </a:extLst>
            </p:cNvPr>
            <p:cNvSpPr/>
            <p:nvPr/>
          </p:nvSpPr>
          <p:spPr>
            <a:xfrm>
              <a:off x="698782" y="3650471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CB8E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19" name="자유형 288">
              <a:extLst>
                <a:ext uri="{FF2B5EF4-FFF2-40B4-BE49-F238E27FC236}">
                  <a16:creationId xmlns:a16="http://schemas.microsoft.com/office/drawing/2014/main" id="{84CD6B59-DA2A-3C4E-80B3-374FD52E5FB5}"/>
                </a:ext>
              </a:extLst>
            </p:cNvPr>
            <p:cNvSpPr/>
            <p:nvPr/>
          </p:nvSpPr>
          <p:spPr>
            <a:xfrm flipH="1">
              <a:off x="698782" y="3744469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066AC">
                <a:alpha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0212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FAB29D8-36D2-1DBF-F547-FF7C1868B5F5}"/>
              </a:ext>
            </a:extLst>
          </p:cNvPr>
          <p:cNvSpPr/>
          <p:nvPr userDrawn="1"/>
        </p:nvSpPr>
        <p:spPr>
          <a:xfrm>
            <a:off x="0" y="996493"/>
            <a:ext cx="9906000" cy="232977"/>
          </a:xfrm>
          <a:prstGeom prst="rect">
            <a:avLst/>
          </a:prstGeom>
          <a:solidFill>
            <a:srgbClr val="EC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5BE079-059E-272A-95D5-DCCC72603EB3}"/>
              </a:ext>
            </a:extLst>
          </p:cNvPr>
          <p:cNvSpPr/>
          <p:nvPr userDrawn="1"/>
        </p:nvSpPr>
        <p:spPr>
          <a:xfrm>
            <a:off x="0" y="1233769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15" name="Rectangle 250">
            <a:extLst>
              <a:ext uri="{FF2B5EF4-FFF2-40B4-BE49-F238E27FC236}">
                <a16:creationId xmlns:a16="http://schemas.microsoft.com/office/drawing/2014/main" id="{D3AA96CD-FDC3-7C58-B3D3-9E59012BF2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75563" y="1328068"/>
            <a:ext cx="9360000" cy="5139635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8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4" name="텍스트 개체 틀 4">
            <a:extLst>
              <a:ext uri="{FF2B5EF4-FFF2-40B4-BE49-F238E27FC236}">
                <a16:creationId xmlns:a16="http://schemas.microsoft.com/office/drawing/2014/main" id="{011EFD4E-FC18-40ED-51BF-44718A75AF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1139" y="468868"/>
            <a:ext cx="5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>
              <a:buFontTx/>
              <a:buNone/>
              <a:defRPr kumimoji="1" lang="ko-Kore-KR" altLang="en-US" sz="1800" b="0" i="0" u="none" strike="noStrike" kern="1200" cap="none" spc="-50" normalizeH="0" baseline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342880" marR="0" lvl="0" indent="-342880" algn="l" defTabSz="91434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1.1.1.1.1 </a:t>
            </a:r>
            <a:r>
              <a:rPr kumimoji="1" lang="ko-KR" altLang="en-US" dirty="0"/>
              <a:t>마지막 제목</a:t>
            </a:r>
            <a:endParaRPr kumimoji="1" lang="ko-Kore-KR" altLang="en-US" dirty="0"/>
          </a:p>
        </p:txBody>
      </p:sp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E697468-7B37-E774-5330-EE2827580E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139" y="145620"/>
            <a:ext cx="5400000" cy="217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buFontTx/>
              <a:buNone/>
              <a:defRPr kumimoji="1" lang="ko-Kore-KR" altLang="en-US" sz="900" b="0" spc="-5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dirty="0"/>
              <a:t>1.1 </a:t>
            </a:r>
            <a:r>
              <a:rPr kumimoji="1" lang="ko-KR" altLang="en-US" dirty="0"/>
              <a:t>둘째 제목 </a:t>
            </a:r>
            <a:r>
              <a:rPr kumimoji="1" lang="en-US" altLang="ko-KR" dirty="0"/>
              <a:t>&gt; 1.1.1 </a:t>
            </a:r>
            <a:r>
              <a:rPr kumimoji="1" lang="ko-KR" altLang="en-US" dirty="0"/>
              <a:t>셋째 제목 </a:t>
            </a:r>
            <a:r>
              <a:rPr kumimoji="1" lang="en-US" altLang="ko-KR" dirty="0"/>
              <a:t>&gt; 1.1.1.1 </a:t>
            </a:r>
            <a:r>
              <a:rPr kumimoji="1" lang="ko-KR" altLang="en-US" dirty="0"/>
              <a:t>넷째 제목</a:t>
            </a:r>
            <a:endParaRPr kumimoji="1" lang="ko-Kore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A00AD5-D044-B4AA-DA2F-1557A9317729}"/>
              </a:ext>
            </a:extLst>
          </p:cNvPr>
          <p:cNvSpPr txBox="1"/>
          <p:nvPr userDrawn="1"/>
        </p:nvSpPr>
        <p:spPr>
          <a:xfrm>
            <a:off x="4690118" y="6551466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000" b="0">
                <a:ln w="3175"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dirty="0"/>
              <a:t>Ⅳ-</a:t>
            </a:r>
            <a:fld id="{E36F03CF-389E-4D93-9FB1-49222009B45F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2" name="텍스트 개체 틀 215">
            <a:extLst>
              <a:ext uri="{FF2B5EF4-FFF2-40B4-BE49-F238E27FC236}">
                <a16:creationId xmlns:a16="http://schemas.microsoft.com/office/drawing/2014/main" id="{21A26FC4-FECC-090A-1822-A2FBB60E6B48}"/>
              </a:ext>
            </a:extLst>
          </p:cNvPr>
          <p:cNvSpPr txBox="1">
            <a:spLocks/>
          </p:cNvSpPr>
          <p:nvPr userDrawn="1"/>
        </p:nvSpPr>
        <p:spPr>
          <a:xfrm>
            <a:off x="361263" y="549230"/>
            <a:ext cx="641917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Chapter</a:t>
            </a:r>
            <a:r>
              <a:rPr kumimoji="1" lang="en-US" altLang="ko-KR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Ⅳ</a:t>
            </a: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.</a:t>
            </a:r>
            <a:endParaRPr kumimoji="1" lang="ko-Kore-KR" altLang="en-US" sz="1050" b="0" kern="1200" spc="-50" baseline="0" noProof="0" dirty="0">
              <a:solidFill>
                <a:srgbClr val="0078B9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텍스트 개체 틀 215">
            <a:extLst>
              <a:ext uri="{FF2B5EF4-FFF2-40B4-BE49-F238E27FC236}">
                <a16:creationId xmlns:a16="http://schemas.microsoft.com/office/drawing/2014/main" id="{B60F133A-D32A-BCC5-4345-B014A8605C73}"/>
              </a:ext>
            </a:extLst>
          </p:cNvPr>
          <p:cNvSpPr txBox="1">
            <a:spLocks/>
          </p:cNvSpPr>
          <p:nvPr userDrawn="1"/>
        </p:nvSpPr>
        <p:spPr>
          <a:xfrm>
            <a:off x="982703" y="549230"/>
            <a:ext cx="1041409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kern="1200" spc="-50" baseline="0" noProof="0" dirty="0">
                <a:gradFill>
                  <a:gsLst>
                    <a:gs pos="0">
                      <a:srgbClr val="5F5E5E"/>
                    </a:gs>
                    <a:gs pos="100000">
                      <a:srgbClr val="5F5E5E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사업관리부문</a:t>
            </a:r>
          </a:p>
        </p:txBody>
      </p:sp>
      <p:sp>
        <p:nvSpPr>
          <p:cNvPr id="9" name="텍스트 개체 틀 4">
            <a:extLst>
              <a:ext uri="{FF2B5EF4-FFF2-40B4-BE49-F238E27FC236}">
                <a16:creationId xmlns:a16="http://schemas.microsoft.com/office/drawing/2014/main" id="{63A7665C-D349-D5B2-6288-F849AE0881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381" y="1021967"/>
            <a:ext cx="9041457" cy="184666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>
            <a:lvl1pPr marL="0" indent="0">
              <a:buNone/>
              <a:defRPr kumimoji="1" lang="ko-Kore-KR" altLang="en-US" sz="1200" b="0" i="0" u="none" strike="noStrike" kern="0" cap="none" spc="-5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KoPub돋움체 Bold" panose="02020603020101020101" pitchFamily="18" charset="-127"/>
              </a:defRPr>
            </a:lvl1pPr>
          </a:lstStyle>
          <a:p>
            <a:pPr marL="228600" marR="0" lvl="0" indent="-2286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1" lang="ko-KR" altLang="en-US" dirty="0"/>
              <a:t>소제목을 입력해주세요</a:t>
            </a:r>
            <a:endParaRPr kumimoji="1" lang="ko-Kore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6524CA9-6C92-EAE6-AAAE-4C97F071C812}"/>
              </a:ext>
            </a:extLst>
          </p:cNvPr>
          <p:cNvGrpSpPr/>
          <p:nvPr userDrawn="1"/>
        </p:nvGrpSpPr>
        <p:grpSpPr>
          <a:xfrm>
            <a:off x="324168" y="1022384"/>
            <a:ext cx="130913" cy="186743"/>
            <a:chOff x="698782" y="3650471"/>
            <a:chExt cx="199745" cy="284932"/>
          </a:xfrm>
        </p:grpSpPr>
        <p:sp>
          <p:nvSpPr>
            <p:cNvPr id="11" name="자유형 287">
              <a:extLst>
                <a:ext uri="{FF2B5EF4-FFF2-40B4-BE49-F238E27FC236}">
                  <a16:creationId xmlns:a16="http://schemas.microsoft.com/office/drawing/2014/main" id="{2D83C451-943D-6B47-1DCF-4A7A931FC211}"/>
                </a:ext>
              </a:extLst>
            </p:cNvPr>
            <p:cNvSpPr/>
            <p:nvPr/>
          </p:nvSpPr>
          <p:spPr>
            <a:xfrm>
              <a:off x="698782" y="3650471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CB8E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12" name="자유형 288">
              <a:extLst>
                <a:ext uri="{FF2B5EF4-FFF2-40B4-BE49-F238E27FC236}">
                  <a16:creationId xmlns:a16="http://schemas.microsoft.com/office/drawing/2014/main" id="{B67A7DD0-A44B-9797-9A46-6496D3A85CF0}"/>
                </a:ext>
              </a:extLst>
            </p:cNvPr>
            <p:cNvSpPr/>
            <p:nvPr/>
          </p:nvSpPr>
          <p:spPr>
            <a:xfrm flipH="1">
              <a:off x="698782" y="3744469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066AC">
                <a:alpha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6550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BBABCDC-6569-3862-F0CE-7D3756BFE270}"/>
              </a:ext>
            </a:extLst>
          </p:cNvPr>
          <p:cNvSpPr/>
          <p:nvPr userDrawn="1"/>
        </p:nvSpPr>
        <p:spPr>
          <a:xfrm>
            <a:off x="0" y="1567526"/>
            <a:ext cx="9906000" cy="232977"/>
          </a:xfrm>
          <a:prstGeom prst="rect">
            <a:avLst/>
          </a:prstGeom>
          <a:solidFill>
            <a:srgbClr val="EC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C097AC-1786-185E-F67A-D7528FD21708}"/>
              </a:ext>
            </a:extLst>
          </p:cNvPr>
          <p:cNvSpPr txBox="1"/>
          <p:nvPr userDrawn="1"/>
        </p:nvSpPr>
        <p:spPr>
          <a:xfrm>
            <a:off x="4690118" y="6551466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000" b="0">
                <a:ln w="3175"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dirty="0"/>
              <a:t>Ⅴ-</a:t>
            </a:r>
            <a:fld id="{E36F03CF-389E-4D93-9FB1-49222009B45F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3839DA65-9D56-2403-7812-8E11396129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1139" y="468868"/>
            <a:ext cx="5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>
              <a:buFontTx/>
              <a:buNone/>
              <a:defRPr kumimoji="1" lang="ko-Kore-KR" altLang="en-US" sz="1800" b="0" i="0" u="none" strike="noStrike" kern="1200" cap="none" spc="-50" normalizeH="0" baseline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342880" marR="0" lvl="0" indent="-342880" algn="l" defTabSz="91434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1.1.1.1.1 </a:t>
            </a:r>
            <a:r>
              <a:rPr kumimoji="1" lang="ko-KR" altLang="en-US" dirty="0"/>
              <a:t>마지막 제목</a:t>
            </a:r>
            <a:endParaRPr kumimoji="1" lang="ko-Kore-KR" altLang="en-US" dirty="0"/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46D79DFF-34C4-F233-C9CC-4BF1D3AF32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139" y="145620"/>
            <a:ext cx="5400000" cy="217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buFontTx/>
              <a:buNone/>
              <a:defRPr kumimoji="1" lang="ko-Kore-KR" altLang="en-US" sz="900" b="0" spc="-5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dirty="0"/>
              <a:t>1.1 </a:t>
            </a:r>
            <a:r>
              <a:rPr kumimoji="1" lang="ko-KR" altLang="en-US" dirty="0"/>
              <a:t>둘째 제목 </a:t>
            </a:r>
            <a:r>
              <a:rPr kumimoji="1" lang="en-US" altLang="ko-KR" dirty="0"/>
              <a:t>&gt; 1.1.1 </a:t>
            </a:r>
            <a:r>
              <a:rPr kumimoji="1" lang="ko-KR" altLang="en-US" dirty="0"/>
              <a:t>셋째 제목 </a:t>
            </a:r>
            <a:r>
              <a:rPr kumimoji="1" lang="en-US" altLang="ko-KR" dirty="0"/>
              <a:t>&gt; 1.1.1.1 </a:t>
            </a:r>
            <a:r>
              <a:rPr kumimoji="1" lang="ko-KR" altLang="en-US" dirty="0"/>
              <a:t>넷째 제목</a:t>
            </a:r>
            <a:endParaRPr kumimoji="1" lang="ko-Kore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347B95-4A82-1291-7783-EF112AC75983}"/>
              </a:ext>
            </a:extLst>
          </p:cNvPr>
          <p:cNvSpPr/>
          <p:nvPr userDrawn="1"/>
        </p:nvSpPr>
        <p:spPr>
          <a:xfrm>
            <a:off x="0" y="1477526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spc="0" baseline="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DB40DA-B380-275C-02C0-6CAA8570AD64}"/>
              </a:ext>
            </a:extLst>
          </p:cNvPr>
          <p:cNvSpPr/>
          <p:nvPr userDrawn="1"/>
        </p:nvSpPr>
        <p:spPr>
          <a:xfrm>
            <a:off x="0" y="1802575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spc="0" baseline="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25" name="Rectangle 250">
            <a:extLst>
              <a:ext uri="{FF2B5EF4-FFF2-40B4-BE49-F238E27FC236}">
                <a16:creationId xmlns:a16="http://schemas.microsoft.com/office/drawing/2014/main" id="{E411BC25-1BC6-4E89-BCA9-66C74AEB07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75563" y="1894647"/>
            <a:ext cx="9360000" cy="4573056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8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FAF67DF6-38D2-FE83-27C4-454D35CE13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2482" y="979980"/>
            <a:ext cx="9361040" cy="497546"/>
          </a:xfrm>
          <a:prstGeom prst="rect">
            <a:avLst/>
          </a:prstGeom>
        </p:spPr>
        <p:txBody>
          <a:bodyPr lIns="0" anchor="t"/>
          <a:lstStyle>
            <a:lvl1pPr marL="54000" indent="0">
              <a:buNone/>
              <a:defRPr lang="en-US" altLang="ko-KR" sz="1200" b="0" i="0" spc="-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225450" lvl="0" indent="-171450" latinLnBrk="0">
              <a:lnSpc>
                <a:spcPct val="100000"/>
              </a:lnSpc>
              <a:spcBef>
                <a:spcPts val="300"/>
              </a:spcBef>
            </a:pPr>
            <a:r>
              <a:rPr kumimoji="1" lang="ko-KR" altLang="en-US" dirty="0" err="1"/>
              <a:t>거버닝</a:t>
            </a:r>
            <a:r>
              <a:rPr kumimoji="1" lang="ko-KR" altLang="en-US" dirty="0"/>
              <a:t> 메시지를 </a:t>
            </a:r>
            <a:r>
              <a:rPr kumimoji="1" lang="en-US" altLang="ko-KR" dirty="0"/>
              <a:t>2</a:t>
            </a:r>
            <a:r>
              <a:rPr kumimoji="1" lang="ko-KR" altLang="en-US" dirty="0"/>
              <a:t>줄로 입력해주세요</a:t>
            </a:r>
            <a:r>
              <a:rPr kumimoji="1" lang="en-US" altLang="ko-KR" dirty="0"/>
              <a:t>. (</a:t>
            </a:r>
            <a:r>
              <a:rPr kumimoji="1" lang="en-US" altLang="ko-KR" dirty="0" err="1"/>
              <a:t>Kopub</a:t>
            </a:r>
            <a:r>
              <a:rPr kumimoji="1" lang="en-US" altLang="ko-KR" dirty="0"/>
              <a:t> </a:t>
            </a:r>
            <a:r>
              <a:rPr kumimoji="1" lang="ko-KR" altLang="en-US" dirty="0"/>
              <a:t>돋움체 </a:t>
            </a:r>
            <a:r>
              <a:rPr kumimoji="1" lang="en-US" altLang="ko-KR" dirty="0"/>
              <a:t>Medium</a:t>
            </a:r>
            <a:r>
              <a:rPr kumimoji="1" lang="ko-KR" altLang="en-US" dirty="0"/>
              <a:t> </a:t>
            </a:r>
            <a:r>
              <a:rPr kumimoji="1" lang="en-US" altLang="ko-KR" dirty="0"/>
              <a:t>12pt)</a:t>
            </a:r>
          </a:p>
          <a:p>
            <a:pPr marL="225450" lvl="0" indent="-171450" latinLnBrk="0">
              <a:lnSpc>
                <a:spcPct val="100000"/>
              </a:lnSpc>
              <a:spcBef>
                <a:spcPts val="300"/>
              </a:spcBef>
            </a:pPr>
            <a:endParaRPr kumimoji="1" lang="en-US" altLang="ko-KR" dirty="0"/>
          </a:p>
        </p:txBody>
      </p:sp>
      <p:sp>
        <p:nvSpPr>
          <p:cNvPr id="2" name="텍스트 개체 틀 215">
            <a:extLst>
              <a:ext uri="{FF2B5EF4-FFF2-40B4-BE49-F238E27FC236}">
                <a16:creationId xmlns:a16="http://schemas.microsoft.com/office/drawing/2014/main" id="{20E9CBFB-4D4A-0DF4-069E-198DDC1032EA}"/>
              </a:ext>
            </a:extLst>
          </p:cNvPr>
          <p:cNvSpPr txBox="1">
            <a:spLocks/>
          </p:cNvSpPr>
          <p:nvPr userDrawn="1"/>
        </p:nvSpPr>
        <p:spPr>
          <a:xfrm>
            <a:off x="361263" y="549230"/>
            <a:ext cx="641917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Chapter</a:t>
            </a:r>
            <a:r>
              <a:rPr kumimoji="1" lang="en-US" altLang="ko-KR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Ⅴ</a:t>
            </a: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.</a:t>
            </a:r>
            <a:endParaRPr kumimoji="1" lang="ko-Kore-KR" altLang="en-US" sz="1050" b="0" kern="1200" spc="-50" baseline="0" noProof="0" dirty="0">
              <a:solidFill>
                <a:srgbClr val="0078B9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3" name="텍스트 개체 틀 215">
            <a:extLst>
              <a:ext uri="{FF2B5EF4-FFF2-40B4-BE49-F238E27FC236}">
                <a16:creationId xmlns:a16="http://schemas.microsoft.com/office/drawing/2014/main" id="{4CAEB6CF-A420-94DD-8BF4-C0EA5DBDDB6F}"/>
              </a:ext>
            </a:extLst>
          </p:cNvPr>
          <p:cNvSpPr txBox="1">
            <a:spLocks/>
          </p:cNvSpPr>
          <p:nvPr userDrawn="1"/>
        </p:nvSpPr>
        <p:spPr>
          <a:xfrm>
            <a:off x="982703" y="549230"/>
            <a:ext cx="1041409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kern="1200" spc="-50" baseline="0" noProof="0" dirty="0">
                <a:gradFill>
                  <a:gsLst>
                    <a:gs pos="0">
                      <a:srgbClr val="5F5E5E"/>
                    </a:gs>
                    <a:gs pos="100000">
                      <a:srgbClr val="5F5E5E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지원부문</a:t>
            </a:r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F74D1B8C-1433-5BD0-F9BB-C935E17575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381" y="1590531"/>
            <a:ext cx="9041457" cy="184666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>
            <a:lvl1pPr marL="0" indent="0">
              <a:buNone/>
              <a:defRPr kumimoji="1" lang="ko-Kore-KR" altLang="en-US" sz="1200" b="0" i="0" u="none" strike="noStrike" kern="0" cap="none" spc="-5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KoPub돋움체 Bold" panose="02020603020101020101" pitchFamily="18" charset="-127"/>
              </a:defRPr>
            </a:lvl1pPr>
          </a:lstStyle>
          <a:p>
            <a:pPr marL="228600" marR="0" lvl="0" indent="-2286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1" lang="ko-KR" altLang="en-US" dirty="0"/>
              <a:t>소제목을 입력해주세요</a:t>
            </a:r>
            <a:endParaRPr kumimoji="1" lang="ko-Kore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F2EF925-B2E2-7187-7E25-6BAD6A290985}"/>
              </a:ext>
            </a:extLst>
          </p:cNvPr>
          <p:cNvGrpSpPr/>
          <p:nvPr userDrawn="1"/>
        </p:nvGrpSpPr>
        <p:grpSpPr>
          <a:xfrm>
            <a:off x="324168" y="1589493"/>
            <a:ext cx="130913" cy="186743"/>
            <a:chOff x="698782" y="3650471"/>
            <a:chExt cx="199745" cy="284932"/>
          </a:xfrm>
        </p:grpSpPr>
        <p:sp>
          <p:nvSpPr>
            <p:cNvPr id="18" name="자유형 287">
              <a:extLst>
                <a:ext uri="{FF2B5EF4-FFF2-40B4-BE49-F238E27FC236}">
                  <a16:creationId xmlns:a16="http://schemas.microsoft.com/office/drawing/2014/main" id="{F8D7636B-1981-AD07-8707-922D20A6DE21}"/>
                </a:ext>
              </a:extLst>
            </p:cNvPr>
            <p:cNvSpPr/>
            <p:nvPr/>
          </p:nvSpPr>
          <p:spPr>
            <a:xfrm>
              <a:off x="698782" y="3650471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CB8E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19" name="자유형 288">
              <a:extLst>
                <a:ext uri="{FF2B5EF4-FFF2-40B4-BE49-F238E27FC236}">
                  <a16:creationId xmlns:a16="http://schemas.microsoft.com/office/drawing/2014/main" id="{A5DFB913-F09B-0268-AA6D-CD4F79CB5DD9}"/>
                </a:ext>
              </a:extLst>
            </p:cNvPr>
            <p:cNvSpPr/>
            <p:nvPr/>
          </p:nvSpPr>
          <p:spPr>
            <a:xfrm flipH="1">
              <a:off x="698782" y="3744469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066AC">
                <a:alpha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741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9FBF6C5-AE22-1515-037B-EAACCD36DBC8}"/>
              </a:ext>
            </a:extLst>
          </p:cNvPr>
          <p:cNvSpPr/>
          <p:nvPr userDrawn="1"/>
        </p:nvSpPr>
        <p:spPr>
          <a:xfrm>
            <a:off x="0" y="996493"/>
            <a:ext cx="9906000" cy="232977"/>
          </a:xfrm>
          <a:prstGeom prst="rect">
            <a:avLst/>
          </a:prstGeom>
          <a:solidFill>
            <a:srgbClr val="EC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5BE079-059E-272A-95D5-DCCC72603EB3}"/>
              </a:ext>
            </a:extLst>
          </p:cNvPr>
          <p:cNvSpPr/>
          <p:nvPr userDrawn="1"/>
        </p:nvSpPr>
        <p:spPr>
          <a:xfrm>
            <a:off x="0" y="1233769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15" name="Rectangle 250">
            <a:extLst>
              <a:ext uri="{FF2B5EF4-FFF2-40B4-BE49-F238E27FC236}">
                <a16:creationId xmlns:a16="http://schemas.microsoft.com/office/drawing/2014/main" id="{D3AA96CD-FDC3-7C58-B3D3-9E59012BF2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75563" y="1328068"/>
            <a:ext cx="9360000" cy="5139635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8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4" name="텍스트 개체 틀 4">
            <a:extLst>
              <a:ext uri="{FF2B5EF4-FFF2-40B4-BE49-F238E27FC236}">
                <a16:creationId xmlns:a16="http://schemas.microsoft.com/office/drawing/2014/main" id="{011EFD4E-FC18-40ED-51BF-44718A75AF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1139" y="468868"/>
            <a:ext cx="5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>
              <a:buFontTx/>
              <a:buNone/>
              <a:defRPr kumimoji="1" lang="ko-Kore-KR" altLang="en-US" sz="1800" b="0" i="0" u="none" strike="noStrike" kern="1200" cap="none" spc="-50" normalizeH="0" baseline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342880" marR="0" lvl="0" indent="-342880" algn="l" defTabSz="91434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1.1.1.1.1 </a:t>
            </a:r>
            <a:r>
              <a:rPr kumimoji="1" lang="ko-KR" altLang="en-US" dirty="0"/>
              <a:t>마지막 제목</a:t>
            </a:r>
            <a:endParaRPr kumimoji="1" lang="ko-Kore-KR" altLang="en-US" dirty="0"/>
          </a:p>
        </p:txBody>
      </p:sp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E697468-7B37-E774-5330-EE2827580E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139" y="145620"/>
            <a:ext cx="5400000" cy="217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buFontTx/>
              <a:buNone/>
              <a:defRPr kumimoji="1" lang="ko-Kore-KR" altLang="en-US" sz="900" b="0" spc="-5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dirty="0"/>
              <a:t>1.1 </a:t>
            </a:r>
            <a:r>
              <a:rPr kumimoji="1" lang="ko-KR" altLang="en-US" dirty="0"/>
              <a:t>둘째 제목 </a:t>
            </a:r>
            <a:r>
              <a:rPr kumimoji="1" lang="en-US" altLang="ko-KR" dirty="0"/>
              <a:t>&gt; 1.1.1 </a:t>
            </a:r>
            <a:r>
              <a:rPr kumimoji="1" lang="ko-KR" altLang="en-US" dirty="0"/>
              <a:t>셋째 제목 </a:t>
            </a:r>
            <a:r>
              <a:rPr kumimoji="1" lang="en-US" altLang="ko-KR" dirty="0"/>
              <a:t>&gt; 1.1.1.1 </a:t>
            </a:r>
            <a:r>
              <a:rPr kumimoji="1" lang="ko-KR" altLang="en-US" dirty="0"/>
              <a:t>넷째 제목</a:t>
            </a:r>
            <a:endParaRPr kumimoji="1" lang="ko-Kore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9B9904-70CE-7195-11F0-BEC0F5CAF3E2}"/>
              </a:ext>
            </a:extLst>
          </p:cNvPr>
          <p:cNvSpPr txBox="1"/>
          <p:nvPr userDrawn="1"/>
        </p:nvSpPr>
        <p:spPr>
          <a:xfrm>
            <a:off x="4690118" y="6551466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000" b="0">
                <a:ln w="3175"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dirty="0"/>
              <a:t>Ⅴ-</a:t>
            </a:r>
            <a:fld id="{E36F03CF-389E-4D93-9FB1-49222009B45F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4" name="텍스트 개체 틀 215">
            <a:extLst>
              <a:ext uri="{FF2B5EF4-FFF2-40B4-BE49-F238E27FC236}">
                <a16:creationId xmlns:a16="http://schemas.microsoft.com/office/drawing/2014/main" id="{E8A3E4DD-BD8C-615E-0B03-34819B3BC828}"/>
              </a:ext>
            </a:extLst>
          </p:cNvPr>
          <p:cNvSpPr txBox="1">
            <a:spLocks/>
          </p:cNvSpPr>
          <p:nvPr userDrawn="1"/>
        </p:nvSpPr>
        <p:spPr>
          <a:xfrm>
            <a:off x="361263" y="549230"/>
            <a:ext cx="641917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Chapter</a:t>
            </a:r>
            <a:r>
              <a:rPr kumimoji="1" lang="en-US" altLang="ko-KR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Ⅴ</a:t>
            </a: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.</a:t>
            </a:r>
            <a:endParaRPr kumimoji="1" lang="ko-Kore-KR" altLang="en-US" sz="1050" b="0" kern="1200" spc="-50" baseline="0" noProof="0" dirty="0">
              <a:solidFill>
                <a:srgbClr val="0078B9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텍스트 개체 틀 215">
            <a:extLst>
              <a:ext uri="{FF2B5EF4-FFF2-40B4-BE49-F238E27FC236}">
                <a16:creationId xmlns:a16="http://schemas.microsoft.com/office/drawing/2014/main" id="{7245F701-5218-CF79-63F2-1FEDAB6446BD}"/>
              </a:ext>
            </a:extLst>
          </p:cNvPr>
          <p:cNvSpPr txBox="1">
            <a:spLocks/>
          </p:cNvSpPr>
          <p:nvPr userDrawn="1"/>
        </p:nvSpPr>
        <p:spPr>
          <a:xfrm>
            <a:off x="982703" y="549230"/>
            <a:ext cx="1041409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kern="1200" spc="-50" baseline="0" noProof="0" dirty="0">
                <a:gradFill>
                  <a:gsLst>
                    <a:gs pos="0">
                      <a:srgbClr val="5F5E5E"/>
                    </a:gs>
                    <a:gs pos="100000">
                      <a:srgbClr val="5F5E5E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지원부문</a:t>
            </a:r>
          </a:p>
        </p:txBody>
      </p:sp>
      <p:sp>
        <p:nvSpPr>
          <p:cNvPr id="9" name="텍스트 개체 틀 4">
            <a:extLst>
              <a:ext uri="{FF2B5EF4-FFF2-40B4-BE49-F238E27FC236}">
                <a16:creationId xmlns:a16="http://schemas.microsoft.com/office/drawing/2014/main" id="{644A6A00-CFB7-B185-D331-334E1417E9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381" y="1021967"/>
            <a:ext cx="9041457" cy="184666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>
            <a:lvl1pPr marL="0" indent="0">
              <a:buNone/>
              <a:defRPr kumimoji="1" lang="ko-Kore-KR" altLang="en-US" sz="1200" b="0" i="0" u="none" strike="noStrike" kern="0" cap="none" spc="-5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KoPub돋움체 Bold" panose="02020603020101020101" pitchFamily="18" charset="-127"/>
              </a:defRPr>
            </a:lvl1pPr>
          </a:lstStyle>
          <a:p>
            <a:pPr marL="228600" marR="0" lvl="0" indent="-2286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1" lang="ko-KR" altLang="en-US" dirty="0"/>
              <a:t>소제목을 입력해주세요</a:t>
            </a:r>
            <a:endParaRPr kumimoji="1" lang="ko-Kore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CAC2E0A-801E-163A-2B09-606B69E5DCF3}"/>
              </a:ext>
            </a:extLst>
          </p:cNvPr>
          <p:cNvGrpSpPr/>
          <p:nvPr userDrawn="1"/>
        </p:nvGrpSpPr>
        <p:grpSpPr>
          <a:xfrm>
            <a:off x="324168" y="1022384"/>
            <a:ext cx="130913" cy="186743"/>
            <a:chOff x="698782" y="3650471"/>
            <a:chExt cx="199745" cy="284932"/>
          </a:xfrm>
        </p:grpSpPr>
        <p:sp>
          <p:nvSpPr>
            <p:cNvPr id="11" name="자유형 287">
              <a:extLst>
                <a:ext uri="{FF2B5EF4-FFF2-40B4-BE49-F238E27FC236}">
                  <a16:creationId xmlns:a16="http://schemas.microsoft.com/office/drawing/2014/main" id="{148D5BBB-49BE-2299-D0A4-8785EE2C49E5}"/>
                </a:ext>
              </a:extLst>
            </p:cNvPr>
            <p:cNvSpPr/>
            <p:nvPr/>
          </p:nvSpPr>
          <p:spPr>
            <a:xfrm>
              <a:off x="698782" y="3650471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CB8E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12" name="자유형 288">
              <a:extLst>
                <a:ext uri="{FF2B5EF4-FFF2-40B4-BE49-F238E27FC236}">
                  <a16:creationId xmlns:a16="http://schemas.microsoft.com/office/drawing/2014/main" id="{F6E22553-BCEE-3987-9C3F-D6DE83BD76F5}"/>
                </a:ext>
              </a:extLst>
            </p:cNvPr>
            <p:cNvSpPr/>
            <p:nvPr/>
          </p:nvSpPr>
          <p:spPr>
            <a:xfrm flipH="1">
              <a:off x="698782" y="3744469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066AC">
                <a:alpha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0030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BBABCDC-6569-3862-F0CE-7D3756BFE270}"/>
              </a:ext>
            </a:extLst>
          </p:cNvPr>
          <p:cNvSpPr/>
          <p:nvPr userDrawn="1"/>
        </p:nvSpPr>
        <p:spPr>
          <a:xfrm>
            <a:off x="0" y="1567526"/>
            <a:ext cx="9906000" cy="232977"/>
          </a:xfrm>
          <a:prstGeom prst="rect">
            <a:avLst/>
          </a:prstGeom>
          <a:solidFill>
            <a:srgbClr val="EC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C097AC-1786-185E-F67A-D7528FD21708}"/>
              </a:ext>
            </a:extLst>
          </p:cNvPr>
          <p:cNvSpPr txBox="1"/>
          <p:nvPr userDrawn="1"/>
        </p:nvSpPr>
        <p:spPr>
          <a:xfrm>
            <a:off x="4690118" y="6551466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000" b="0">
                <a:ln w="3175"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dirty="0"/>
              <a:t>Ⅵ-</a:t>
            </a:r>
            <a:fld id="{E36F03CF-389E-4D93-9FB1-49222009B45F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1" name="텍스트 개체 틀 4">
            <a:extLst>
              <a:ext uri="{FF2B5EF4-FFF2-40B4-BE49-F238E27FC236}">
                <a16:creationId xmlns:a16="http://schemas.microsoft.com/office/drawing/2014/main" id="{3839DA65-9D56-2403-7812-8E11396129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1139" y="468868"/>
            <a:ext cx="5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>
              <a:buFontTx/>
              <a:buNone/>
              <a:defRPr kumimoji="1" lang="ko-Kore-KR" altLang="en-US" sz="1800" b="0" i="0" u="none" strike="noStrike" kern="1200" cap="none" spc="-50" normalizeH="0" baseline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342880" marR="0" lvl="0" indent="-342880" algn="l" defTabSz="91434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1.1.1.1.1 </a:t>
            </a:r>
            <a:r>
              <a:rPr kumimoji="1" lang="ko-KR" altLang="en-US" dirty="0"/>
              <a:t>마지막 제목</a:t>
            </a:r>
            <a:endParaRPr kumimoji="1" lang="ko-Kore-KR" altLang="en-US" dirty="0"/>
          </a:p>
        </p:txBody>
      </p:sp>
      <p:sp>
        <p:nvSpPr>
          <p:cNvPr id="12" name="텍스트 개체 틀 4">
            <a:extLst>
              <a:ext uri="{FF2B5EF4-FFF2-40B4-BE49-F238E27FC236}">
                <a16:creationId xmlns:a16="http://schemas.microsoft.com/office/drawing/2014/main" id="{46D79DFF-34C4-F233-C9CC-4BF1D3AF32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139" y="145620"/>
            <a:ext cx="5400000" cy="217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buFontTx/>
              <a:buNone/>
              <a:defRPr kumimoji="1" lang="ko-Kore-KR" altLang="en-US" sz="900" b="0" spc="-5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dirty="0"/>
              <a:t>1.1 </a:t>
            </a:r>
            <a:r>
              <a:rPr kumimoji="1" lang="ko-KR" altLang="en-US" dirty="0"/>
              <a:t>둘째 제목 </a:t>
            </a:r>
            <a:r>
              <a:rPr kumimoji="1" lang="en-US" altLang="ko-KR" dirty="0"/>
              <a:t>&gt; 1.1.1 </a:t>
            </a:r>
            <a:r>
              <a:rPr kumimoji="1" lang="ko-KR" altLang="en-US" dirty="0"/>
              <a:t>셋째 제목 </a:t>
            </a:r>
            <a:r>
              <a:rPr kumimoji="1" lang="en-US" altLang="ko-KR" dirty="0"/>
              <a:t>&gt; 1.1.1.1 </a:t>
            </a:r>
            <a:r>
              <a:rPr kumimoji="1" lang="ko-KR" altLang="en-US" dirty="0"/>
              <a:t>넷째 제목</a:t>
            </a:r>
            <a:endParaRPr kumimoji="1" lang="ko-Kore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1347B95-4A82-1291-7783-EF112AC75983}"/>
              </a:ext>
            </a:extLst>
          </p:cNvPr>
          <p:cNvSpPr/>
          <p:nvPr userDrawn="1"/>
        </p:nvSpPr>
        <p:spPr>
          <a:xfrm>
            <a:off x="0" y="1477526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spc="0" baseline="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6DB40DA-B380-275C-02C0-6CAA8570AD64}"/>
              </a:ext>
            </a:extLst>
          </p:cNvPr>
          <p:cNvSpPr/>
          <p:nvPr userDrawn="1"/>
        </p:nvSpPr>
        <p:spPr>
          <a:xfrm>
            <a:off x="0" y="1802575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spc="0" baseline="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25" name="Rectangle 250">
            <a:extLst>
              <a:ext uri="{FF2B5EF4-FFF2-40B4-BE49-F238E27FC236}">
                <a16:creationId xmlns:a16="http://schemas.microsoft.com/office/drawing/2014/main" id="{E411BC25-1BC6-4E89-BCA9-66C74AEB07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75563" y="1894647"/>
            <a:ext cx="9360000" cy="4573056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8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FAF67DF6-38D2-FE83-27C4-454D35CE13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2482" y="979980"/>
            <a:ext cx="9361040" cy="497546"/>
          </a:xfrm>
          <a:prstGeom prst="rect">
            <a:avLst/>
          </a:prstGeom>
        </p:spPr>
        <p:txBody>
          <a:bodyPr lIns="0" anchor="t"/>
          <a:lstStyle>
            <a:lvl1pPr marL="54000" indent="0">
              <a:buNone/>
              <a:defRPr lang="en-US" altLang="ko-KR" sz="1200" b="0" i="0" spc="-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1pPr>
          </a:lstStyle>
          <a:p>
            <a:pPr marL="225450" lvl="0" indent="-171450" latinLnBrk="0">
              <a:lnSpc>
                <a:spcPct val="100000"/>
              </a:lnSpc>
              <a:spcBef>
                <a:spcPts val="300"/>
              </a:spcBef>
            </a:pPr>
            <a:r>
              <a:rPr kumimoji="1" lang="ko-KR" altLang="en-US" dirty="0" err="1"/>
              <a:t>거버닝</a:t>
            </a:r>
            <a:r>
              <a:rPr kumimoji="1" lang="ko-KR" altLang="en-US" dirty="0"/>
              <a:t> 메시지를 </a:t>
            </a:r>
            <a:r>
              <a:rPr kumimoji="1" lang="en-US" altLang="ko-KR" dirty="0"/>
              <a:t>2</a:t>
            </a:r>
            <a:r>
              <a:rPr kumimoji="1" lang="ko-KR" altLang="en-US" dirty="0"/>
              <a:t>줄로 입력해주세요</a:t>
            </a:r>
            <a:r>
              <a:rPr kumimoji="1" lang="en-US" altLang="ko-KR" dirty="0"/>
              <a:t>. (</a:t>
            </a:r>
            <a:r>
              <a:rPr kumimoji="1" lang="en-US" altLang="ko-KR" dirty="0" err="1"/>
              <a:t>Kopub</a:t>
            </a:r>
            <a:r>
              <a:rPr kumimoji="1" lang="en-US" altLang="ko-KR" dirty="0"/>
              <a:t> </a:t>
            </a:r>
            <a:r>
              <a:rPr kumimoji="1" lang="ko-KR" altLang="en-US" dirty="0"/>
              <a:t>돋움체 </a:t>
            </a:r>
            <a:r>
              <a:rPr kumimoji="1" lang="en-US" altLang="ko-KR" dirty="0"/>
              <a:t>Medium</a:t>
            </a:r>
            <a:r>
              <a:rPr kumimoji="1" lang="ko-KR" altLang="en-US" dirty="0"/>
              <a:t> </a:t>
            </a:r>
            <a:r>
              <a:rPr kumimoji="1" lang="en-US" altLang="ko-KR" dirty="0"/>
              <a:t>12pt)</a:t>
            </a:r>
          </a:p>
          <a:p>
            <a:pPr marL="225450" lvl="0" indent="-171450" latinLnBrk="0">
              <a:lnSpc>
                <a:spcPct val="100000"/>
              </a:lnSpc>
              <a:spcBef>
                <a:spcPts val="300"/>
              </a:spcBef>
            </a:pPr>
            <a:endParaRPr kumimoji="1" lang="en-US" altLang="ko-KR" dirty="0"/>
          </a:p>
        </p:txBody>
      </p:sp>
      <p:sp>
        <p:nvSpPr>
          <p:cNvPr id="2" name="텍스트 개체 틀 215">
            <a:extLst>
              <a:ext uri="{FF2B5EF4-FFF2-40B4-BE49-F238E27FC236}">
                <a16:creationId xmlns:a16="http://schemas.microsoft.com/office/drawing/2014/main" id="{20E9CBFB-4D4A-0DF4-069E-198DDC1032EA}"/>
              </a:ext>
            </a:extLst>
          </p:cNvPr>
          <p:cNvSpPr txBox="1">
            <a:spLocks/>
          </p:cNvSpPr>
          <p:nvPr userDrawn="1"/>
        </p:nvSpPr>
        <p:spPr>
          <a:xfrm>
            <a:off x="361263" y="549230"/>
            <a:ext cx="641917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Chapter</a:t>
            </a:r>
            <a:r>
              <a:rPr kumimoji="1" lang="en-US" altLang="ko-KR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Ⅵ</a:t>
            </a: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.</a:t>
            </a:r>
            <a:endParaRPr kumimoji="1" lang="ko-Kore-KR" altLang="en-US" sz="1050" b="0" kern="1200" spc="-50" baseline="0" noProof="0" dirty="0">
              <a:solidFill>
                <a:srgbClr val="0078B9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3" name="텍스트 개체 틀 215">
            <a:extLst>
              <a:ext uri="{FF2B5EF4-FFF2-40B4-BE49-F238E27FC236}">
                <a16:creationId xmlns:a16="http://schemas.microsoft.com/office/drawing/2014/main" id="{4CAEB6CF-A420-94DD-8BF4-C0EA5DBDDB6F}"/>
              </a:ext>
            </a:extLst>
          </p:cNvPr>
          <p:cNvSpPr txBox="1">
            <a:spLocks/>
          </p:cNvSpPr>
          <p:nvPr userDrawn="1"/>
        </p:nvSpPr>
        <p:spPr>
          <a:xfrm>
            <a:off x="982703" y="549230"/>
            <a:ext cx="1041409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kern="1200" spc="-50" baseline="0" noProof="0" dirty="0">
                <a:gradFill>
                  <a:gsLst>
                    <a:gs pos="0">
                      <a:srgbClr val="5F5E5E"/>
                    </a:gs>
                    <a:gs pos="100000">
                      <a:srgbClr val="5F5E5E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기타부문</a:t>
            </a:r>
          </a:p>
        </p:txBody>
      </p:sp>
      <p:sp>
        <p:nvSpPr>
          <p:cNvPr id="16" name="텍스트 개체 틀 4">
            <a:extLst>
              <a:ext uri="{FF2B5EF4-FFF2-40B4-BE49-F238E27FC236}">
                <a16:creationId xmlns:a16="http://schemas.microsoft.com/office/drawing/2014/main" id="{F74D1B8C-1433-5BD0-F9BB-C935E175750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381" y="1590531"/>
            <a:ext cx="9041457" cy="184666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>
            <a:lvl1pPr marL="0" indent="0">
              <a:buNone/>
              <a:defRPr kumimoji="1" lang="ko-Kore-KR" altLang="en-US" sz="1200" b="0" i="0" u="none" strike="noStrike" kern="0" cap="none" spc="-5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KoPub돋움체 Bold" panose="02020603020101020101" pitchFamily="18" charset="-127"/>
              </a:defRPr>
            </a:lvl1pPr>
          </a:lstStyle>
          <a:p>
            <a:pPr marL="228600" marR="0" lvl="0" indent="-2286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1" lang="ko-KR" altLang="en-US" dirty="0"/>
              <a:t>소제목을 입력해주세요</a:t>
            </a:r>
            <a:endParaRPr kumimoji="1" lang="ko-Kore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F2EF925-B2E2-7187-7E25-6BAD6A290985}"/>
              </a:ext>
            </a:extLst>
          </p:cNvPr>
          <p:cNvGrpSpPr/>
          <p:nvPr userDrawn="1"/>
        </p:nvGrpSpPr>
        <p:grpSpPr>
          <a:xfrm>
            <a:off x="324168" y="1589493"/>
            <a:ext cx="130913" cy="186743"/>
            <a:chOff x="698782" y="3650471"/>
            <a:chExt cx="199745" cy="284932"/>
          </a:xfrm>
        </p:grpSpPr>
        <p:sp>
          <p:nvSpPr>
            <p:cNvPr id="18" name="자유형 287">
              <a:extLst>
                <a:ext uri="{FF2B5EF4-FFF2-40B4-BE49-F238E27FC236}">
                  <a16:creationId xmlns:a16="http://schemas.microsoft.com/office/drawing/2014/main" id="{F8D7636B-1981-AD07-8707-922D20A6DE21}"/>
                </a:ext>
              </a:extLst>
            </p:cNvPr>
            <p:cNvSpPr/>
            <p:nvPr/>
          </p:nvSpPr>
          <p:spPr>
            <a:xfrm>
              <a:off x="698782" y="3650471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CB8E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19" name="자유형 288">
              <a:extLst>
                <a:ext uri="{FF2B5EF4-FFF2-40B4-BE49-F238E27FC236}">
                  <a16:creationId xmlns:a16="http://schemas.microsoft.com/office/drawing/2014/main" id="{A5DFB913-F09B-0268-AA6D-CD4F79CB5DD9}"/>
                </a:ext>
              </a:extLst>
            </p:cNvPr>
            <p:cNvSpPr/>
            <p:nvPr/>
          </p:nvSpPr>
          <p:spPr>
            <a:xfrm flipH="1">
              <a:off x="698782" y="3744469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066AC">
                <a:alpha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77699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69FBF6C5-AE22-1515-037B-EAACCD36DBC8}"/>
              </a:ext>
            </a:extLst>
          </p:cNvPr>
          <p:cNvSpPr/>
          <p:nvPr userDrawn="1"/>
        </p:nvSpPr>
        <p:spPr>
          <a:xfrm>
            <a:off x="0" y="996493"/>
            <a:ext cx="9906000" cy="232977"/>
          </a:xfrm>
          <a:prstGeom prst="rect">
            <a:avLst/>
          </a:prstGeom>
          <a:solidFill>
            <a:srgbClr val="EC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35BE079-059E-272A-95D5-DCCC72603EB3}"/>
              </a:ext>
            </a:extLst>
          </p:cNvPr>
          <p:cNvSpPr/>
          <p:nvPr userDrawn="1"/>
        </p:nvSpPr>
        <p:spPr>
          <a:xfrm>
            <a:off x="0" y="1233769"/>
            <a:ext cx="9900000" cy="90000"/>
          </a:xfrm>
          <a:prstGeom prst="rect">
            <a:avLst/>
          </a:prstGeom>
          <a:solidFill>
            <a:srgbClr val="4F81BD">
              <a:alpha val="3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rgbClr val="C00000"/>
                </a:solidFill>
                <a:latin typeface="+mn-ea"/>
                <a:ea typeface="+mn-ea"/>
              </a:rPr>
              <a:t>간격 띄우기</a:t>
            </a:r>
          </a:p>
        </p:txBody>
      </p:sp>
      <p:sp>
        <p:nvSpPr>
          <p:cNvPr id="15" name="Rectangle 250">
            <a:extLst>
              <a:ext uri="{FF2B5EF4-FFF2-40B4-BE49-F238E27FC236}">
                <a16:creationId xmlns:a16="http://schemas.microsoft.com/office/drawing/2014/main" id="{D3AA96CD-FDC3-7C58-B3D3-9E59012BF2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75563" y="1328068"/>
            <a:ext cx="9360000" cy="5139635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800" b="1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24" name="텍스트 개체 틀 4">
            <a:extLst>
              <a:ext uri="{FF2B5EF4-FFF2-40B4-BE49-F238E27FC236}">
                <a16:creationId xmlns:a16="http://schemas.microsoft.com/office/drawing/2014/main" id="{011EFD4E-FC18-40ED-51BF-44718A75AF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11139" y="468868"/>
            <a:ext cx="540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>
              <a:buFontTx/>
              <a:buNone/>
              <a:defRPr kumimoji="1" lang="ko-Kore-KR" altLang="en-US" sz="1800" b="0" i="0" u="none" strike="noStrike" kern="1200" cap="none" spc="-50" normalizeH="0" baseline="0" dirty="0">
                <a:ln>
                  <a:noFill/>
                </a:ln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342880" marR="0" lvl="0" indent="-342880" algn="l" defTabSz="914347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dirty="0"/>
              <a:t>1.1.1.1.1 </a:t>
            </a:r>
            <a:r>
              <a:rPr kumimoji="1" lang="ko-KR" altLang="en-US" dirty="0"/>
              <a:t>마지막 제목</a:t>
            </a:r>
            <a:endParaRPr kumimoji="1" lang="ko-Kore-KR" altLang="en-US" dirty="0"/>
          </a:p>
        </p:txBody>
      </p:sp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E697468-7B37-E774-5330-EE2827580E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11139" y="145620"/>
            <a:ext cx="5400000" cy="217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buFontTx/>
              <a:buNone/>
              <a:defRPr kumimoji="1" lang="ko-Kore-KR" altLang="en-US" sz="900" b="0" spc="-5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defRPr>
            </a:lvl1pPr>
          </a:lstStyle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ko-KR" dirty="0"/>
              <a:t>1.1 </a:t>
            </a:r>
            <a:r>
              <a:rPr kumimoji="1" lang="ko-KR" altLang="en-US" dirty="0"/>
              <a:t>둘째 제목 </a:t>
            </a:r>
            <a:r>
              <a:rPr kumimoji="1" lang="en-US" altLang="ko-KR" dirty="0"/>
              <a:t>&gt; 1.1.1 </a:t>
            </a:r>
            <a:r>
              <a:rPr kumimoji="1" lang="ko-KR" altLang="en-US" dirty="0"/>
              <a:t>셋째 제목 </a:t>
            </a:r>
            <a:r>
              <a:rPr kumimoji="1" lang="en-US" altLang="ko-KR" dirty="0"/>
              <a:t>&gt; 1.1.1.1 </a:t>
            </a:r>
            <a:r>
              <a:rPr kumimoji="1" lang="ko-KR" altLang="en-US" dirty="0"/>
              <a:t>넷째 제목</a:t>
            </a:r>
            <a:endParaRPr kumimoji="1" lang="ko-Kore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9B9904-70CE-7195-11F0-BEC0F5CAF3E2}"/>
              </a:ext>
            </a:extLst>
          </p:cNvPr>
          <p:cNvSpPr txBox="1"/>
          <p:nvPr userDrawn="1"/>
        </p:nvSpPr>
        <p:spPr>
          <a:xfrm>
            <a:off x="4692522" y="6551466"/>
            <a:ext cx="5245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000" b="0">
                <a:ln w="3175">
                  <a:solidFill>
                    <a:schemeClr val="tx1">
                      <a:lumMod val="75000"/>
                      <a:lumOff val="25000"/>
                      <a:alpha val="3000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바탕체 Medium" panose="02020603020101020101" pitchFamily="18" charset="-127"/>
                <a:ea typeface="KoPub바탕체 Medium" panose="02020603020101020101" pitchFamily="18" charset="-127"/>
              </a:defRPr>
            </a:lvl1pPr>
          </a:lstStyle>
          <a:p>
            <a:pPr lvl="0"/>
            <a:r>
              <a:rPr lang="en-US" altLang="ko-KR" dirty="0"/>
              <a:t>Ⅵ-</a:t>
            </a:r>
            <a:fld id="{E36F03CF-389E-4D93-9FB1-49222009B45F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4" name="텍스트 개체 틀 215">
            <a:extLst>
              <a:ext uri="{FF2B5EF4-FFF2-40B4-BE49-F238E27FC236}">
                <a16:creationId xmlns:a16="http://schemas.microsoft.com/office/drawing/2014/main" id="{E8A3E4DD-BD8C-615E-0B03-34819B3BC828}"/>
              </a:ext>
            </a:extLst>
          </p:cNvPr>
          <p:cNvSpPr txBox="1">
            <a:spLocks/>
          </p:cNvSpPr>
          <p:nvPr userDrawn="1"/>
        </p:nvSpPr>
        <p:spPr>
          <a:xfrm>
            <a:off x="361263" y="549230"/>
            <a:ext cx="641917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Chapter</a:t>
            </a:r>
            <a:r>
              <a:rPr kumimoji="1" lang="en-US" altLang="ko-KR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Ⅵ</a:t>
            </a:r>
            <a:r>
              <a:rPr kumimoji="1" lang="en-US" altLang="en-US" sz="1050" b="0" kern="1200" spc="-50" baseline="0" noProof="0" dirty="0">
                <a:solidFill>
                  <a:srgbClr val="0078B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anose="020B0604020202020204" pitchFamily="34" charset="0"/>
              </a:rPr>
              <a:t>.</a:t>
            </a:r>
            <a:endParaRPr kumimoji="1" lang="ko-Kore-KR" altLang="en-US" sz="1050" b="0" kern="1200" spc="-50" baseline="0" noProof="0" dirty="0">
              <a:solidFill>
                <a:srgbClr val="0078B9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텍스트 개체 틀 215">
            <a:extLst>
              <a:ext uri="{FF2B5EF4-FFF2-40B4-BE49-F238E27FC236}">
                <a16:creationId xmlns:a16="http://schemas.microsoft.com/office/drawing/2014/main" id="{7245F701-5218-CF79-63F2-1FEDAB6446BD}"/>
              </a:ext>
            </a:extLst>
          </p:cNvPr>
          <p:cNvSpPr txBox="1">
            <a:spLocks/>
          </p:cNvSpPr>
          <p:nvPr userDrawn="1"/>
        </p:nvSpPr>
        <p:spPr>
          <a:xfrm>
            <a:off x="982703" y="549230"/>
            <a:ext cx="1041409" cy="214248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47" rtl="0" eaLnBrk="1" fontAlgn="base" latin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kern="1200" spc="-50" baseline="0" noProof="0" dirty="0">
                <a:gradFill>
                  <a:gsLst>
                    <a:gs pos="0">
                      <a:srgbClr val="5F5E5E"/>
                    </a:gs>
                    <a:gs pos="100000">
                      <a:srgbClr val="5F5E5E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rPr>
              <a:t>기타부문</a:t>
            </a:r>
          </a:p>
        </p:txBody>
      </p:sp>
      <p:sp>
        <p:nvSpPr>
          <p:cNvPr id="9" name="텍스트 개체 틀 4">
            <a:extLst>
              <a:ext uri="{FF2B5EF4-FFF2-40B4-BE49-F238E27FC236}">
                <a16:creationId xmlns:a16="http://schemas.microsoft.com/office/drawing/2014/main" id="{644A6A00-CFB7-B185-D331-334E1417E90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381" y="1021967"/>
            <a:ext cx="9041457" cy="184666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>
            <a:lvl1pPr marL="0" indent="0">
              <a:buNone/>
              <a:defRPr kumimoji="1" lang="ko-Kore-KR" altLang="en-US" sz="1200" b="0" i="0" u="none" strike="noStrike" kern="0" cap="none" spc="-50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KoPub돋움체 Bold" panose="02020603020101020101" pitchFamily="18" charset="-127"/>
              </a:defRPr>
            </a:lvl1pPr>
          </a:lstStyle>
          <a:p>
            <a:pPr marL="228600" marR="0" lvl="0" indent="-228600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kumimoji="1" lang="ko-KR" altLang="en-US" dirty="0"/>
              <a:t>소제목을 입력해주세요</a:t>
            </a:r>
            <a:endParaRPr kumimoji="1" lang="ko-Kore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CAC2E0A-801E-163A-2B09-606B69E5DCF3}"/>
              </a:ext>
            </a:extLst>
          </p:cNvPr>
          <p:cNvGrpSpPr/>
          <p:nvPr userDrawn="1"/>
        </p:nvGrpSpPr>
        <p:grpSpPr>
          <a:xfrm>
            <a:off x="324168" y="1022384"/>
            <a:ext cx="130913" cy="186743"/>
            <a:chOff x="698782" y="3650471"/>
            <a:chExt cx="199745" cy="284932"/>
          </a:xfrm>
        </p:grpSpPr>
        <p:sp>
          <p:nvSpPr>
            <p:cNvPr id="11" name="자유형 287">
              <a:extLst>
                <a:ext uri="{FF2B5EF4-FFF2-40B4-BE49-F238E27FC236}">
                  <a16:creationId xmlns:a16="http://schemas.microsoft.com/office/drawing/2014/main" id="{148D5BBB-49BE-2299-D0A4-8785EE2C49E5}"/>
                </a:ext>
              </a:extLst>
            </p:cNvPr>
            <p:cNvSpPr/>
            <p:nvPr/>
          </p:nvSpPr>
          <p:spPr>
            <a:xfrm>
              <a:off x="698782" y="3650471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CB8EE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12" name="자유형 288">
              <a:extLst>
                <a:ext uri="{FF2B5EF4-FFF2-40B4-BE49-F238E27FC236}">
                  <a16:creationId xmlns:a16="http://schemas.microsoft.com/office/drawing/2014/main" id="{F6E22553-BCEE-3987-9C3F-D6DE83BD76F5}"/>
                </a:ext>
              </a:extLst>
            </p:cNvPr>
            <p:cNvSpPr/>
            <p:nvPr/>
          </p:nvSpPr>
          <p:spPr>
            <a:xfrm flipH="1">
              <a:off x="698782" y="3744469"/>
              <a:ext cx="199745" cy="190934"/>
            </a:xfrm>
            <a:custGeom>
              <a:avLst/>
              <a:gdLst>
                <a:gd name="connsiteX0" fmla="*/ 2381 w 161925"/>
                <a:gd name="connsiteY0" fmla="*/ 0 h 154781"/>
                <a:gd name="connsiteX1" fmla="*/ 161925 w 161925"/>
                <a:gd name="connsiteY1" fmla="*/ 73819 h 154781"/>
                <a:gd name="connsiteX2" fmla="*/ 161925 w 161925"/>
                <a:gd name="connsiteY2" fmla="*/ 154781 h 154781"/>
                <a:gd name="connsiteX3" fmla="*/ 0 w 161925"/>
                <a:gd name="connsiteY3" fmla="*/ 85725 h 154781"/>
                <a:gd name="connsiteX4" fmla="*/ 2381 w 161925"/>
                <a:gd name="connsiteY4" fmla="*/ 0 h 154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1925" h="154781">
                  <a:moveTo>
                    <a:pt x="2381" y="0"/>
                  </a:moveTo>
                  <a:lnTo>
                    <a:pt x="161925" y="73819"/>
                  </a:lnTo>
                  <a:lnTo>
                    <a:pt x="161925" y="154781"/>
                  </a:lnTo>
                  <a:lnTo>
                    <a:pt x="0" y="85725"/>
                  </a:lnTo>
                  <a:cubicBezTo>
                    <a:pt x="794" y="57150"/>
                    <a:pt x="1587" y="28575"/>
                    <a:pt x="2381" y="0"/>
                  </a:cubicBezTo>
                  <a:close/>
                </a:path>
              </a:pathLst>
            </a:custGeom>
            <a:solidFill>
              <a:srgbClr val="0066AC">
                <a:alpha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4444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0" b="0" i="0" u="none" strike="noStrike" kern="0" cap="none" spc="0" normalizeH="0" baseline="0" noProof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404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6BB78391-7F5E-2A15-C765-5441358161A2}"/>
              </a:ext>
            </a:extLst>
          </p:cNvPr>
          <p:cNvSpPr/>
          <p:nvPr userDrawn="1"/>
        </p:nvSpPr>
        <p:spPr>
          <a:xfrm>
            <a:off x="2337569" y="1"/>
            <a:ext cx="7568431" cy="83983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470065-7D4C-F689-2471-AA327E07AC9F}"/>
              </a:ext>
            </a:extLst>
          </p:cNvPr>
          <p:cNvSpPr/>
          <p:nvPr userDrawn="1"/>
        </p:nvSpPr>
        <p:spPr>
          <a:xfrm flipV="1">
            <a:off x="1" y="2"/>
            <a:ext cx="170953" cy="841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8D4FC90-B165-2B2E-6F8B-1D6293D2E829}"/>
              </a:ext>
            </a:extLst>
          </p:cNvPr>
          <p:cNvCxnSpPr>
            <a:cxnSpLocks/>
          </p:cNvCxnSpPr>
          <p:nvPr userDrawn="1"/>
        </p:nvCxnSpPr>
        <p:spPr>
          <a:xfrm>
            <a:off x="2337569" y="2"/>
            <a:ext cx="0" cy="841571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텍스트 개체 틀 215">
            <a:extLst>
              <a:ext uri="{FF2B5EF4-FFF2-40B4-BE49-F238E27FC236}">
                <a16:creationId xmlns:a16="http://schemas.microsoft.com/office/drawing/2014/main" id="{B9F758D9-CE43-01FD-F39F-3A2858793593}"/>
              </a:ext>
            </a:extLst>
          </p:cNvPr>
          <p:cNvSpPr txBox="1">
            <a:spLocks/>
          </p:cNvSpPr>
          <p:nvPr userDrawn="1"/>
        </p:nvSpPr>
        <p:spPr>
          <a:xfrm>
            <a:off x="272482" y="131980"/>
            <a:ext cx="1957285" cy="261018"/>
          </a:xfrm>
          <a:prstGeom prst="rect">
            <a:avLst/>
          </a:prstGeom>
          <a:noFill/>
        </p:spPr>
        <p:txBody>
          <a:bodyPr lIns="0" tIns="0" rIns="0" bIns="0" anchor="t"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 latinLnBrk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ko-KR" altLang="en-US" sz="800" spc="-3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아산병원 통합 데이터 플랫폼 구축</a:t>
            </a:r>
            <a:endParaRPr lang="en-US" altLang="ko-KR" sz="800" spc="-30" baseline="0" dirty="0">
              <a:solidFill>
                <a:schemeClr val="tx1">
                  <a:lumMod val="65000"/>
                  <a:lumOff val="3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2" name="Picture 2" descr="C:\Users\mrpark\Desktop\한국폴리텍대학 제안서_20150721\png\2.png">
            <a:extLst>
              <a:ext uri="{FF2B5EF4-FFF2-40B4-BE49-F238E27FC236}">
                <a16:creationId xmlns:a16="http://schemas.microsoft.com/office/drawing/2014/main" id="{33A34299-3227-8DAB-AB94-9FC0BBD15F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/>
          <a:srcRect l="4396" t="91936" r="12975" b="2737"/>
          <a:stretch>
            <a:fillRect/>
          </a:stretch>
        </p:blipFill>
        <p:spPr bwMode="auto">
          <a:xfrm>
            <a:off x="8693985" y="6538432"/>
            <a:ext cx="952030" cy="2177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그룹 70">
            <a:extLst>
              <a:ext uri="{FF2B5EF4-FFF2-40B4-BE49-F238E27FC236}">
                <a16:creationId xmlns:a16="http://schemas.microsoft.com/office/drawing/2014/main" id="{857C4358-94B3-0B48-9752-DF546B70A2FA}"/>
              </a:ext>
            </a:extLst>
          </p:cNvPr>
          <p:cNvGrpSpPr/>
          <p:nvPr userDrawn="1"/>
        </p:nvGrpSpPr>
        <p:grpSpPr>
          <a:xfrm>
            <a:off x="9906000" y="-47625"/>
            <a:ext cx="1143983" cy="6905625"/>
            <a:chOff x="9906000" y="-228600"/>
            <a:chExt cx="1219199" cy="7359665"/>
          </a:xfrm>
        </p:grpSpPr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87EEABE2-36F6-246A-71F2-459B01879A44}"/>
                </a:ext>
              </a:extLst>
            </p:cNvPr>
            <p:cNvGrpSpPr/>
            <p:nvPr userDrawn="1"/>
          </p:nvGrpSpPr>
          <p:grpSpPr>
            <a:xfrm>
              <a:off x="9997566" y="110323"/>
              <a:ext cx="396000" cy="1972127"/>
              <a:chOff x="7149591" y="643723"/>
              <a:chExt cx="396000" cy="1972127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57C3934-1F08-68FD-85CC-C4724A41BB75}"/>
                  </a:ext>
                </a:extLst>
              </p:cNvPr>
              <p:cNvSpPr txBox="1"/>
              <p:nvPr/>
            </p:nvSpPr>
            <p:spPr>
              <a:xfrm>
                <a:off x="7149591" y="1039873"/>
                <a:ext cx="396000" cy="394779"/>
              </a:xfrm>
              <a:prstGeom prst="rect">
                <a:avLst/>
              </a:prstGeom>
              <a:solidFill>
                <a:srgbClr val="BCBCBC"/>
              </a:solidFill>
              <a:effectLst/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ko-KR"/>
                </a:defPPr>
                <a:lvl2pPr marL="0" lvl="1" algn="ctr" defTabSz="1042973">
                  <a:defRPr sz="1600" b="1">
                    <a:ln w="635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defRPr>
                </a:lvl2pPr>
              </a:lstStyle>
              <a:p>
                <a:pPr lvl="1" defTabSz="1067291">
                  <a:buClr>
                    <a:srgbClr val="3271AA"/>
                  </a:buClr>
                  <a:buSzPct val="140000"/>
                  <a:tabLst>
                    <a:tab pos="814786" algn="l"/>
                  </a:tabLst>
                </a:pPr>
                <a:r>
                  <a:rPr lang="en-US" altLang="ko-KR" sz="1000" b="0" dirty="0">
                    <a:ln w="6350"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  <a:ea typeface="+mn-ea"/>
                    <a:cs typeface="KoPubWorld돋움체 Light" panose="00000300000000000000" pitchFamily="2" charset="-127"/>
                    <a:sym typeface="KoPub돋움체 Medium"/>
                  </a:rPr>
                  <a:t>text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319B27F-8930-7849-9059-549144E9D75C}"/>
                  </a:ext>
                </a:extLst>
              </p:cNvPr>
              <p:cNvSpPr txBox="1"/>
              <p:nvPr/>
            </p:nvSpPr>
            <p:spPr>
              <a:xfrm>
                <a:off x="7149591" y="643723"/>
                <a:ext cx="396000" cy="39477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/>
              <a:lstStyle>
                <a:defPPr>
                  <a:defRPr lang="ko-KR"/>
                </a:defPPr>
                <a:lvl2pPr marL="0" lvl="1" algn="ctr" defTabSz="1042973">
                  <a:defRPr sz="1600" b="1">
                    <a:ln w="635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defRPr>
                </a:lvl2pPr>
              </a:lstStyle>
              <a:p>
                <a:pPr lvl="1"/>
                <a:r>
                  <a:rPr lang="en-US" altLang="ko-KR" sz="1000" b="0" dirty="0">
                    <a:ln w="6350"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+mn-ea"/>
                    <a:ea typeface="+mn-ea"/>
                    <a:cs typeface="KoPubWorld돋움체 Light" panose="00000300000000000000" pitchFamily="2" charset="-127"/>
                    <a:sym typeface="KoPub돋움체 Medium"/>
                  </a:rPr>
                  <a:t>text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E92F1F-8498-0FB6-273A-40E3E396043A}"/>
                  </a:ext>
                </a:extLst>
              </p:cNvPr>
              <p:cNvSpPr txBox="1"/>
              <p:nvPr/>
            </p:nvSpPr>
            <p:spPr>
              <a:xfrm>
                <a:off x="7160704" y="2237850"/>
                <a:ext cx="378000" cy="37800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6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>
                <a:defPPr>
                  <a:defRPr lang="ko-KR"/>
                </a:defPPr>
                <a:lvl1pPr defTabSz="1090422">
                  <a:defRPr sz="2100">
                    <a:solidFill>
                      <a:schemeClr val="lt1"/>
                    </a:solidFill>
                  </a:defRPr>
                </a:lvl1pPr>
                <a:lvl2pPr marL="0" lvl="1" algn="ctr" defTabSz="1067426">
                  <a:lnSpc>
                    <a:spcPct val="90000"/>
                  </a:lnSpc>
                  <a:buClr>
                    <a:srgbClr val="3271AA"/>
                  </a:buClr>
                  <a:buSzPct val="140000"/>
                  <a:tabLst>
                    <a:tab pos="814888" algn="l"/>
                  </a:tabLst>
                  <a:defRPr sz="1200">
                    <a:ln>
                      <a:solidFill>
                        <a:srgbClr val="5AB5F1">
                          <a:alpha val="0"/>
                        </a:srgbClr>
                      </a:solidFill>
                    </a:ln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oPub돋움체 Medium" pitchFamily="18" charset="-127"/>
                    <a:ea typeface="KoPub돋움체 Medium" pitchFamily="18" charset="-127"/>
                  </a:defRPr>
                </a:lvl2pPr>
                <a:lvl3pPr marL="1090422" defTabSz="1090422">
                  <a:defRPr sz="2100">
                    <a:solidFill>
                      <a:schemeClr val="lt1"/>
                    </a:solidFill>
                  </a:defRPr>
                </a:lvl3pPr>
                <a:lvl4pPr marL="1635633" defTabSz="1090422">
                  <a:defRPr sz="2100">
                    <a:solidFill>
                      <a:schemeClr val="lt1"/>
                    </a:solidFill>
                  </a:defRPr>
                </a:lvl4pPr>
                <a:lvl5pPr marL="2180844" defTabSz="1090422">
                  <a:defRPr sz="2100">
                    <a:solidFill>
                      <a:schemeClr val="lt1"/>
                    </a:solidFill>
                  </a:defRPr>
                </a:lvl5pPr>
                <a:lvl6pPr marL="2726055" defTabSz="1090422">
                  <a:defRPr sz="2100">
                    <a:solidFill>
                      <a:schemeClr val="lt1"/>
                    </a:solidFill>
                  </a:defRPr>
                </a:lvl6pPr>
                <a:lvl7pPr marL="3271266" defTabSz="1090422">
                  <a:defRPr sz="2100">
                    <a:solidFill>
                      <a:schemeClr val="lt1"/>
                    </a:solidFill>
                  </a:defRPr>
                </a:lvl7pPr>
                <a:lvl8pPr marL="3816477" defTabSz="1090422">
                  <a:defRPr sz="2100">
                    <a:solidFill>
                      <a:schemeClr val="lt1"/>
                    </a:solidFill>
                  </a:defRPr>
                </a:lvl8pPr>
                <a:lvl9pPr marL="4361688" defTabSz="1090422">
                  <a:defRPr sz="2100">
                    <a:solidFill>
                      <a:schemeClr val="lt1"/>
                    </a:solidFill>
                  </a:defRPr>
                </a:lvl9pPr>
              </a:lstStyle>
              <a:p>
                <a:pPr lvl="1">
                  <a:lnSpc>
                    <a:spcPct val="100000"/>
                  </a:lnSpc>
                  <a:defRPr/>
                </a:pPr>
                <a:r>
                  <a:rPr lang="en-US" altLang="ko-KR" sz="1000" dirty="0">
                    <a:ln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  <a:cs typeface="KoPubWorld돋움체 Light" panose="00000300000000000000" pitchFamily="2" charset="-127"/>
                    <a:sym typeface="KoPub돋움체 Medium"/>
                  </a:rPr>
                  <a:t>text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10EDE6-7612-501B-BE48-F27B090286EB}"/>
                  </a:ext>
                </a:extLst>
              </p:cNvPr>
              <p:cNvSpPr txBox="1"/>
              <p:nvPr/>
            </p:nvSpPr>
            <p:spPr>
              <a:xfrm>
                <a:off x="7149591" y="1436023"/>
                <a:ext cx="396000" cy="394779"/>
              </a:xfrm>
              <a:prstGeom prst="rect">
                <a:avLst/>
              </a:prstGeom>
              <a:solidFill>
                <a:srgbClr val="D2D2D2"/>
              </a:solidFill>
              <a:effectLst/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ko-KR"/>
                </a:defPPr>
                <a:lvl2pPr marL="0" lvl="1" algn="ctr" defTabSz="1042973">
                  <a:defRPr sz="1600" b="1">
                    <a:ln w="635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defRPr>
                </a:lvl2pPr>
              </a:lstStyle>
              <a:p>
                <a:pPr lvl="1" defTabSz="1067291">
                  <a:buClr>
                    <a:srgbClr val="3271AA"/>
                  </a:buClr>
                  <a:buSzPct val="140000"/>
                  <a:tabLst>
                    <a:tab pos="814786" algn="l"/>
                  </a:tabLst>
                </a:pPr>
                <a:r>
                  <a:rPr lang="en-US" altLang="ko-KR" sz="1000" b="0" dirty="0">
                    <a:ln w="6350"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  <a:cs typeface="KoPubWorld돋움체 Light" panose="00000300000000000000" pitchFamily="2" charset="-127"/>
                    <a:sym typeface="KoPub돋움체 Medium"/>
                  </a:rPr>
                  <a:t>text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700FC72-BD84-1AAA-25EA-F78D90D4EF17}"/>
                  </a:ext>
                </a:extLst>
              </p:cNvPr>
              <p:cNvSpPr txBox="1"/>
              <p:nvPr/>
            </p:nvSpPr>
            <p:spPr>
              <a:xfrm>
                <a:off x="7149591" y="1832173"/>
                <a:ext cx="396000" cy="394779"/>
              </a:xfrm>
              <a:prstGeom prst="rect">
                <a:avLst/>
              </a:prstGeom>
              <a:solidFill>
                <a:srgbClr val="E9E9E9"/>
              </a:solidFill>
              <a:effectLst/>
            </p:spPr>
            <p:txBody>
              <a:bodyPr wrap="square" lIns="0" tIns="0" rIns="0" bIns="0" rtlCol="0" anchor="ctr">
                <a:noAutofit/>
              </a:bodyPr>
              <a:lstStyle>
                <a:defPPr>
                  <a:defRPr lang="ko-KR"/>
                </a:defPPr>
                <a:lvl2pPr marL="0" lvl="1" algn="ctr" defTabSz="1042973">
                  <a:defRPr sz="1600" b="1">
                    <a:ln w="6350"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defRPr>
                </a:lvl2pPr>
              </a:lstStyle>
              <a:p>
                <a:pPr lvl="1" defTabSz="1067291">
                  <a:buClr>
                    <a:srgbClr val="3271AA"/>
                  </a:buClr>
                  <a:buSzPct val="140000"/>
                  <a:tabLst>
                    <a:tab pos="814786" algn="l"/>
                  </a:tabLst>
                </a:pPr>
                <a:r>
                  <a:rPr lang="en-US" altLang="ko-KR" sz="1000" b="0" dirty="0">
                    <a:ln w="6350">
                      <a:solidFill>
                        <a:schemeClr val="tx1">
                          <a:alpha val="0"/>
                        </a:schemeClr>
                      </a:solidFill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+mn-ea"/>
                    <a:ea typeface="+mn-ea"/>
                    <a:cs typeface="KoPubWorld돋움체 Light" panose="00000300000000000000" pitchFamily="2" charset="-127"/>
                    <a:sym typeface="KoPub돋움체 Medium"/>
                  </a:rPr>
                  <a:t>text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A7E4685-B026-51A3-A1BB-12C91896BEF7}"/>
                </a:ext>
              </a:extLst>
            </p:cNvPr>
            <p:cNvSpPr txBox="1"/>
            <p:nvPr userDrawn="1"/>
          </p:nvSpPr>
          <p:spPr>
            <a:xfrm>
              <a:off x="9997566" y="3406538"/>
              <a:ext cx="396000" cy="394779"/>
            </a:xfrm>
            <a:prstGeom prst="rect">
              <a:avLst/>
            </a:prstGeom>
            <a:solidFill>
              <a:srgbClr val="66BBF4"/>
            </a:solidFill>
          </p:spPr>
          <p:txBody>
            <a:bodyPr wrap="square" lIns="0" tIns="0" rIns="0" bIns="0" rtlCol="0" anchor="ctr">
              <a:no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934817" fontAlgn="auto">
                <a:spcBef>
                  <a:spcPts val="0"/>
                </a:spcBef>
                <a:spcAft>
                  <a:spcPts val="0"/>
                </a:spcAft>
                <a:tabLst>
                  <a:tab pos="2574921" algn="l"/>
                </a:tabLst>
                <a:defRPr kumimoji="1" sz="2200" spc="-224">
                  <a:solidFill>
                    <a:schemeClr val="bg1">
                      <a:lumMod val="95000"/>
                    </a:schemeClr>
                  </a:solidFill>
                  <a:latin typeface="다음_SemiBold" panose="02000700060000000000" pitchFamily="2" charset="-127"/>
                  <a:ea typeface="다음_SemiBold" panose="02000700060000000000" pitchFamily="2" charset="-127"/>
                </a:defRPr>
              </a:lvl1pPr>
              <a:lvl2pPr marL="0" lvl="1" algn="ctr" defTabSz="1042880" fontAlgn="auto">
                <a:spcBef>
                  <a:spcPts val="0"/>
                </a:spcBef>
                <a:spcAft>
                  <a:spcPts val="0"/>
                </a:spcAft>
                <a:defRPr kumimoji="0" sz="1200" b="0">
                  <a:ln w="6350"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  <a:lvl3pPr marL="9144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3pPr>
              <a:lvl4pPr marL="13716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4pPr>
              <a:lvl5pPr marL="18288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5pPr>
              <a:lvl6pPr marL="2286000" defTabSz="914400">
                <a:defRPr kumimoji="1">
                  <a:latin typeface="KoPub돋움체 Medium" pitchFamily="50" charset="-127"/>
                  <a:ea typeface="굴림" charset="-127"/>
                </a:defRPr>
              </a:lvl6pPr>
              <a:lvl7pPr marL="2743200" defTabSz="914400">
                <a:defRPr kumimoji="1">
                  <a:latin typeface="KoPub돋움체 Medium" pitchFamily="50" charset="-127"/>
                  <a:ea typeface="굴림" charset="-127"/>
                </a:defRPr>
              </a:lvl7pPr>
              <a:lvl8pPr marL="3200400" defTabSz="914400">
                <a:defRPr kumimoji="1">
                  <a:latin typeface="KoPub돋움체 Medium" pitchFamily="50" charset="-127"/>
                  <a:ea typeface="굴림" charset="-127"/>
                </a:defRPr>
              </a:lvl8pPr>
              <a:lvl9pPr marL="3657600" defTabSz="914400">
                <a:defRPr kumimoji="1">
                  <a:latin typeface="KoPub돋움체 Medium" pitchFamily="50" charset="-127"/>
                  <a:ea typeface="굴림" charset="-127"/>
                </a:defRPr>
              </a:lvl9pPr>
            </a:lstStyle>
            <a:p>
              <a:pPr lvl="1"/>
              <a:r>
                <a:rPr lang="en-US" altLang="ko-KR" sz="1000" dirty="0">
                  <a:solidFill>
                    <a:schemeClr val="bg1"/>
                  </a:solidFill>
                  <a:latin typeface="+mn-ea"/>
                  <a:ea typeface="+mn-ea"/>
                  <a:cs typeface="KoPubWorld돋움체 Light" panose="00000300000000000000" pitchFamily="2" charset="-127"/>
                  <a:sym typeface="KoPub돋움체 Medium"/>
                </a:rPr>
                <a:t>text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6FD8E2D-45FB-248A-C69C-B64E84113968}"/>
                </a:ext>
              </a:extLst>
            </p:cNvPr>
            <p:cNvSpPr txBox="1"/>
            <p:nvPr userDrawn="1"/>
          </p:nvSpPr>
          <p:spPr>
            <a:xfrm>
              <a:off x="10003915" y="4602928"/>
              <a:ext cx="378000" cy="3780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8DE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contourClr>
                  <a:schemeClr val="tx1">
                    <a:lumMod val="65000"/>
                    <a:lumOff val="35000"/>
                  </a:schemeClr>
                </a:contourClr>
              </a:sp3d>
            </a:bodyPr>
            <a:lstStyle>
              <a:defPPr>
                <a:defRPr lang="ko-KR"/>
              </a:defPPr>
              <a:lvl1pPr algn="ctr" defTabSz="1090422">
                <a:defRPr sz="1600">
                  <a:ln>
                    <a:solidFill>
                      <a:srgbClr val="008DEC">
                        <a:alpha val="0"/>
                      </a:srgb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Medium" pitchFamily="18" charset="-127"/>
                  <a:ea typeface="KoPub돋움체 Medium" pitchFamily="18" charset="-127"/>
                </a:defRPr>
              </a:lvl1pPr>
              <a:lvl2pPr marL="0" lvl="1" algn="ctr" defTabSz="1067426">
                <a:buClr>
                  <a:srgbClr val="3271AA"/>
                </a:buClr>
                <a:buSzPct val="140000"/>
                <a:tabLst>
                  <a:tab pos="814888" algn="l"/>
                </a:tabLst>
                <a:defRPr sz="1200">
                  <a:ln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  <a:lvl3pPr marL="1090422" defTabSz="1090422">
                <a:defRPr sz="2100"/>
              </a:lvl3pPr>
              <a:lvl4pPr marL="1635633" defTabSz="1090422">
                <a:defRPr sz="2100"/>
              </a:lvl4pPr>
              <a:lvl5pPr marL="2180844" defTabSz="1090422">
                <a:defRPr sz="2100"/>
              </a:lvl5pPr>
              <a:lvl6pPr marL="2726055" defTabSz="1090422">
                <a:defRPr sz="2100"/>
              </a:lvl6pPr>
              <a:lvl7pPr marL="3271266" defTabSz="1090422">
                <a:defRPr sz="2100"/>
              </a:lvl7pPr>
              <a:lvl8pPr marL="3816477" defTabSz="1090422">
                <a:defRPr sz="2100"/>
              </a:lvl8pPr>
              <a:lvl9pPr marL="4361688" defTabSz="1090422">
                <a:defRPr sz="2100"/>
              </a:lvl9pPr>
            </a:lstStyle>
            <a:p>
              <a:pPr lvl="1"/>
              <a:r>
                <a:rPr lang="en-US" altLang="ko-KR" sz="1000" dirty="0">
                  <a:latin typeface="+mn-ea"/>
                  <a:ea typeface="+mn-ea"/>
                  <a:cs typeface="KoPubWorld돋움체 Light" panose="00000300000000000000" pitchFamily="2" charset="-127"/>
                  <a:sym typeface="KoPub돋움체 Medium"/>
                </a:rPr>
                <a:t>text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7B804EC-CE00-8F3F-A2D3-3B53553B9206}"/>
                </a:ext>
              </a:extLst>
            </p:cNvPr>
            <p:cNvSpPr txBox="1"/>
            <p:nvPr userDrawn="1"/>
          </p:nvSpPr>
          <p:spPr>
            <a:xfrm>
              <a:off x="9997566" y="3019913"/>
              <a:ext cx="396000" cy="394779"/>
            </a:xfrm>
            <a:prstGeom prst="rect">
              <a:avLst/>
            </a:prstGeom>
            <a:solidFill>
              <a:srgbClr val="008DEC"/>
            </a:solidFill>
          </p:spPr>
          <p:txBody>
            <a:bodyPr wrap="square" lIns="0" tIns="0" rIns="0" bIns="0" rtlCol="0" anchor="ctr">
              <a:no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934817" fontAlgn="auto">
                <a:spcBef>
                  <a:spcPts val="0"/>
                </a:spcBef>
                <a:spcAft>
                  <a:spcPts val="0"/>
                </a:spcAft>
                <a:tabLst>
                  <a:tab pos="2574921" algn="l"/>
                </a:tabLst>
                <a:defRPr kumimoji="1" sz="2200" spc="-224">
                  <a:solidFill>
                    <a:schemeClr val="bg1">
                      <a:lumMod val="95000"/>
                    </a:schemeClr>
                  </a:solidFill>
                  <a:latin typeface="다음_SemiBold" panose="02000700060000000000" pitchFamily="2" charset="-127"/>
                  <a:ea typeface="다음_SemiBold" panose="02000700060000000000" pitchFamily="2" charset="-127"/>
                </a:defRPr>
              </a:lvl1pPr>
              <a:lvl2pPr marL="0" lvl="1" algn="ctr" defTabSz="1042880" fontAlgn="auto">
                <a:spcBef>
                  <a:spcPts val="0"/>
                </a:spcBef>
                <a:spcAft>
                  <a:spcPts val="0"/>
                </a:spcAft>
                <a:defRPr kumimoji="0" sz="1200" b="0">
                  <a:ln w="6350"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itchFamily="18" charset="-127"/>
                  <a:ea typeface="KoPub돋움체 Bold" pitchFamily="18" charset="-127"/>
                </a:defRPr>
              </a:lvl2pPr>
              <a:lvl3pPr marL="9144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3pPr>
              <a:lvl4pPr marL="13716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4pPr>
              <a:lvl5pPr marL="18288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5pPr>
              <a:lvl6pPr marL="2286000" defTabSz="914400">
                <a:defRPr kumimoji="1">
                  <a:latin typeface="KoPub돋움체 Medium" pitchFamily="50" charset="-127"/>
                  <a:ea typeface="굴림" charset="-127"/>
                </a:defRPr>
              </a:lvl6pPr>
              <a:lvl7pPr marL="2743200" defTabSz="914400">
                <a:defRPr kumimoji="1">
                  <a:latin typeface="KoPub돋움체 Medium" pitchFamily="50" charset="-127"/>
                  <a:ea typeface="굴림" charset="-127"/>
                </a:defRPr>
              </a:lvl7pPr>
              <a:lvl8pPr marL="3200400" defTabSz="914400">
                <a:defRPr kumimoji="1">
                  <a:latin typeface="KoPub돋움체 Medium" pitchFamily="50" charset="-127"/>
                  <a:ea typeface="굴림" charset="-127"/>
                </a:defRPr>
              </a:lvl8pPr>
              <a:lvl9pPr marL="3657600" defTabSz="914400">
                <a:defRPr kumimoji="1">
                  <a:latin typeface="KoPub돋움체 Medium" pitchFamily="50" charset="-127"/>
                  <a:ea typeface="굴림" charset="-127"/>
                </a:defRPr>
              </a:lvl9pPr>
            </a:lstStyle>
            <a:p>
              <a:pPr lvl="1"/>
              <a:r>
                <a:rPr lang="en-US" altLang="ko-KR" sz="1000" dirty="0">
                  <a:latin typeface="+mn-ea"/>
                  <a:ea typeface="+mn-ea"/>
                  <a:cs typeface="KoPubWorld돋움체 Light" panose="00000300000000000000" pitchFamily="2" charset="-127"/>
                  <a:sym typeface="KoPub돋움체 Medium"/>
                </a:rPr>
                <a:t>text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7DE1308-D68E-C4E2-43F0-BE300DFCDEBC}"/>
                </a:ext>
              </a:extLst>
            </p:cNvPr>
            <p:cNvSpPr txBox="1"/>
            <p:nvPr userDrawn="1"/>
          </p:nvSpPr>
          <p:spPr>
            <a:xfrm>
              <a:off x="9997566" y="3800307"/>
              <a:ext cx="396000" cy="394779"/>
            </a:xfrm>
            <a:prstGeom prst="rect">
              <a:avLst/>
            </a:prstGeom>
            <a:solidFill>
              <a:srgbClr val="A6D7F8"/>
            </a:solidFill>
          </p:spPr>
          <p:txBody>
            <a:bodyPr wrap="square" lIns="0" tIns="0" rIns="0" bIns="0" rtlCol="0" anchor="ctr">
              <a:no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934817" fontAlgn="auto">
                <a:spcBef>
                  <a:spcPts val="0"/>
                </a:spcBef>
                <a:spcAft>
                  <a:spcPts val="0"/>
                </a:spcAft>
                <a:tabLst>
                  <a:tab pos="2574921" algn="l"/>
                </a:tabLst>
                <a:defRPr kumimoji="1" sz="2200" spc="-224">
                  <a:solidFill>
                    <a:schemeClr val="bg1">
                      <a:lumMod val="95000"/>
                    </a:schemeClr>
                  </a:solidFill>
                  <a:latin typeface="다음_SemiBold" panose="02000700060000000000" pitchFamily="2" charset="-127"/>
                  <a:ea typeface="다음_SemiBold" panose="02000700060000000000" pitchFamily="2" charset="-127"/>
                </a:defRPr>
              </a:lvl1pPr>
              <a:lvl2pPr marL="0" lvl="1" algn="ctr" defTabSz="1042880" fontAlgn="auto">
                <a:spcBef>
                  <a:spcPts val="0"/>
                </a:spcBef>
                <a:spcAft>
                  <a:spcPts val="0"/>
                </a:spcAft>
                <a:defRPr kumimoji="0" sz="1200" b="0">
                  <a:ln w="6350"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  <a:lvl3pPr marL="9144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3pPr>
              <a:lvl4pPr marL="13716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4pPr>
              <a:lvl5pPr marL="18288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5pPr>
              <a:lvl6pPr marL="2286000" defTabSz="914400">
                <a:defRPr kumimoji="1">
                  <a:latin typeface="KoPub돋움체 Medium" pitchFamily="50" charset="-127"/>
                  <a:ea typeface="굴림" charset="-127"/>
                </a:defRPr>
              </a:lvl6pPr>
              <a:lvl7pPr marL="2743200" defTabSz="914400">
                <a:defRPr kumimoji="1">
                  <a:latin typeface="KoPub돋움체 Medium" pitchFamily="50" charset="-127"/>
                  <a:ea typeface="굴림" charset="-127"/>
                </a:defRPr>
              </a:lvl7pPr>
              <a:lvl8pPr marL="3200400" defTabSz="914400">
                <a:defRPr kumimoji="1">
                  <a:latin typeface="KoPub돋움체 Medium" pitchFamily="50" charset="-127"/>
                  <a:ea typeface="굴림" charset="-127"/>
                </a:defRPr>
              </a:lvl8pPr>
              <a:lvl9pPr marL="3657600" defTabSz="914400">
                <a:defRPr kumimoji="1">
                  <a:latin typeface="KoPub돋움체 Medium" pitchFamily="50" charset="-127"/>
                  <a:ea typeface="굴림" charset="-127"/>
                </a:defRPr>
              </a:lvl9pPr>
            </a:lstStyle>
            <a:p>
              <a:pPr lvl="1"/>
              <a:r>
                <a:rPr lang="en-US" altLang="ko-KR" sz="1000" dirty="0">
                  <a:latin typeface="+mn-ea"/>
                  <a:ea typeface="+mn-ea"/>
                  <a:cs typeface="KoPubWorld돋움체 Light" panose="00000300000000000000" pitchFamily="2" charset="-127"/>
                  <a:sym typeface="KoPub돋움체 Medium"/>
                </a:rPr>
                <a:t>text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67D5F57-338E-7C86-2961-7987DC154B47}"/>
                </a:ext>
              </a:extLst>
            </p:cNvPr>
            <p:cNvSpPr txBox="1"/>
            <p:nvPr userDrawn="1"/>
          </p:nvSpPr>
          <p:spPr>
            <a:xfrm>
              <a:off x="9997566" y="4196457"/>
              <a:ext cx="396000" cy="394779"/>
            </a:xfrm>
            <a:prstGeom prst="rect">
              <a:avLst/>
            </a:prstGeom>
            <a:solidFill>
              <a:srgbClr val="D9EEFC"/>
            </a:solidFill>
          </p:spPr>
          <p:txBody>
            <a:bodyPr wrap="square" lIns="0" tIns="0" rIns="0" bIns="0" rtlCol="0" anchor="ctr">
              <a:no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934817" fontAlgn="auto">
                <a:spcBef>
                  <a:spcPts val="0"/>
                </a:spcBef>
                <a:spcAft>
                  <a:spcPts val="0"/>
                </a:spcAft>
                <a:tabLst>
                  <a:tab pos="2574921" algn="l"/>
                </a:tabLst>
                <a:defRPr kumimoji="1" sz="2200" spc="-224">
                  <a:solidFill>
                    <a:schemeClr val="bg1">
                      <a:lumMod val="95000"/>
                    </a:schemeClr>
                  </a:solidFill>
                  <a:latin typeface="다음_SemiBold" panose="02000700060000000000" pitchFamily="2" charset="-127"/>
                  <a:ea typeface="다음_SemiBold" panose="02000700060000000000" pitchFamily="2" charset="-127"/>
                </a:defRPr>
              </a:lvl1pPr>
              <a:lvl2pPr marL="0" lvl="1" algn="ctr" defTabSz="1042880" fontAlgn="auto">
                <a:spcBef>
                  <a:spcPts val="0"/>
                </a:spcBef>
                <a:spcAft>
                  <a:spcPts val="0"/>
                </a:spcAft>
                <a:defRPr kumimoji="0" sz="1200" b="0">
                  <a:ln w="6350"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  <a:lvl3pPr marL="9144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3pPr>
              <a:lvl4pPr marL="13716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4pPr>
              <a:lvl5pPr marL="18288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5pPr>
              <a:lvl6pPr marL="2286000" defTabSz="914400">
                <a:defRPr kumimoji="1">
                  <a:latin typeface="KoPub돋움체 Medium" pitchFamily="50" charset="-127"/>
                  <a:ea typeface="굴림" charset="-127"/>
                </a:defRPr>
              </a:lvl6pPr>
              <a:lvl7pPr marL="2743200" defTabSz="914400">
                <a:defRPr kumimoji="1">
                  <a:latin typeface="KoPub돋움체 Medium" pitchFamily="50" charset="-127"/>
                  <a:ea typeface="굴림" charset="-127"/>
                </a:defRPr>
              </a:lvl7pPr>
              <a:lvl8pPr marL="3200400" defTabSz="914400">
                <a:defRPr kumimoji="1">
                  <a:latin typeface="KoPub돋움체 Medium" pitchFamily="50" charset="-127"/>
                  <a:ea typeface="굴림" charset="-127"/>
                </a:defRPr>
              </a:lvl8pPr>
              <a:lvl9pPr marL="3657600" defTabSz="914400">
                <a:defRPr kumimoji="1">
                  <a:latin typeface="KoPub돋움체 Medium" pitchFamily="50" charset="-127"/>
                  <a:ea typeface="굴림" charset="-127"/>
                </a:defRPr>
              </a:lvl9pPr>
            </a:lstStyle>
            <a:p>
              <a:pPr lvl="1"/>
              <a:r>
                <a:rPr lang="en-US" altLang="ko-KR" sz="1000" dirty="0">
                  <a:latin typeface="+mn-ea"/>
                  <a:ea typeface="+mn-ea"/>
                  <a:cs typeface="KoPubWorld돋움체 Light" panose="00000300000000000000" pitchFamily="2" charset="-127"/>
                  <a:sym typeface="KoPub돋움체 Medium"/>
                </a:rPr>
                <a:t>text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B11850D-1764-86CF-21B8-D343F1485F1D}"/>
                </a:ext>
              </a:extLst>
            </p:cNvPr>
            <p:cNvSpPr txBox="1"/>
            <p:nvPr userDrawn="1"/>
          </p:nvSpPr>
          <p:spPr>
            <a:xfrm>
              <a:off x="9997566" y="2633288"/>
              <a:ext cx="396000" cy="394779"/>
            </a:xfrm>
            <a:prstGeom prst="rect">
              <a:avLst/>
            </a:prstGeom>
            <a:solidFill>
              <a:srgbClr val="0066AC"/>
            </a:solidFill>
          </p:spPr>
          <p:txBody>
            <a:bodyPr wrap="square" lIns="0" tIns="0" rIns="0" bIns="0" rtlCol="0" anchor="ctr">
              <a:no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934817" fontAlgn="auto">
                <a:spcBef>
                  <a:spcPts val="0"/>
                </a:spcBef>
                <a:spcAft>
                  <a:spcPts val="0"/>
                </a:spcAft>
                <a:tabLst>
                  <a:tab pos="2574921" algn="l"/>
                </a:tabLst>
                <a:defRPr kumimoji="1" sz="2200" spc="-224">
                  <a:solidFill>
                    <a:schemeClr val="bg1">
                      <a:lumMod val="95000"/>
                    </a:schemeClr>
                  </a:solidFill>
                  <a:latin typeface="다음_SemiBold" panose="02000700060000000000" pitchFamily="2" charset="-127"/>
                  <a:ea typeface="다음_SemiBold" panose="02000700060000000000" pitchFamily="2" charset="-127"/>
                </a:defRPr>
              </a:lvl1pPr>
              <a:lvl2pPr marL="0" lvl="1" algn="ctr" defTabSz="1042880" fontAlgn="auto">
                <a:spcBef>
                  <a:spcPts val="0"/>
                </a:spcBef>
                <a:spcAft>
                  <a:spcPts val="0"/>
                </a:spcAft>
                <a:defRPr kumimoji="0" sz="1200" b="0">
                  <a:ln w="6350"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itchFamily="18" charset="-127"/>
                  <a:ea typeface="KoPub돋움체 Bold" pitchFamily="18" charset="-127"/>
                </a:defRPr>
              </a:lvl2pPr>
              <a:lvl3pPr marL="9144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3pPr>
              <a:lvl4pPr marL="13716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4pPr>
              <a:lvl5pPr marL="18288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5pPr>
              <a:lvl6pPr marL="2286000" defTabSz="914400">
                <a:defRPr kumimoji="1">
                  <a:latin typeface="KoPub돋움체 Medium" pitchFamily="50" charset="-127"/>
                  <a:ea typeface="굴림" charset="-127"/>
                </a:defRPr>
              </a:lvl6pPr>
              <a:lvl7pPr marL="2743200" defTabSz="914400">
                <a:defRPr kumimoji="1">
                  <a:latin typeface="KoPub돋움체 Medium" pitchFamily="50" charset="-127"/>
                  <a:ea typeface="굴림" charset="-127"/>
                </a:defRPr>
              </a:lvl7pPr>
              <a:lvl8pPr marL="3200400" defTabSz="914400">
                <a:defRPr kumimoji="1">
                  <a:latin typeface="KoPub돋움체 Medium" pitchFamily="50" charset="-127"/>
                  <a:ea typeface="굴림" charset="-127"/>
                </a:defRPr>
              </a:lvl8pPr>
              <a:lvl9pPr marL="3657600" defTabSz="914400">
                <a:defRPr kumimoji="1">
                  <a:latin typeface="KoPub돋움체 Medium" pitchFamily="50" charset="-127"/>
                  <a:ea typeface="굴림" charset="-127"/>
                </a:defRPr>
              </a:lvl9pPr>
            </a:lstStyle>
            <a:p>
              <a:pPr lvl="1"/>
              <a:r>
                <a:rPr lang="en-US" altLang="ko-KR" sz="1000" dirty="0">
                  <a:latin typeface="+mn-ea"/>
                  <a:ea typeface="+mn-ea"/>
                  <a:cs typeface="KoPubWorld돋움체 Light" panose="00000300000000000000" pitchFamily="2" charset="-127"/>
                  <a:sym typeface="KoPub돋움체 Medium"/>
                </a:rPr>
                <a:t>text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4211696-5AB8-3C4A-DDC7-13031442766A}"/>
                </a:ext>
              </a:extLst>
            </p:cNvPr>
            <p:cNvSpPr txBox="1"/>
            <p:nvPr userDrawn="1"/>
          </p:nvSpPr>
          <p:spPr>
            <a:xfrm>
              <a:off x="9997567" y="4988449"/>
              <a:ext cx="396000" cy="394779"/>
            </a:xfrm>
            <a:prstGeom prst="rect">
              <a:avLst/>
            </a:prstGeom>
            <a:solidFill>
              <a:srgbClr val="29BDEF"/>
            </a:solidFill>
          </p:spPr>
          <p:txBody>
            <a:bodyPr wrap="square" lIns="0" tIns="0" rIns="0" bIns="0" rtlCol="0" anchor="ctr">
              <a:no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934817" fontAlgn="auto">
                <a:spcBef>
                  <a:spcPts val="0"/>
                </a:spcBef>
                <a:spcAft>
                  <a:spcPts val="0"/>
                </a:spcAft>
                <a:tabLst>
                  <a:tab pos="2574921" algn="l"/>
                </a:tabLst>
                <a:defRPr kumimoji="1" sz="2200" spc="-224">
                  <a:solidFill>
                    <a:schemeClr val="bg1">
                      <a:lumMod val="95000"/>
                    </a:schemeClr>
                  </a:solidFill>
                  <a:latin typeface="다음_SemiBold" panose="02000700060000000000" pitchFamily="2" charset="-127"/>
                  <a:ea typeface="다음_SemiBold" panose="02000700060000000000" pitchFamily="2" charset="-127"/>
                </a:defRPr>
              </a:lvl1pPr>
              <a:lvl2pPr marL="0" lvl="1" algn="ctr" defTabSz="1042880" fontAlgn="auto">
                <a:spcBef>
                  <a:spcPts val="0"/>
                </a:spcBef>
                <a:spcAft>
                  <a:spcPts val="0"/>
                </a:spcAft>
                <a:defRPr kumimoji="0" sz="1200" b="0">
                  <a:ln w="6350"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itchFamily="18" charset="-127"/>
                  <a:ea typeface="KoPub돋움체 Bold" pitchFamily="18" charset="-127"/>
                </a:defRPr>
              </a:lvl2pPr>
              <a:lvl3pPr marL="9144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3pPr>
              <a:lvl4pPr marL="13716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4pPr>
              <a:lvl5pPr marL="18288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5pPr>
              <a:lvl6pPr marL="2286000" defTabSz="914400">
                <a:defRPr kumimoji="1">
                  <a:latin typeface="KoPub돋움체 Medium" pitchFamily="50" charset="-127"/>
                  <a:ea typeface="굴림" charset="-127"/>
                </a:defRPr>
              </a:lvl6pPr>
              <a:lvl7pPr marL="2743200" defTabSz="914400">
                <a:defRPr kumimoji="1">
                  <a:latin typeface="KoPub돋움체 Medium" pitchFamily="50" charset="-127"/>
                  <a:ea typeface="굴림" charset="-127"/>
                </a:defRPr>
              </a:lvl7pPr>
              <a:lvl8pPr marL="3200400" defTabSz="914400">
                <a:defRPr kumimoji="1">
                  <a:latin typeface="KoPub돋움체 Medium" pitchFamily="50" charset="-127"/>
                  <a:ea typeface="굴림" charset="-127"/>
                </a:defRPr>
              </a:lvl8pPr>
              <a:lvl9pPr marL="3657600" defTabSz="914400">
                <a:defRPr kumimoji="1">
                  <a:latin typeface="KoPub돋움체 Medium" pitchFamily="50" charset="-127"/>
                  <a:ea typeface="굴림" charset="-127"/>
                </a:defRPr>
              </a:lvl9pPr>
            </a:lstStyle>
            <a:p>
              <a:pPr lvl="1"/>
              <a:r>
                <a:rPr lang="en-US" altLang="ko-KR" sz="1000" dirty="0">
                  <a:latin typeface="+mn-ea"/>
                  <a:ea typeface="+mn-ea"/>
                  <a:cs typeface="KoPubWorld돋움체 Light" panose="00000300000000000000" pitchFamily="2" charset="-127"/>
                  <a:sym typeface="KoPub돋움체 Medium"/>
                </a:rPr>
                <a:t>text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26DCACC-B9BB-CB81-41DD-A3646A79560E}"/>
                </a:ext>
              </a:extLst>
            </p:cNvPr>
            <p:cNvSpPr txBox="1"/>
            <p:nvPr userDrawn="1"/>
          </p:nvSpPr>
          <p:spPr>
            <a:xfrm>
              <a:off x="9906000" y="-228600"/>
              <a:ext cx="571499" cy="369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1000" dirty="0">
                  <a:latin typeface="+mj-ea"/>
                  <a:ea typeface="+mj-ea"/>
                </a:rPr>
                <a:t>기본</a:t>
              </a:r>
              <a:endParaRPr lang="en-US" altLang="ko-KR" sz="1000" dirty="0">
                <a:latin typeface="+mj-ea"/>
                <a:ea typeface="+mj-ea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ko-KR" sz="1000" dirty="0">
                  <a:latin typeface="+mj-ea"/>
                  <a:ea typeface="+mj-ea"/>
                </a:rPr>
                <a:t>Color</a:t>
              </a:r>
              <a:endParaRPr lang="ko-KR" altLang="en-US" sz="1000" dirty="0">
                <a:latin typeface="+mj-ea"/>
                <a:ea typeface="+mj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B0006D8-28F0-0DBC-2EAC-6069F3FA31E6}"/>
                </a:ext>
              </a:extLst>
            </p:cNvPr>
            <p:cNvSpPr txBox="1"/>
            <p:nvPr userDrawn="1"/>
          </p:nvSpPr>
          <p:spPr>
            <a:xfrm>
              <a:off x="9906000" y="2295525"/>
              <a:ext cx="571499" cy="369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1000" dirty="0">
                  <a:latin typeface="+mj-ea"/>
                  <a:ea typeface="+mj-ea"/>
                </a:rPr>
                <a:t>강조 </a:t>
              </a:r>
              <a:r>
                <a:rPr lang="en-US" altLang="ko-KR" sz="1000" dirty="0">
                  <a:latin typeface="+mj-ea"/>
                  <a:ea typeface="+mj-ea"/>
                </a:rPr>
                <a:t>Color</a:t>
              </a:r>
              <a:endParaRPr lang="ko-KR" altLang="en-US" sz="1000" dirty="0">
                <a:latin typeface="+mj-ea"/>
                <a:ea typeface="+mj-ea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BB96A09-F2CC-F3A4-9F29-F754BEA76798}"/>
                </a:ext>
              </a:extLst>
            </p:cNvPr>
            <p:cNvSpPr txBox="1"/>
            <p:nvPr userDrawn="1"/>
          </p:nvSpPr>
          <p:spPr>
            <a:xfrm>
              <a:off x="9906000" y="5600700"/>
              <a:ext cx="571499" cy="369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ko-KR" altLang="en-US" sz="1000" dirty="0">
                  <a:latin typeface="+mj-ea"/>
                  <a:ea typeface="+mj-ea"/>
                </a:rPr>
                <a:t>표 </a:t>
              </a:r>
              <a:r>
                <a:rPr lang="en-US" altLang="ko-KR" sz="1000" dirty="0">
                  <a:latin typeface="+mj-ea"/>
                  <a:ea typeface="+mj-ea"/>
                </a:rPr>
                <a:t>Color</a:t>
              </a:r>
              <a:endParaRPr lang="ko-KR" altLang="en-US" sz="1000" dirty="0">
                <a:latin typeface="+mj-ea"/>
                <a:ea typeface="+mj-ea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B278E2A-0D78-28CF-774E-C40351B5B844}"/>
                </a:ext>
              </a:extLst>
            </p:cNvPr>
            <p:cNvSpPr txBox="1"/>
            <p:nvPr userDrawn="1"/>
          </p:nvSpPr>
          <p:spPr>
            <a:xfrm>
              <a:off x="9997566" y="5941913"/>
              <a:ext cx="396000" cy="394779"/>
            </a:xfrm>
            <a:prstGeom prst="rect">
              <a:avLst/>
            </a:prstGeom>
            <a:solidFill>
              <a:srgbClr val="66BBF4"/>
            </a:solidFill>
          </p:spPr>
          <p:txBody>
            <a:bodyPr wrap="square" lIns="0" tIns="0" rIns="0" bIns="0" rtlCol="0" anchor="ctr">
              <a:no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934817" fontAlgn="auto">
                <a:spcBef>
                  <a:spcPts val="0"/>
                </a:spcBef>
                <a:spcAft>
                  <a:spcPts val="0"/>
                </a:spcAft>
                <a:tabLst>
                  <a:tab pos="2574921" algn="l"/>
                </a:tabLst>
                <a:defRPr kumimoji="1" sz="2200" spc="-224">
                  <a:solidFill>
                    <a:schemeClr val="bg1">
                      <a:lumMod val="95000"/>
                    </a:schemeClr>
                  </a:solidFill>
                  <a:latin typeface="다음_SemiBold" panose="02000700060000000000" pitchFamily="2" charset="-127"/>
                  <a:ea typeface="다음_SemiBold" panose="02000700060000000000" pitchFamily="2" charset="-127"/>
                </a:defRPr>
              </a:lvl1pPr>
              <a:lvl2pPr marL="0" lvl="1" algn="ctr" defTabSz="1042880" fontAlgn="auto">
                <a:spcBef>
                  <a:spcPts val="0"/>
                </a:spcBef>
                <a:spcAft>
                  <a:spcPts val="0"/>
                </a:spcAft>
                <a:defRPr kumimoji="0" sz="1200" b="0">
                  <a:ln w="6350"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  <a:lvl3pPr marL="9144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3pPr>
              <a:lvl4pPr marL="13716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4pPr>
              <a:lvl5pPr marL="18288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5pPr>
              <a:lvl6pPr marL="2286000" defTabSz="914400">
                <a:defRPr kumimoji="1">
                  <a:latin typeface="KoPub돋움체 Medium" pitchFamily="50" charset="-127"/>
                  <a:ea typeface="굴림" charset="-127"/>
                </a:defRPr>
              </a:lvl6pPr>
              <a:lvl7pPr marL="2743200" defTabSz="914400">
                <a:defRPr kumimoji="1">
                  <a:latin typeface="KoPub돋움체 Medium" pitchFamily="50" charset="-127"/>
                  <a:ea typeface="굴림" charset="-127"/>
                </a:defRPr>
              </a:lvl7pPr>
              <a:lvl8pPr marL="3200400" defTabSz="914400">
                <a:defRPr kumimoji="1">
                  <a:latin typeface="KoPub돋움체 Medium" pitchFamily="50" charset="-127"/>
                  <a:ea typeface="굴림" charset="-127"/>
                </a:defRPr>
              </a:lvl8pPr>
              <a:lvl9pPr marL="3657600" defTabSz="914400">
                <a:defRPr kumimoji="1">
                  <a:latin typeface="KoPub돋움체 Medium" pitchFamily="50" charset="-127"/>
                  <a:ea typeface="굴림" charset="-127"/>
                </a:defRPr>
              </a:lvl9pPr>
            </a:lstStyle>
            <a:p>
              <a:pPr lvl="1"/>
              <a:r>
                <a:rPr lang="en-US" altLang="ko-KR" sz="1000" dirty="0">
                  <a:solidFill>
                    <a:schemeClr val="bg1"/>
                  </a:solidFill>
                  <a:latin typeface="+mn-ea"/>
                  <a:ea typeface="+mn-ea"/>
                  <a:cs typeface="KoPubWorld돋움체 Light" panose="00000300000000000000" pitchFamily="2" charset="-127"/>
                  <a:sym typeface="KoPub돋움체 Medium"/>
                </a:rPr>
                <a:t>text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02DBAC4-B0AE-DB9E-0B72-DF13E5FE1CB9}"/>
                </a:ext>
              </a:extLst>
            </p:cNvPr>
            <p:cNvSpPr txBox="1"/>
            <p:nvPr userDrawn="1"/>
          </p:nvSpPr>
          <p:spPr>
            <a:xfrm>
              <a:off x="9997567" y="6736286"/>
              <a:ext cx="396000" cy="394779"/>
            </a:xfrm>
            <a:prstGeom prst="rect">
              <a:avLst/>
            </a:prstGeom>
            <a:solidFill>
              <a:srgbClr val="F5FAFD"/>
            </a:solidFill>
          </p:spPr>
          <p:txBody>
            <a:bodyPr wrap="square" lIns="0" tIns="0" rIns="0" bIns="0" rtlCol="0" anchor="ctr">
              <a:no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934817" fontAlgn="auto">
                <a:spcBef>
                  <a:spcPts val="0"/>
                </a:spcBef>
                <a:spcAft>
                  <a:spcPts val="0"/>
                </a:spcAft>
                <a:tabLst>
                  <a:tab pos="2574921" algn="l"/>
                </a:tabLst>
                <a:defRPr kumimoji="1" sz="2200" spc="-224">
                  <a:solidFill>
                    <a:schemeClr val="bg1">
                      <a:lumMod val="95000"/>
                    </a:schemeClr>
                  </a:solidFill>
                  <a:latin typeface="다음_SemiBold" panose="02000700060000000000" pitchFamily="2" charset="-127"/>
                  <a:ea typeface="다음_SemiBold" panose="02000700060000000000" pitchFamily="2" charset="-127"/>
                </a:defRPr>
              </a:lvl1pPr>
              <a:lvl2pPr marL="0" lvl="1" algn="ctr" defTabSz="1042880" fontAlgn="auto">
                <a:spcBef>
                  <a:spcPts val="0"/>
                </a:spcBef>
                <a:spcAft>
                  <a:spcPts val="0"/>
                </a:spcAft>
                <a:defRPr kumimoji="0" sz="1200" b="0">
                  <a:ln w="6350"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itchFamily="18" charset="-127"/>
                  <a:ea typeface="KoPub돋움체 Bold" pitchFamily="18" charset="-127"/>
                </a:defRPr>
              </a:lvl2pPr>
              <a:lvl3pPr marL="9144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3pPr>
              <a:lvl4pPr marL="13716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4pPr>
              <a:lvl5pPr marL="18288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5pPr>
              <a:lvl6pPr marL="2286000" defTabSz="914400">
                <a:defRPr kumimoji="1">
                  <a:latin typeface="KoPub돋움체 Medium" pitchFamily="50" charset="-127"/>
                  <a:ea typeface="굴림" charset="-127"/>
                </a:defRPr>
              </a:lvl6pPr>
              <a:lvl7pPr marL="2743200" defTabSz="914400">
                <a:defRPr kumimoji="1">
                  <a:latin typeface="KoPub돋움체 Medium" pitchFamily="50" charset="-127"/>
                  <a:ea typeface="굴림" charset="-127"/>
                </a:defRPr>
              </a:lvl7pPr>
              <a:lvl8pPr marL="3200400" defTabSz="914400">
                <a:defRPr kumimoji="1">
                  <a:latin typeface="KoPub돋움체 Medium" pitchFamily="50" charset="-127"/>
                  <a:ea typeface="굴림" charset="-127"/>
                </a:defRPr>
              </a:lvl8pPr>
              <a:lvl9pPr marL="3657600" defTabSz="914400">
                <a:defRPr kumimoji="1">
                  <a:latin typeface="KoPub돋움체 Medium" pitchFamily="50" charset="-127"/>
                  <a:ea typeface="굴림" charset="-127"/>
                </a:defRPr>
              </a:lvl9pPr>
            </a:lstStyle>
            <a:p>
              <a:pPr marL="0" lvl="1" algn="ctr" defTabSz="1042880" rtl="0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1000" b="0" kern="1200" dirty="0">
                  <a:ln w="6350"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  <a:cs typeface="KoPubWorld돋움체 Light" panose="00000300000000000000" pitchFamily="2" charset="-127"/>
                  <a:sym typeface="KoPub돋움체 Medium"/>
                </a:rPr>
                <a:t>text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23AA769-495A-F158-6647-14BFA67C5C83}"/>
                </a:ext>
              </a:extLst>
            </p:cNvPr>
            <p:cNvSpPr txBox="1"/>
            <p:nvPr userDrawn="1"/>
          </p:nvSpPr>
          <p:spPr>
            <a:xfrm>
              <a:off x="10007092" y="6350525"/>
              <a:ext cx="378000" cy="378000"/>
            </a:xfrm>
            <a:prstGeom prst="rect">
              <a:avLst/>
            </a:prstGeom>
            <a:solidFill>
              <a:srgbClr val="F2F2F2"/>
            </a:solidFill>
            <a:ln w="19050">
              <a:solidFill>
                <a:schemeClr val="bg1"/>
              </a:solidFill>
            </a:ln>
          </p:spPr>
          <p:txBody>
            <a:bodyPr wrap="square" lIns="0" tIns="0" rIns="0" bIns="0" rtlCol="0" anchor="ctr">
              <a:no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934817" fontAlgn="auto">
                <a:spcBef>
                  <a:spcPts val="0"/>
                </a:spcBef>
                <a:spcAft>
                  <a:spcPts val="0"/>
                </a:spcAft>
                <a:tabLst>
                  <a:tab pos="2574921" algn="l"/>
                </a:tabLst>
                <a:defRPr kumimoji="1" sz="2200" spc="-224">
                  <a:solidFill>
                    <a:schemeClr val="bg1">
                      <a:lumMod val="95000"/>
                    </a:schemeClr>
                  </a:solidFill>
                  <a:latin typeface="다음_SemiBold" panose="02000700060000000000" pitchFamily="2" charset="-127"/>
                  <a:ea typeface="다음_SemiBold" panose="02000700060000000000" pitchFamily="2" charset="-127"/>
                </a:defRPr>
              </a:lvl1pPr>
              <a:lvl2pPr marL="0" lvl="1" algn="ctr" defTabSz="1042880" fontAlgn="auto">
                <a:spcBef>
                  <a:spcPts val="0"/>
                </a:spcBef>
                <a:spcAft>
                  <a:spcPts val="0"/>
                </a:spcAft>
                <a:defRPr kumimoji="0" sz="1200" b="0">
                  <a:ln w="6350"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itchFamily="18" charset="-127"/>
                  <a:ea typeface="KoPub돋움체 Bold" pitchFamily="18" charset="-127"/>
                </a:defRPr>
              </a:lvl2pPr>
              <a:lvl3pPr marL="9144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3pPr>
              <a:lvl4pPr marL="13716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4pPr>
              <a:lvl5pPr marL="18288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5pPr>
              <a:lvl6pPr marL="2286000" defTabSz="914400">
                <a:defRPr kumimoji="1">
                  <a:latin typeface="KoPub돋움체 Medium" pitchFamily="50" charset="-127"/>
                  <a:ea typeface="굴림" charset="-127"/>
                </a:defRPr>
              </a:lvl6pPr>
              <a:lvl7pPr marL="2743200" defTabSz="914400">
                <a:defRPr kumimoji="1">
                  <a:latin typeface="KoPub돋움체 Medium" pitchFamily="50" charset="-127"/>
                  <a:ea typeface="굴림" charset="-127"/>
                </a:defRPr>
              </a:lvl7pPr>
              <a:lvl8pPr marL="3200400" defTabSz="914400">
                <a:defRPr kumimoji="1">
                  <a:latin typeface="KoPub돋움체 Medium" pitchFamily="50" charset="-127"/>
                  <a:ea typeface="굴림" charset="-127"/>
                </a:defRPr>
              </a:lvl8pPr>
              <a:lvl9pPr marL="3657600" defTabSz="914400">
                <a:defRPr kumimoji="1">
                  <a:latin typeface="KoPub돋움체 Medium" pitchFamily="50" charset="-127"/>
                  <a:ea typeface="굴림" charset="-127"/>
                </a:defRPr>
              </a:lvl9pPr>
            </a:lstStyle>
            <a:p>
              <a:pPr marL="0" lvl="1" algn="ctr" defTabSz="1042880" rtl="0" eaLnBrk="1" fontAlgn="auto" latinLnBrk="1" hangingPunct="1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altLang="ko-KR" sz="1000" b="0" kern="1200" dirty="0">
                  <a:ln w="6350"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  <a:ea typeface="+mn-ea"/>
                  <a:cs typeface="KoPubWorld돋움체 Light" panose="00000300000000000000" pitchFamily="2" charset="-127"/>
                  <a:sym typeface="KoPub돋움체 Medium"/>
                </a:rPr>
                <a:t>text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53CD0C9-8ECD-1A9C-5994-A7C49854B6BA}"/>
                </a:ext>
              </a:extLst>
            </p:cNvPr>
            <p:cNvSpPr txBox="1"/>
            <p:nvPr userDrawn="1"/>
          </p:nvSpPr>
          <p:spPr>
            <a:xfrm>
              <a:off x="10553700" y="2282483"/>
              <a:ext cx="571499" cy="369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ko-KR" sz="1000" dirty="0">
                  <a:latin typeface="+mj-ea"/>
                  <a:ea typeface="+mj-ea"/>
                </a:rPr>
                <a:t>CI</a:t>
              </a:r>
              <a:r>
                <a:rPr lang="ko-KR" altLang="en-US" sz="1000" dirty="0">
                  <a:latin typeface="+mj-ea"/>
                  <a:ea typeface="+mj-ea"/>
                </a:rPr>
                <a:t> </a:t>
              </a:r>
              <a:r>
                <a:rPr lang="en-US" altLang="ko-KR" sz="1000" dirty="0">
                  <a:latin typeface="+mj-ea"/>
                  <a:ea typeface="+mj-ea"/>
                </a:rPr>
                <a:t>Color</a:t>
              </a:r>
              <a:endParaRPr lang="ko-KR" altLang="en-US" sz="1000" dirty="0">
                <a:latin typeface="+mj-ea"/>
                <a:ea typeface="+mj-ea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759637D-1EEE-5736-62ED-4DBD6FE526A0}"/>
                </a:ext>
              </a:extLst>
            </p:cNvPr>
            <p:cNvSpPr txBox="1"/>
            <p:nvPr userDrawn="1"/>
          </p:nvSpPr>
          <p:spPr>
            <a:xfrm>
              <a:off x="10645266" y="2634313"/>
              <a:ext cx="396000" cy="394779"/>
            </a:xfrm>
            <a:prstGeom prst="rect">
              <a:avLst/>
            </a:prstGeom>
            <a:solidFill>
              <a:srgbClr val="0067AC"/>
            </a:solidFill>
          </p:spPr>
          <p:txBody>
            <a:bodyPr wrap="square" lIns="0" tIns="0" rIns="0" bIns="0" rtlCol="0" anchor="ctr">
              <a:no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934817" fontAlgn="auto">
                <a:spcBef>
                  <a:spcPts val="0"/>
                </a:spcBef>
                <a:spcAft>
                  <a:spcPts val="0"/>
                </a:spcAft>
                <a:tabLst>
                  <a:tab pos="2574921" algn="l"/>
                </a:tabLst>
                <a:defRPr kumimoji="1" sz="2200" spc="-224">
                  <a:solidFill>
                    <a:schemeClr val="bg1">
                      <a:lumMod val="95000"/>
                    </a:schemeClr>
                  </a:solidFill>
                  <a:latin typeface="다음_SemiBold" panose="02000700060000000000" pitchFamily="2" charset="-127"/>
                  <a:ea typeface="다음_SemiBold" panose="02000700060000000000" pitchFamily="2" charset="-127"/>
                </a:defRPr>
              </a:lvl1pPr>
              <a:lvl2pPr marL="0" lvl="1" algn="ctr" defTabSz="1042880" fontAlgn="auto">
                <a:spcBef>
                  <a:spcPts val="0"/>
                </a:spcBef>
                <a:spcAft>
                  <a:spcPts val="0"/>
                </a:spcAft>
                <a:defRPr kumimoji="0" sz="1200" b="0">
                  <a:ln w="6350"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  <a:lvl3pPr marL="9144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3pPr>
              <a:lvl4pPr marL="13716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4pPr>
              <a:lvl5pPr marL="18288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5pPr>
              <a:lvl6pPr marL="2286000" defTabSz="914400">
                <a:defRPr kumimoji="1">
                  <a:latin typeface="KoPub돋움체 Medium" pitchFamily="50" charset="-127"/>
                  <a:ea typeface="굴림" charset="-127"/>
                </a:defRPr>
              </a:lvl6pPr>
              <a:lvl7pPr marL="2743200" defTabSz="914400">
                <a:defRPr kumimoji="1">
                  <a:latin typeface="KoPub돋움체 Medium" pitchFamily="50" charset="-127"/>
                  <a:ea typeface="굴림" charset="-127"/>
                </a:defRPr>
              </a:lvl7pPr>
              <a:lvl8pPr marL="3200400" defTabSz="914400">
                <a:defRPr kumimoji="1">
                  <a:latin typeface="KoPub돋움체 Medium" pitchFamily="50" charset="-127"/>
                  <a:ea typeface="굴림" charset="-127"/>
                </a:defRPr>
              </a:lvl8pPr>
              <a:lvl9pPr marL="3657600" defTabSz="914400">
                <a:defRPr kumimoji="1">
                  <a:latin typeface="KoPub돋움체 Medium" pitchFamily="50" charset="-127"/>
                  <a:ea typeface="굴림" charset="-127"/>
                </a:defRPr>
              </a:lvl9pPr>
            </a:lstStyle>
            <a:p>
              <a:pPr lvl="1"/>
              <a:r>
                <a:rPr lang="en-US" altLang="ko-KR" sz="1000" dirty="0">
                  <a:solidFill>
                    <a:schemeClr val="bg1"/>
                  </a:solidFill>
                  <a:latin typeface="+mn-ea"/>
                  <a:ea typeface="+mn-ea"/>
                  <a:cs typeface="KoPubWorld돋움체 Light" panose="00000300000000000000" pitchFamily="2" charset="-127"/>
                  <a:sym typeface="KoPub돋움체 Medium"/>
                </a:rPr>
                <a:t>Main Color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977F03AA-E6C2-1C0B-0FB6-134F90E8CD28}"/>
                </a:ext>
              </a:extLst>
            </p:cNvPr>
            <p:cNvSpPr txBox="1"/>
            <p:nvPr userDrawn="1"/>
          </p:nvSpPr>
          <p:spPr>
            <a:xfrm>
              <a:off x="10645266" y="3021994"/>
              <a:ext cx="396000" cy="394779"/>
            </a:xfrm>
            <a:prstGeom prst="rect">
              <a:avLst/>
            </a:prstGeom>
            <a:solidFill>
              <a:srgbClr val="0078B9"/>
            </a:solidFill>
          </p:spPr>
          <p:txBody>
            <a:bodyPr wrap="square" lIns="0" tIns="0" rIns="0" bIns="0" rtlCol="0" anchor="ctr">
              <a:no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934817" fontAlgn="auto">
                <a:spcBef>
                  <a:spcPts val="0"/>
                </a:spcBef>
                <a:spcAft>
                  <a:spcPts val="0"/>
                </a:spcAft>
                <a:tabLst>
                  <a:tab pos="2574921" algn="l"/>
                </a:tabLst>
                <a:defRPr kumimoji="1" sz="2200" spc="-224">
                  <a:solidFill>
                    <a:schemeClr val="bg1">
                      <a:lumMod val="95000"/>
                    </a:schemeClr>
                  </a:solidFill>
                  <a:latin typeface="다음_SemiBold" panose="02000700060000000000" pitchFamily="2" charset="-127"/>
                  <a:ea typeface="다음_SemiBold" panose="02000700060000000000" pitchFamily="2" charset="-127"/>
                </a:defRPr>
              </a:lvl1pPr>
              <a:lvl2pPr marL="0" lvl="1" algn="ctr" defTabSz="1042880" fontAlgn="auto">
                <a:spcBef>
                  <a:spcPts val="0"/>
                </a:spcBef>
                <a:spcAft>
                  <a:spcPts val="0"/>
                </a:spcAft>
                <a:defRPr kumimoji="0" sz="1200" b="0">
                  <a:ln w="6350"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  <a:lvl3pPr marL="9144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3pPr>
              <a:lvl4pPr marL="13716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4pPr>
              <a:lvl5pPr marL="18288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5pPr>
              <a:lvl6pPr marL="2286000" defTabSz="914400">
                <a:defRPr kumimoji="1">
                  <a:latin typeface="KoPub돋움체 Medium" pitchFamily="50" charset="-127"/>
                  <a:ea typeface="굴림" charset="-127"/>
                </a:defRPr>
              </a:lvl6pPr>
              <a:lvl7pPr marL="2743200" defTabSz="914400">
                <a:defRPr kumimoji="1">
                  <a:latin typeface="KoPub돋움체 Medium" pitchFamily="50" charset="-127"/>
                  <a:ea typeface="굴림" charset="-127"/>
                </a:defRPr>
              </a:lvl7pPr>
              <a:lvl8pPr marL="3200400" defTabSz="914400">
                <a:defRPr kumimoji="1">
                  <a:latin typeface="KoPub돋움체 Medium" pitchFamily="50" charset="-127"/>
                  <a:ea typeface="굴림" charset="-127"/>
                </a:defRPr>
              </a:lvl8pPr>
              <a:lvl9pPr marL="3657600" defTabSz="914400">
                <a:defRPr kumimoji="1">
                  <a:latin typeface="KoPub돋움체 Medium" pitchFamily="50" charset="-127"/>
                  <a:ea typeface="굴림" charset="-127"/>
                </a:defRPr>
              </a:lvl9pPr>
            </a:lstStyle>
            <a:p>
              <a:pPr lvl="1"/>
              <a:r>
                <a:rPr lang="en-US" altLang="ko-KR" sz="1000" dirty="0">
                  <a:solidFill>
                    <a:schemeClr val="bg1"/>
                  </a:solidFill>
                  <a:latin typeface="+mn-ea"/>
                  <a:ea typeface="+mn-ea"/>
                  <a:cs typeface="KoPubWorld돋움체 Light" panose="00000300000000000000" pitchFamily="2" charset="-127"/>
                  <a:sym typeface="KoPub돋움체 Medium"/>
                </a:rPr>
                <a:t>Main Color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FDFBB38-92B4-4226-2481-FC11F1B90C76}"/>
                </a:ext>
              </a:extLst>
            </p:cNvPr>
            <p:cNvSpPr txBox="1"/>
            <p:nvPr userDrawn="1"/>
          </p:nvSpPr>
          <p:spPr>
            <a:xfrm>
              <a:off x="10645266" y="3404023"/>
              <a:ext cx="396000" cy="394779"/>
            </a:xfrm>
            <a:prstGeom prst="rect">
              <a:avLst/>
            </a:prstGeom>
            <a:solidFill>
              <a:srgbClr val="20C4F4"/>
            </a:solidFill>
          </p:spPr>
          <p:txBody>
            <a:bodyPr wrap="square" lIns="0" tIns="0" rIns="0" bIns="0" rtlCol="0" anchor="ctr">
              <a:no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934817" fontAlgn="auto">
                <a:spcBef>
                  <a:spcPts val="0"/>
                </a:spcBef>
                <a:spcAft>
                  <a:spcPts val="0"/>
                </a:spcAft>
                <a:tabLst>
                  <a:tab pos="2574921" algn="l"/>
                </a:tabLst>
                <a:defRPr kumimoji="1" sz="2200" spc="-224">
                  <a:solidFill>
                    <a:schemeClr val="bg1">
                      <a:lumMod val="95000"/>
                    </a:schemeClr>
                  </a:solidFill>
                  <a:latin typeface="다음_SemiBold" panose="02000700060000000000" pitchFamily="2" charset="-127"/>
                  <a:ea typeface="다음_SemiBold" panose="02000700060000000000" pitchFamily="2" charset="-127"/>
                </a:defRPr>
              </a:lvl1pPr>
              <a:lvl2pPr marL="0" lvl="1" algn="ctr" defTabSz="1042880" fontAlgn="auto">
                <a:spcBef>
                  <a:spcPts val="0"/>
                </a:spcBef>
                <a:spcAft>
                  <a:spcPts val="0"/>
                </a:spcAft>
                <a:defRPr kumimoji="0" sz="1200" b="0">
                  <a:ln w="6350"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  <a:lvl3pPr marL="9144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3pPr>
              <a:lvl4pPr marL="13716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4pPr>
              <a:lvl5pPr marL="18288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5pPr>
              <a:lvl6pPr marL="2286000" defTabSz="914400">
                <a:defRPr kumimoji="1">
                  <a:latin typeface="KoPub돋움체 Medium" pitchFamily="50" charset="-127"/>
                  <a:ea typeface="굴림" charset="-127"/>
                </a:defRPr>
              </a:lvl6pPr>
              <a:lvl7pPr marL="2743200" defTabSz="914400">
                <a:defRPr kumimoji="1">
                  <a:latin typeface="KoPub돋움체 Medium" pitchFamily="50" charset="-127"/>
                  <a:ea typeface="굴림" charset="-127"/>
                </a:defRPr>
              </a:lvl7pPr>
              <a:lvl8pPr marL="3200400" defTabSz="914400">
                <a:defRPr kumimoji="1">
                  <a:latin typeface="KoPub돋움체 Medium" pitchFamily="50" charset="-127"/>
                  <a:ea typeface="굴림" charset="-127"/>
                </a:defRPr>
              </a:lvl8pPr>
              <a:lvl9pPr marL="3657600" defTabSz="914400">
                <a:defRPr kumimoji="1">
                  <a:latin typeface="KoPub돋움체 Medium" pitchFamily="50" charset="-127"/>
                  <a:ea typeface="굴림" charset="-127"/>
                </a:defRPr>
              </a:lvl9pPr>
            </a:lstStyle>
            <a:p>
              <a:pPr lvl="1"/>
              <a:r>
                <a:rPr lang="en-US" altLang="ko-KR" sz="1000" dirty="0">
                  <a:solidFill>
                    <a:schemeClr val="bg1"/>
                  </a:solidFill>
                  <a:latin typeface="+mn-ea"/>
                  <a:ea typeface="+mn-ea"/>
                  <a:cs typeface="KoPubWorld돋움체 Light" panose="00000300000000000000" pitchFamily="2" charset="-127"/>
                  <a:sym typeface="KoPub돋움체 Medium"/>
                </a:rPr>
                <a:t>Main Color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451756F-334F-5DBE-EBD3-20C30BFCF1A4}"/>
                </a:ext>
              </a:extLst>
            </p:cNvPr>
            <p:cNvSpPr txBox="1"/>
            <p:nvPr userDrawn="1"/>
          </p:nvSpPr>
          <p:spPr>
            <a:xfrm>
              <a:off x="10645266" y="3798847"/>
              <a:ext cx="396000" cy="394779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lIns="0" tIns="0" rIns="0" bIns="0" rtlCol="0" anchor="ctr">
              <a:noAutofit/>
              <a:scene3d>
                <a:camera prst="orthographicFront"/>
                <a:lightRig rig="threePt" dir="t"/>
              </a:scene3d>
              <a:sp3d/>
            </a:bodyPr>
            <a:lstStyle>
              <a:defPPr>
                <a:defRPr lang="ko-KR"/>
              </a:defPPr>
              <a:lvl1pPr defTabSz="934817" fontAlgn="auto">
                <a:spcBef>
                  <a:spcPts val="0"/>
                </a:spcBef>
                <a:spcAft>
                  <a:spcPts val="0"/>
                </a:spcAft>
                <a:tabLst>
                  <a:tab pos="2574921" algn="l"/>
                </a:tabLst>
                <a:defRPr kumimoji="1" sz="2200" spc="-224">
                  <a:solidFill>
                    <a:schemeClr val="bg1">
                      <a:lumMod val="95000"/>
                    </a:schemeClr>
                  </a:solidFill>
                  <a:latin typeface="다음_SemiBold" panose="02000700060000000000" pitchFamily="2" charset="-127"/>
                  <a:ea typeface="다음_SemiBold" panose="02000700060000000000" pitchFamily="2" charset="-127"/>
                </a:defRPr>
              </a:lvl1pPr>
              <a:lvl2pPr marL="0" lvl="1" algn="ctr" defTabSz="1042880" fontAlgn="auto">
                <a:spcBef>
                  <a:spcPts val="0"/>
                </a:spcBef>
                <a:spcAft>
                  <a:spcPts val="0"/>
                </a:spcAft>
                <a:defRPr kumimoji="0" sz="1200" b="0">
                  <a:ln w="6350">
                    <a:solidFill>
                      <a:schemeClr val="tx1">
                        <a:lumMod val="85000"/>
                        <a:lumOff val="15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defRPr>
              </a:lvl2pPr>
              <a:lvl3pPr marL="9144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3pPr>
              <a:lvl4pPr marL="13716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4pPr>
              <a:lvl5pPr marL="1828800" fontAlgn="base">
                <a:spcBef>
                  <a:spcPct val="0"/>
                </a:spcBef>
                <a:spcAft>
                  <a:spcPct val="0"/>
                </a:spcAft>
                <a:defRPr kumimoji="1">
                  <a:latin typeface="KoPub돋움체 Medium" pitchFamily="50" charset="-127"/>
                  <a:ea typeface="굴림" charset="-127"/>
                </a:defRPr>
              </a:lvl5pPr>
              <a:lvl6pPr marL="2286000" defTabSz="914400">
                <a:defRPr kumimoji="1">
                  <a:latin typeface="KoPub돋움체 Medium" pitchFamily="50" charset="-127"/>
                  <a:ea typeface="굴림" charset="-127"/>
                </a:defRPr>
              </a:lvl6pPr>
              <a:lvl7pPr marL="2743200" defTabSz="914400">
                <a:defRPr kumimoji="1">
                  <a:latin typeface="KoPub돋움체 Medium" pitchFamily="50" charset="-127"/>
                  <a:ea typeface="굴림" charset="-127"/>
                </a:defRPr>
              </a:lvl7pPr>
              <a:lvl8pPr marL="3200400" defTabSz="914400">
                <a:defRPr kumimoji="1">
                  <a:latin typeface="KoPub돋움체 Medium" pitchFamily="50" charset="-127"/>
                  <a:ea typeface="굴림" charset="-127"/>
                </a:defRPr>
              </a:lvl8pPr>
              <a:lvl9pPr marL="3657600" defTabSz="914400">
                <a:defRPr kumimoji="1">
                  <a:latin typeface="KoPub돋움체 Medium" pitchFamily="50" charset="-127"/>
                  <a:ea typeface="굴림" charset="-127"/>
                </a:defRPr>
              </a:lvl9pPr>
            </a:lstStyle>
            <a:p>
              <a:pPr lvl="1"/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  <a:cs typeface="KoPubWorld돋움체 Light" panose="00000300000000000000" pitchFamily="2" charset="-127"/>
                  <a:sym typeface="KoPub돋움체 Medium"/>
                </a:rPr>
                <a:t>Main Color</a:t>
              </a: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1A809628-D54C-A9A6-5EB0-669366A157DE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626066" y="101836"/>
            <a:ext cx="1007452" cy="28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82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  <p15:guide id="3" pos="60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microsoft.com/office/2007/relationships/hdphoto" Target="../media/hdphoto3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microsoft.com/office/2007/relationships/hdphoto" Target="../media/hdphoto2.wdp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3801C60-CEF6-FC5D-CF87-C297623496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2.5.1 </a:t>
            </a:r>
            <a:r>
              <a:rPr lang="ko-KR" altLang="en-US" dirty="0"/>
              <a:t>사용자 분석 환경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F18756B2-5078-E1E9-E86C-9B0139BED2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1139" y="145620"/>
            <a:ext cx="5400000" cy="21730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기능 요구사항 </a:t>
            </a:r>
            <a:r>
              <a:rPr lang="en-US" altLang="ko-KR" dirty="0"/>
              <a:t>&gt; 2.5 AI </a:t>
            </a:r>
            <a:r>
              <a:rPr lang="ko-KR" altLang="en-US" dirty="0"/>
              <a:t>데이터 분석환경 제공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73C9B76-EB79-1603-29CD-3B8147AE85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Docker + NGINX + </a:t>
            </a:r>
            <a:r>
              <a:rPr lang="en-US" altLang="ko-KR" dirty="0" err="1"/>
              <a:t>MLflow</a:t>
            </a:r>
            <a:r>
              <a:rPr lang="ko-KR" altLang="en-US" dirty="0"/>
              <a:t>를 연결하여 </a:t>
            </a:r>
            <a:r>
              <a:rPr lang="ko-KR" altLang="en-US" dirty="0" err="1"/>
              <a:t>마이크로서비스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플랫폼을 구축하고</a:t>
            </a:r>
            <a:r>
              <a:rPr lang="en-US" altLang="ko-KR" dirty="0"/>
              <a:t>, GPU </a:t>
            </a:r>
            <a:r>
              <a:rPr lang="ko-KR" altLang="en-US" dirty="0"/>
              <a:t>클러스터 </a:t>
            </a:r>
            <a:r>
              <a:rPr lang="en-US" altLang="ko-KR" dirty="0"/>
              <a:t>+ Seldon Core</a:t>
            </a:r>
            <a:r>
              <a:rPr lang="ko-KR" altLang="en-US" dirty="0"/>
              <a:t>로 상용 서비스를 배포하는 실행 방안을 마련하겠습니다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E29C95B-1047-F812-687F-FAE46AF4A8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기반 사용자 분석 환경 구현 프로세스</a:t>
            </a:r>
          </a:p>
        </p:txBody>
      </p:sp>
      <p:grpSp>
        <p:nvGrpSpPr>
          <p:cNvPr id="83" name="그룹 151">
            <a:extLst>
              <a:ext uri="{FF2B5EF4-FFF2-40B4-BE49-F238E27FC236}">
                <a16:creationId xmlns:a16="http://schemas.microsoft.com/office/drawing/2014/main" id="{F3A95B0E-AC63-F91C-FEB7-DFBB8684706D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84" name="모서리가 둥근 직사각형 20">
              <a:extLst>
                <a:ext uri="{FF2B5EF4-FFF2-40B4-BE49-F238E27FC236}">
                  <a16:creationId xmlns:a16="http://schemas.microsoft.com/office/drawing/2014/main" id="{3B1A4C61-315A-FFF8-81B8-8C19CF4DBDC6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5" name="직사각형 153">
              <a:extLst>
                <a:ext uri="{FF2B5EF4-FFF2-40B4-BE49-F238E27FC236}">
                  <a16:creationId xmlns:a16="http://schemas.microsoft.com/office/drawing/2014/main" id="{2B2616C0-D35E-095D-CD4C-DE5E0A3975B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SFR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-006</a:t>
              </a:r>
            </a:p>
          </p:txBody>
        </p:sp>
        <p:sp>
          <p:nvSpPr>
            <p:cNvPr id="86" name="직사각형 154">
              <a:extLst>
                <a:ext uri="{FF2B5EF4-FFF2-40B4-BE49-F238E27FC236}">
                  <a16:creationId xmlns:a16="http://schemas.microsoft.com/office/drawing/2014/main" id="{558F429D-4C5F-B36C-4A8F-C712D523B58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87" name="직선 연결선 155">
              <a:extLst>
                <a:ext uri="{FF2B5EF4-FFF2-40B4-BE49-F238E27FC236}">
                  <a16:creationId xmlns:a16="http://schemas.microsoft.com/office/drawing/2014/main" id="{22D564B7-76C0-6A5C-ED9C-CA63DA406B1D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ounded Rectangle 12"/>
          <p:cNvSpPr/>
          <p:nvPr/>
        </p:nvSpPr>
        <p:spPr>
          <a:xfrm>
            <a:off x="281984" y="2120358"/>
            <a:ext cx="1442463" cy="647999"/>
          </a:xfrm>
          <a:prstGeom prst="round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17984" y="2156359"/>
            <a:ext cx="180000" cy="1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5BAC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985" y="2174359"/>
            <a:ext cx="10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rPr dirty="0" err="1"/>
              <a:t>환경</a:t>
            </a:r>
            <a:r>
              <a:rPr dirty="0"/>
              <a:t> 구축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984" y="2318359"/>
            <a:ext cx="936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K8s + Docker</a:t>
            </a:r>
            <a:br/>
            <a:r>
              <a:t>GPU Operator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956321" y="2336359"/>
            <a:ext cx="72000" cy="108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260195" y="2120358"/>
            <a:ext cx="1442463" cy="647999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296194" y="2156359"/>
            <a:ext cx="180000" cy="1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AEEF"/>
                </a:solidFill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04196" y="2174359"/>
            <a:ext cx="10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JupyterHub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14195" y="2318359"/>
            <a:ext cx="936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웹 기반 IDE</a:t>
            </a:r>
            <a:br/>
            <a:r>
              <a:t>다중 사용자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934532" y="2336359"/>
            <a:ext cx="72000" cy="108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238406" y="2120358"/>
            <a:ext cx="1442463" cy="647999"/>
          </a:xfrm>
          <a:prstGeom prst="round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274406" y="2156359"/>
            <a:ext cx="180000" cy="1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0A65A"/>
                </a:solidFill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2407" y="2174359"/>
            <a:ext cx="10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ML Pipeline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2406" y="2318359"/>
            <a:ext cx="936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MLflow 실험추적</a:t>
            </a:r>
            <a:br/>
            <a:r>
              <a:t>모델 버전관리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912743" y="2336359"/>
            <a:ext cx="72000" cy="108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16617" y="2120358"/>
            <a:ext cx="1442463" cy="647999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252617" y="2156359"/>
            <a:ext cx="180000" cy="1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9900"/>
                </a:solidFill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0617" y="2174359"/>
            <a:ext cx="10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GPU 관리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0616" y="2318359"/>
            <a:ext cx="936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t>자원 할당</a:t>
            </a:r>
            <a:br/>
            <a:r>
              <a:t>모니터링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7890954" y="2336359"/>
            <a:ext cx="72000" cy="108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194828" y="2120358"/>
            <a:ext cx="1442463" cy="647999"/>
          </a:xfrm>
          <a:prstGeom prst="round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30828" y="2156359"/>
            <a:ext cx="180000" cy="180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7B68EE"/>
                </a:solidFill>
              </a:defRPr>
            </a:pPr>
            <a:r>
              <a:rPr dirty="0"/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8829" y="2174359"/>
            <a:ext cx="10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서빙</a:t>
            </a:r>
            <a:endParaRPr dirty="0"/>
          </a:p>
        </p:txBody>
      </p:sp>
      <p:sp>
        <p:nvSpPr>
          <p:cNvPr id="36" name="TextBox 35"/>
          <p:cNvSpPr txBox="1"/>
          <p:nvPr/>
        </p:nvSpPr>
        <p:spPr>
          <a:xfrm>
            <a:off x="8248828" y="2318359"/>
            <a:ext cx="9360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dirty="0"/>
              <a:t>Seldon Core</a:t>
            </a:r>
            <a:br>
              <a:rPr dirty="0"/>
            </a:br>
            <a:r>
              <a:rPr dirty="0"/>
              <a:t>REST/</a:t>
            </a:r>
            <a:r>
              <a:rPr dirty="0" err="1"/>
              <a:t>gRPC</a:t>
            </a:r>
            <a:r>
              <a:rPr dirty="0"/>
              <a:t> API</a:t>
            </a:r>
          </a:p>
        </p:txBody>
      </p:sp>
      <p:sp>
        <p:nvSpPr>
          <p:cNvPr id="37" name="Oval 36"/>
          <p:cNvSpPr/>
          <p:nvPr/>
        </p:nvSpPr>
        <p:spPr>
          <a:xfrm>
            <a:off x="282272" y="4121825"/>
            <a:ext cx="360000" cy="360000"/>
          </a:xfrm>
          <a:prstGeom prst="ellipse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4272" y="4121825"/>
            <a:ext cx="19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BAC"/>
                </a:solidFill>
              </a:defRPr>
            </a:pPr>
            <a:r>
              <a:t>분석 도구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4272" y="4301825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D4D4D"/>
                </a:solidFill>
              </a:defRPr>
            </a:pPr>
            <a:r>
              <a:t>JupyterLab, VS Code Server</a:t>
            </a:r>
            <a:br/>
            <a:r>
              <a:t>Python/R/Scala 지원</a:t>
            </a:r>
          </a:p>
        </p:txBody>
      </p:sp>
      <p:sp>
        <p:nvSpPr>
          <p:cNvPr id="40" name="Oval 39"/>
          <p:cNvSpPr/>
          <p:nvPr/>
        </p:nvSpPr>
        <p:spPr>
          <a:xfrm>
            <a:off x="2802272" y="4121825"/>
            <a:ext cx="360000" cy="36000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34271" y="4121825"/>
            <a:ext cx="19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AEEF"/>
                </a:solidFill>
              </a:defRPr>
            </a:pPr>
            <a:r>
              <a:t>라이브러리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34271" y="4301825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D4D4D"/>
                </a:solidFill>
              </a:defRPr>
            </a:pPr>
            <a:r>
              <a:rPr dirty="0" err="1"/>
              <a:t>PyTorch</a:t>
            </a:r>
            <a:r>
              <a:rPr dirty="0"/>
              <a:t>, TensorFlow</a:t>
            </a:r>
            <a:br>
              <a:rPr dirty="0"/>
            </a:br>
            <a:r>
              <a:rPr dirty="0"/>
              <a:t>scikit-learn, </a:t>
            </a:r>
            <a:r>
              <a:rPr dirty="0" err="1"/>
              <a:t>XGBoost</a:t>
            </a:r>
            <a:endParaRPr dirty="0"/>
          </a:p>
        </p:txBody>
      </p:sp>
      <p:sp>
        <p:nvSpPr>
          <p:cNvPr id="43" name="Oval 42"/>
          <p:cNvSpPr/>
          <p:nvPr/>
        </p:nvSpPr>
        <p:spPr>
          <a:xfrm>
            <a:off x="5322272" y="4121825"/>
            <a:ext cx="360000" cy="36000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54272" y="4121825"/>
            <a:ext cx="19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A65A"/>
                </a:solidFill>
              </a:defRPr>
            </a:pPr>
            <a:r>
              <a:t>템플릿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54272" y="4301825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D4D4D"/>
                </a:solidFill>
              </a:defRPr>
            </a:pPr>
            <a:r>
              <a:rPr dirty="0"/>
              <a:t>EDA, NLP, </a:t>
            </a:r>
            <a:r>
              <a:rPr dirty="0" err="1"/>
              <a:t>공간분석</a:t>
            </a:r>
            <a:br>
              <a:rPr dirty="0"/>
            </a:br>
            <a:r>
              <a:rPr dirty="0" err="1"/>
              <a:t>의료영상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템플릿</a:t>
            </a:r>
            <a:endParaRPr dirty="0"/>
          </a:p>
        </p:txBody>
      </p:sp>
      <p:sp>
        <p:nvSpPr>
          <p:cNvPr id="46" name="Oval 45"/>
          <p:cNvSpPr/>
          <p:nvPr/>
        </p:nvSpPr>
        <p:spPr>
          <a:xfrm>
            <a:off x="7842272" y="4121825"/>
            <a:ext cx="360000" cy="36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5984" y="4097761"/>
            <a:ext cx="14456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협업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65984" y="4277761"/>
            <a:ext cx="14675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D4D4D"/>
                </a:solidFill>
              </a:defRPr>
            </a:pPr>
            <a:r>
              <a:rPr dirty="0"/>
              <a:t>Git </a:t>
            </a:r>
            <a:r>
              <a:rPr dirty="0" err="1"/>
              <a:t>버전관리</a:t>
            </a:r>
            <a:r>
              <a:rPr dirty="0"/>
              <a:t>, </a:t>
            </a:r>
            <a:r>
              <a:rPr dirty="0" err="1"/>
              <a:t>공유</a:t>
            </a:r>
            <a:r>
              <a:rPr dirty="0"/>
              <a:t> </a:t>
            </a:r>
            <a:r>
              <a:rPr dirty="0" err="1"/>
              <a:t>스토리지</a:t>
            </a:r>
            <a:br>
              <a:rPr dirty="0"/>
            </a:b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다운로드</a:t>
            </a:r>
            <a:endParaRPr dirty="0"/>
          </a:p>
        </p:txBody>
      </p:sp>
      <p:sp>
        <p:nvSpPr>
          <p:cNvPr id="49" name="Rectangle 48"/>
          <p:cNvSpPr/>
          <p:nvPr/>
        </p:nvSpPr>
        <p:spPr>
          <a:xfrm>
            <a:off x="275773" y="5437528"/>
            <a:ext cx="4377006" cy="180000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  기대 효과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5773" y="5617528"/>
            <a:ext cx="4377006" cy="61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사용자별</a:t>
            </a:r>
            <a:r>
              <a:rPr dirty="0"/>
              <a:t> </a:t>
            </a:r>
            <a:r>
              <a:rPr dirty="0" err="1"/>
              <a:t>격리된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제공</a:t>
            </a:r>
            <a:r>
              <a:rPr dirty="0"/>
              <a:t> → </a:t>
            </a:r>
            <a:r>
              <a:rPr dirty="0" err="1"/>
              <a:t>자원</a:t>
            </a:r>
            <a:r>
              <a:rPr dirty="0"/>
              <a:t> </a:t>
            </a:r>
            <a:r>
              <a:rPr dirty="0" err="1"/>
              <a:t>충돌</a:t>
            </a:r>
            <a:r>
              <a:rPr dirty="0"/>
              <a:t> </a:t>
            </a:r>
            <a:r>
              <a:rPr dirty="0" err="1"/>
              <a:t>방지</a:t>
            </a:r>
            <a:r>
              <a:rPr dirty="0"/>
              <a:t> 및 </a:t>
            </a:r>
            <a:r>
              <a:rPr dirty="0" err="1"/>
              <a:t>보안</a:t>
            </a:r>
            <a:r>
              <a:rPr dirty="0"/>
              <a:t> </a:t>
            </a:r>
            <a:r>
              <a:rPr dirty="0" err="1"/>
              <a:t>강화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GPU </a:t>
            </a:r>
            <a:r>
              <a:rPr dirty="0" err="1"/>
              <a:t>자원의</a:t>
            </a:r>
            <a:r>
              <a:rPr dirty="0"/>
              <a:t> </a:t>
            </a:r>
            <a:r>
              <a:rPr dirty="0" err="1"/>
              <a:t>효율적</a:t>
            </a:r>
            <a:r>
              <a:rPr dirty="0"/>
              <a:t> </a:t>
            </a:r>
            <a:r>
              <a:rPr dirty="0" err="1"/>
              <a:t>할당</a:t>
            </a:r>
            <a:r>
              <a:rPr dirty="0"/>
              <a:t> → </a:t>
            </a:r>
            <a:r>
              <a:rPr dirty="0" err="1"/>
              <a:t>딥러닝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 </a:t>
            </a:r>
            <a:r>
              <a:rPr dirty="0" err="1"/>
              <a:t>생산성</a:t>
            </a:r>
            <a:r>
              <a:rPr dirty="0"/>
              <a:t> 30% </a:t>
            </a:r>
            <a:r>
              <a:rPr dirty="0" err="1"/>
              <a:t>향상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MLflow</a:t>
            </a:r>
            <a:r>
              <a:rPr dirty="0"/>
              <a:t> 기반 </a:t>
            </a:r>
            <a:r>
              <a:rPr dirty="0" err="1"/>
              <a:t>실험</a:t>
            </a:r>
            <a:r>
              <a:rPr dirty="0"/>
              <a:t> 추적 → </a:t>
            </a:r>
            <a:r>
              <a:rPr dirty="0" err="1"/>
              <a:t>연구</a:t>
            </a:r>
            <a:r>
              <a:rPr dirty="0"/>
              <a:t> </a:t>
            </a:r>
            <a:r>
              <a:rPr dirty="0" err="1"/>
              <a:t>재현성</a:t>
            </a:r>
            <a:r>
              <a:rPr dirty="0"/>
              <a:t> 100% </a:t>
            </a:r>
            <a:r>
              <a:rPr dirty="0" err="1"/>
              <a:t>확보</a:t>
            </a:r>
            <a:endParaRPr dirty="0"/>
          </a:p>
        </p:txBody>
      </p:sp>
      <p:pic>
        <p:nvPicPr>
          <p:cNvPr id="1026" name="Picture 2" descr="IllustrisTNG - Data Access - Lab">
            <a:extLst>
              <a:ext uri="{FF2B5EF4-FFF2-40B4-BE49-F238E27FC236}">
                <a16:creationId xmlns:a16="http://schemas.microsoft.com/office/drawing/2014/main" id="{3430FBC2-B4E5-E232-52BD-DD15C337D8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262" y="3411189"/>
            <a:ext cx="1545924" cy="70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raining and Testing a Basic Neural Network using Pytorch | by Herumb  Shandilya | Medium">
            <a:extLst>
              <a:ext uri="{FF2B5EF4-FFF2-40B4-BE49-F238E27FC236}">
                <a16:creationId xmlns:a16="http://schemas.microsoft.com/office/drawing/2014/main" id="{A32C10E2-A5B6-FFDE-0AD8-BB5E2A32D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828" y="3551995"/>
            <a:ext cx="959659" cy="47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12F393E-653A-DAE4-EA93-84CD090C4C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18" r="47869" b="16582"/>
          <a:stretch>
            <a:fillRect/>
          </a:stretch>
        </p:blipFill>
        <p:spPr bwMode="auto">
          <a:xfrm>
            <a:off x="5843512" y="3133273"/>
            <a:ext cx="998210" cy="97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B33312EE-F0EE-48B1-85F0-374E314F3E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l="14976" t="25179" r="18669"/>
          <a:stretch>
            <a:fillRect/>
          </a:stretch>
        </p:blipFill>
        <p:spPr>
          <a:xfrm>
            <a:off x="7653521" y="3186872"/>
            <a:ext cx="1980001" cy="881049"/>
          </a:xfrm>
          <a:prstGeom prst="rect">
            <a:avLst/>
          </a:prstGeom>
        </p:spPr>
      </p:pic>
      <p:sp>
        <p:nvSpPr>
          <p:cNvPr id="54" name="Rectangle 53">
            <a:extLst>
              <a:ext uri="{FF2B5EF4-FFF2-40B4-BE49-F238E27FC236}">
                <a16:creationId xmlns:a16="http://schemas.microsoft.com/office/drawing/2014/main" id="{A3AA549B-964F-21B7-25D2-C1CD487E8EB0}"/>
              </a:ext>
            </a:extLst>
          </p:cNvPr>
          <p:cNvSpPr/>
          <p:nvPr/>
        </p:nvSpPr>
        <p:spPr>
          <a:xfrm>
            <a:off x="5254277" y="5437528"/>
            <a:ext cx="4377006" cy="180000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lang="ko-KR" altLang="en-US" sz="1000" dirty="0"/>
              <a:t>핵심 라이브러리</a:t>
            </a:r>
            <a:endParaRPr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0D81CC4-A1A4-6606-C91D-F5927B4BE132}"/>
              </a:ext>
            </a:extLst>
          </p:cNvPr>
          <p:cNvSpPr/>
          <p:nvPr/>
        </p:nvSpPr>
        <p:spPr>
          <a:xfrm>
            <a:off x="5254277" y="5617527"/>
            <a:ext cx="4377006" cy="838195"/>
          </a:xfrm>
          <a:prstGeom prst="rect">
            <a:avLst/>
          </a:prstGeom>
          <a:solidFill>
            <a:srgbClr val="FFFFFF"/>
          </a:solidFill>
          <a:ln w="12700">
            <a:solidFill>
              <a:srgbClr val="00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lang="en-US" altLang="ko-KR" dirty="0"/>
              <a:t>• </a:t>
            </a:r>
            <a:r>
              <a:rPr lang="ko-KR" altLang="en-US" dirty="0" err="1"/>
              <a:t>머신러닝</a:t>
            </a:r>
            <a:r>
              <a:rPr lang="en-US" altLang="ko-KR" dirty="0"/>
              <a:t>: </a:t>
            </a:r>
            <a:r>
              <a:rPr lang="en-US" dirty="0"/>
              <a:t>scikit-learn, 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, </a:t>
            </a:r>
            <a:r>
              <a:rPr lang="en-US" dirty="0" err="1"/>
              <a:t>CatBoost</a:t>
            </a:r>
            <a:endParaRPr lang="en-US"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lang="en-US" dirty="0"/>
              <a:t>• </a:t>
            </a:r>
            <a:r>
              <a:rPr lang="ko-KR" altLang="en-US" dirty="0"/>
              <a:t>딥러닝</a:t>
            </a:r>
            <a:r>
              <a:rPr lang="en-US" altLang="ko-KR" dirty="0"/>
              <a:t>: </a:t>
            </a:r>
            <a:r>
              <a:rPr lang="en-US" dirty="0" err="1"/>
              <a:t>PyTorch</a:t>
            </a:r>
            <a:r>
              <a:rPr lang="en-US" dirty="0"/>
              <a:t>, TensorFlow, </a:t>
            </a:r>
            <a:r>
              <a:rPr lang="en-US" dirty="0" err="1"/>
              <a:t>Keras</a:t>
            </a:r>
            <a:r>
              <a:rPr lang="en-US" dirty="0"/>
              <a:t>, Transformers</a:t>
            </a:r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lang="en-US" dirty="0"/>
              <a:t>• </a:t>
            </a:r>
            <a:r>
              <a:rPr lang="ko-KR" altLang="en-US" dirty="0"/>
              <a:t>시각화</a:t>
            </a:r>
            <a:r>
              <a:rPr lang="en-US" altLang="ko-KR" dirty="0"/>
              <a:t>: </a:t>
            </a:r>
            <a:r>
              <a:rPr lang="en-US" dirty="0"/>
              <a:t>Matplotlib, Seaborn, </a:t>
            </a:r>
            <a:r>
              <a:rPr lang="en-US" dirty="0" err="1"/>
              <a:t>Plotly</a:t>
            </a:r>
            <a:r>
              <a:rPr lang="en-US" dirty="0"/>
              <a:t>, Altair</a:t>
            </a:r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lang="en-US" dirty="0"/>
              <a:t>• </a:t>
            </a:r>
            <a:r>
              <a:rPr lang="ko-KR" altLang="en-US" dirty="0"/>
              <a:t>데이터 처리</a:t>
            </a:r>
            <a:r>
              <a:rPr lang="en-US" altLang="ko-KR" dirty="0"/>
              <a:t>: </a:t>
            </a:r>
            <a:r>
              <a:rPr lang="en-US" dirty="0"/>
              <a:t>Pandas, NumPy, Polars, </a:t>
            </a:r>
            <a:r>
              <a:rPr lang="en-US" dirty="0" err="1"/>
              <a:t>Dask</a:t>
            </a:r>
            <a:endParaRPr lang="en-US" dirty="0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12172067-04F7-580F-3162-838F7834E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3329" y="3216525"/>
            <a:ext cx="1681078" cy="56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7936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3EC97-A3AE-4D6B-2437-2DFF105D8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06919FC-4F7D-F48B-45B6-740B9C370D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2.5.1 </a:t>
            </a:r>
            <a:r>
              <a:rPr lang="ko-KR" altLang="en-US" dirty="0"/>
              <a:t>사용자 분석 환경</a:t>
            </a:r>
            <a:r>
              <a:rPr lang="en-US" altLang="ko-KR" dirty="0"/>
              <a:t>(2/3)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0E1281D-2E78-0369-10D5-FD39FAAF35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1139" y="145620"/>
            <a:ext cx="5400000" cy="21730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기능 요구사항 </a:t>
            </a:r>
            <a:r>
              <a:rPr lang="en-US" altLang="ko-KR" dirty="0"/>
              <a:t>&gt; 2.5 AI </a:t>
            </a:r>
            <a:r>
              <a:rPr lang="ko-KR" altLang="en-US" dirty="0"/>
              <a:t>데이터 분석환경 제공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703426BE-5B39-C983-5F89-E158DE263A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JupyterHub</a:t>
            </a:r>
            <a:r>
              <a:rPr lang="en-US" altLang="ko-KR" dirty="0"/>
              <a:t> + Kubernetes </a:t>
            </a:r>
            <a:r>
              <a:rPr lang="ko-KR" altLang="en-US" dirty="0"/>
              <a:t>기반의 </a:t>
            </a:r>
            <a:r>
              <a:rPr lang="ko-KR" altLang="en-US" dirty="0" err="1"/>
              <a:t>멀티테넌트</a:t>
            </a:r>
            <a:r>
              <a:rPr lang="ko-KR" altLang="en-US" dirty="0"/>
              <a:t> 분석 환경을 구축하여</a:t>
            </a:r>
            <a:r>
              <a:rPr lang="en-US" altLang="ko-KR" dirty="0"/>
              <a:t>, </a:t>
            </a:r>
            <a:r>
              <a:rPr lang="ko-KR" altLang="en-US" dirty="0"/>
              <a:t>사용자별 독립적인 컴퓨팅 자원과 템플릿 기반 분석 환경을 제공하고</a:t>
            </a:r>
            <a:r>
              <a:rPr lang="en-US" altLang="ko-KR" dirty="0"/>
              <a:t>, </a:t>
            </a:r>
            <a:r>
              <a:rPr lang="ko-KR" altLang="en-US" dirty="0"/>
              <a:t>프로젝트별 </a:t>
            </a:r>
            <a:r>
              <a:rPr lang="en-US" altLang="ko-KR" dirty="0"/>
              <a:t>CPU/Memory/GPU </a:t>
            </a:r>
            <a:r>
              <a:rPr lang="ko-KR" altLang="en-US" dirty="0"/>
              <a:t>자원 관리 및 사용 모니터링 체계를 확립하겠습니다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BE125838-D3EC-B5B9-AF64-042B4B4248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컨테이너 기반 분석 환경 아키텍처</a:t>
            </a:r>
          </a:p>
        </p:txBody>
      </p:sp>
      <p:grpSp>
        <p:nvGrpSpPr>
          <p:cNvPr id="83" name="그룹 151">
            <a:extLst>
              <a:ext uri="{FF2B5EF4-FFF2-40B4-BE49-F238E27FC236}">
                <a16:creationId xmlns:a16="http://schemas.microsoft.com/office/drawing/2014/main" id="{6564DBE7-4089-72B9-92E4-3D8DB81F209A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84" name="모서리가 둥근 직사각형 20">
              <a:extLst>
                <a:ext uri="{FF2B5EF4-FFF2-40B4-BE49-F238E27FC236}">
                  <a16:creationId xmlns:a16="http://schemas.microsoft.com/office/drawing/2014/main" id="{323244F7-819D-4930-0CE3-706E02532A53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5" name="직사각형 153">
              <a:extLst>
                <a:ext uri="{FF2B5EF4-FFF2-40B4-BE49-F238E27FC236}">
                  <a16:creationId xmlns:a16="http://schemas.microsoft.com/office/drawing/2014/main" id="{9BD6B6CF-0027-F19F-86E5-C830AFAC6077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SFR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-006</a:t>
              </a:r>
            </a:p>
          </p:txBody>
        </p:sp>
        <p:sp>
          <p:nvSpPr>
            <p:cNvPr id="86" name="직사각형 154">
              <a:extLst>
                <a:ext uri="{FF2B5EF4-FFF2-40B4-BE49-F238E27FC236}">
                  <a16:creationId xmlns:a16="http://schemas.microsoft.com/office/drawing/2014/main" id="{40FB54C7-050B-E72F-18FD-5146AE2762D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87" name="직선 연결선 155">
              <a:extLst>
                <a:ext uri="{FF2B5EF4-FFF2-40B4-BE49-F238E27FC236}">
                  <a16:creationId xmlns:a16="http://schemas.microsoft.com/office/drawing/2014/main" id="{797E57BC-2175-55CD-7D23-E0AF11710FDE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F0A0294-08E8-4CE8-AF17-3408D8FA1D3F}"/>
              </a:ext>
            </a:extLst>
          </p:cNvPr>
          <p:cNvGrpSpPr/>
          <p:nvPr/>
        </p:nvGrpSpPr>
        <p:grpSpPr>
          <a:xfrm>
            <a:off x="276254" y="2006055"/>
            <a:ext cx="9355021" cy="360000"/>
            <a:chOff x="276254" y="2006055"/>
            <a:chExt cx="9355021" cy="360000"/>
          </a:xfrm>
        </p:grpSpPr>
        <p:sp>
          <p:nvSpPr>
            <p:cNvPr id="13" name="Rounded Rectangle 12"/>
            <p:cNvSpPr/>
            <p:nvPr/>
          </p:nvSpPr>
          <p:spPr>
            <a:xfrm>
              <a:off x="276254" y="2006055"/>
              <a:ext cx="1260000" cy="360000"/>
            </a:xfrm>
            <a:prstGeom prst="roundRect">
              <a:avLst/>
            </a:prstGeom>
            <a:solidFill>
              <a:srgbClr val="005BA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사용자 계층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1716254" y="2042055"/>
              <a:ext cx="1868305" cy="288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05B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005BAC"/>
                  </a:solidFill>
                </a:defRPr>
              </a:pPr>
              <a:r>
                <a:t>연구자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731826" y="2042055"/>
              <a:ext cx="1868305" cy="288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05B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005BAC"/>
                  </a:solidFill>
                </a:defRPr>
              </a:pPr>
              <a:r>
                <a:t>데이터 분석가</a:t>
              </a: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747398" y="2042055"/>
              <a:ext cx="1868305" cy="288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05B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005BAC"/>
                  </a:solidFill>
                </a:defRPr>
              </a:pPr>
              <a:r>
                <a:t>데이터 엔지니어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762970" y="2042055"/>
              <a:ext cx="1868305" cy="288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05B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005BAC"/>
                  </a:solidFill>
                </a:defRPr>
              </a:pPr>
              <a:r>
                <a:t>의료진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D4F187B-1947-2059-7238-376A1DA22827}"/>
              </a:ext>
            </a:extLst>
          </p:cNvPr>
          <p:cNvGrpSpPr/>
          <p:nvPr/>
        </p:nvGrpSpPr>
        <p:grpSpPr>
          <a:xfrm>
            <a:off x="276254" y="2732878"/>
            <a:ext cx="9355021" cy="360000"/>
            <a:chOff x="276254" y="2420055"/>
            <a:chExt cx="9355021" cy="360000"/>
          </a:xfrm>
        </p:grpSpPr>
        <p:sp>
          <p:nvSpPr>
            <p:cNvPr id="18" name="Rounded Rectangle 17"/>
            <p:cNvSpPr/>
            <p:nvPr/>
          </p:nvSpPr>
          <p:spPr>
            <a:xfrm>
              <a:off x="276254" y="2420055"/>
              <a:ext cx="1260000" cy="360000"/>
            </a:xfrm>
            <a:prstGeom prst="round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분석 도구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716254" y="2456054"/>
              <a:ext cx="1868305" cy="288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0A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00AEEF"/>
                  </a:solidFill>
                </a:defRPr>
              </a:pPr>
              <a:r>
                <a:t>JupyterLab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731826" y="2456054"/>
              <a:ext cx="1868305" cy="288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0A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00AEEF"/>
                  </a:solidFill>
                </a:defRPr>
              </a:pPr>
              <a:r>
                <a:t>VS Code Server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747398" y="2456054"/>
              <a:ext cx="1868305" cy="288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0A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00AEEF"/>
                  </a:solidFill>
                </a:defRPr>
              </a:pPr>
              <a:r>
                <a:t>RStudio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762970" y="2456054"/>
              <a:ext cx="1868305" cy="288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0A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00AEEF"/>
                  </a:solidFill>
                </a:defRPr>
              </a:pPr>
              <a:r>
                <a:t>MLflow UI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C847AE2-90C7-B8F0-C3B8-DA88A7CD7310}"/>
              </a:ext>
            </a:extLst>
          </p:cNvPr>
          <p:cNvGrpSpPr/>
          <p:nvPr/>
        </p:nvGrpSpPr>
        <p:grpSpPr>
          <a:xfrm>
            <a:off x="276254" y="3459701"/>
            <a:ext cx="9355021" cy="360000"/>
            <a:chOff x="276254" y="2834054"/>
            <a:chExt cx="9355021" cy="360000"/>
          </a:xfrm>
        </p:grpSpPr>
        <p:sp>
          <p:nvSpPr>
            <p:cNvPr id="23" name="Rounded Rectangle 22"/>
            <p:cNvSpPr/>
            <p:nvPr/>
          </p:nvSpPr>
          <p:spPr>
            <a:xfrm>
              <a:off x="276254" y="2834054"/>
              <a:ext cx="1260000" cy="360000"/>
            </a:xfrm>
            <a:prstGeom prst="roundRect">
              <a:avLst/>
            </a:prstGeom>
            <a:solidFill>
              <a:srgbClr val="0096D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런타임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716254" y="2870054"/>
              <a:ext cx="1868305" cy="288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096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0096D6"/>
                  </a:solidFill>
                </a:defRPr>
              </a:pPr>
              <a:r>
                <a:t>Python 3.10+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731826" y="2870054"/>
              <a:ext cx="1868305" cy="288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096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0096D6"/>
                  </a:solidFill>
                </a:defRPr>
              </a:pPr>
              <a:r>
                <a:t>R 4.x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747398" y="2870054"/>
              <a:ext cx="1868305" cy="288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096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0096D6"/>
                  </a:solidFill>
                </a:defRPr>
              </a:pPr>
              <a:r>
                <a:t>Scala 2.13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762970" y="2870054"/>
              <a:ext cx="1868305" cy="288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096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0096D6"/>
                  </a:solidFill>
                </a:defRPr>
              </a:pPr>
              <a:r>
                <a:t>CUDA 12.x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643E5D-FEFD-F81D-E701-07569DA1E73A}"/>
              </a:ext>
            </a:extLst>
          </p:cNvPr>
          <p:cNvGrpSpPr/>
          <p:nvPr/>
        </p:nvGrpSpPr>
        <p:grpSpPr>
          <a:xfrm>
            <a:off x="276254" y="4186524"/>
            <a:ext cx="9355021" cy="360000"/>
            <a:chOff x="276254" y="3248055"/>
            <a:chExt cx="9355021" cy="360000"/>
          </a:xfrm>
        </p:grpSpPr>
        <p:sp>
          <p:nvSpPr>
            <p:cNvPr id="28" name="Rounded Rectangle 27"/>
            <p:cNvSpPr/>
            <p:nvPr/>
          </p:nvSpPr>
          <p:spPr>
            <a:xfrm>
              <a:off x="276254" y="3248055"/>
              <a:ext cx="1260000" cy="360000"/>
            </a:xfrm>
            <a:prstGeom prst="roundRect">
              <a:avLst/>
            </a:prstGeom>
            <a:solidFill>
              <a:srgbClr val="5BB5E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오케스트레이션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716254" y="3284054"/>
              <a:ext cx="1868305" cy="288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5BB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5BB5E0"/>
                  </a:solidFill>
                </a:defRPr>
              </a:pPr>
              <a:r>
                <a:t>Kubernetes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731826" y="3284054"/>
              <a:ext cx="1868305" cy="288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5BB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5BB5E0"/>
                  </a:solidFill>
                </a:defRPr>
              </a:pPr>
              <a:r>
                <a:t>Docker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5747398" y="3284054"/>
              <a:ext cx="1868305" cy="288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5BB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5BB5E0"/>
                  </a:solidFill>
                </a:defRPr>
              </a:pPr>
              <a:r>
                <a:t>Helm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762970" y="3284054"/>
              <a:ext cx="1868305" cy="2880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5BB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5BB5E0"/>
                  </a:solidFill>
                </a:defRPr>
              </a:pPr>
              <a:r>
                <a:t>GPU Operator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B368CDA0-41FD-8A4B-F8EF-147C23101FCC}"/>
              </a:ext>
            </a:extLst>
          </p:cNvPr>
          <p:cNvGrpSpPr/>
          <p:nvPr/>
        </p:nvGrpSpPr>
        <p:grpSpPr>
          <a:xfrm>
            <a:off x="276254" y="4913346"/>
            <a:ext cx="9355021" cy="360000"/>
            <a:chOff x="276254" y="3662055"/>
            <a:chExt cx="9355021" cy="360000"/>
          </a:xfrm>
          <a:solidFill>
            <a:schemeClr val="bg1">
              <a:lumMod val="75000"/>
            </a:schemeClr>
          </a:solidFill>
        </p:grpSpPr>
        <p:sp>
          <p:nvSpPr>
            <p:cNvPr id="33" name="Rounded Rectangle 32"/>
            <p:cNvSpPr/>
            <p:nvPr/>
          </p:nvSpPr>
          <p:spPr>
            <a:xfrm>
              <a:off x="276254" y="3662055"/>
              <a:ext cx="1260000" cy="360000"/>
            </a:xfrm>
            <a:prstGeom prst="roundRect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인프라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716254" y="3698055"/>
              <a:ext cx="1868305" cy="288000"/>
            </a:xfrm>
            <a:prstGeom prst="roundRect">
              <a:avLst/>
            </a:prstGeom>
            <a:grpFill/>
            <a:ln w="19050">
              <a:solidFill>
                <a:srgbClr val="E6F3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E6F3FA"/>
                  </a:solidFill>
                </a:defRPr>
              </a:pPr>
              <a:r>
                <a:rPr dirty="0"/>
                <a:t>GPU Server (</a:t>
              </a:r>
              <a:r>
                <a:rPr lang="en-US" dirty="0"/>
                <a:t>H 100</a:t>
              </a:r>
              <a:r>
                <a:rPr dirty="0"/>
                <a:t>)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731826" y="3698055"/>
              <a:ext cx="1868305" cy="288000"/>
            </a:xfrm>
            <a:prstGeom prst="roundRect">
              <a:avLst/>
            </a:prstGeom>
            <a:grpFill/>
            <a:ln w="19050">
              <a:solidFill>
                <a:srgbClr val="E6F3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E6F3FA"/>
                  </a:solidFill>
                </a:defRPr>
              </a:pPr>
              <a:r>
                <a:t>Storage (NFS/MinIO)</a:t>
              </a:r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5747398" y="3698055"/>
              <a:ext cx="1868305" cy="288000"/>
            </a:xfrm>
            <a:prstGeom prst="roundRect">
              <a:avLst/>
            </a:prstGeom>
            <a:grpFill/>
            <a:ln w="19050">
              <a:solidFill>
                <a:srgbClr val="E6F3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E6F3FA"/>
                  </a:solidFill>
                </a:defRPr>
              </a:pPr>
              <a:r>
                <a:t>Network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762970" y="3698055"/>
              <a:ext cx="1868305" cy="288000"/>
            </a:xfrm>
            <a:prstGeom prst="roundRect">
              <a:avLst/>
            </a:prstGeom>
            <a:grpFill/>
            <a:ln w="19050">
              <a:solidFill>
                <a:srgbClr val="E6F3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defRPr sz="900" b="1">
                  <a:solidFill>
                    <a:srgbClr val="E6F3FA"/>
                  </a:solidFill>
                </a:defRPr>
              </a:pPr>
              <a:r>
                <a:t>Monitoring</a:t>
              </a:r>
            </a:p>
          </p:txBody>
        </p:sp>
      </p:grp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663608"/>
              </p:ext>
            </p:extLst>
          </p:nvPr>
        </p:nvGraphicFramePr>
        <p:xfrm>
          <a:off x="276254" y="5327486"/>
          <a:ext cx="55800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8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프로필</a:t>
                      </a:r>
                    </a:p>
                  </a:txBody>
                  <a:tcPr anchor="ctr"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CPU</a:t>
                      </a:r>
                    </a:p>
                  </a:txBody>
                  <a:tcPr anchor="ctr"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Memory</a:t>
                      </a:r>
                    </a:p>
                  </a:txBody>
                  <a:tcPr anchor="ctr"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GPU</a:t>
                      </a:r>
                    </a:p>
                  </a:txBody>
                  <a:tcPr anchor="ctr"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용도</a:t>
                      </a:r>
                    </a:p>
                  </a:txBody>
                  <a:tcPr anchor="ctr">
                    <a:solidFill>
                      <a:srgbClr val="005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Small</a:t>
                      </a:r>
                    </a:p>
                  </a:txBody>
                  <a:tcPr anchor="ctr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2 cores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4GB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경량 분석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4 cores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16GB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일반 분석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Large</a:t>
                      </a:r>
                    </a:p>
                  </a:txBody>
                  <a:tcPr anchor="ctr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8 cores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32GB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대용량 처리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GPU</a:t>
                      </a:r>
                    </a:p>
                  </a:txBody>
                  <a:tcPr anchor="ctr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rPr lang="en-US" dirty="0"/>
                        <a:t>112</a:t>
                      </a:r>
                      <a:r>
                        <a:rPr dirty="0"/>
                        <a:t> cores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rPr lang="en-US" dirty="0"/>
                        <a:t>80</a:t>
                      </a:r>
                      <a:r>
                        <a:rPr dirty="0"/>
                        <a:t>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rPr lang="en-US" dirty="0"/>
                        <a:t>8</a:t>
                      </a:r>
                      <a:r>
                        <a:rPr dirty="0"/>
                        <a:t>x </a:t>
                      </a:r>
                      <a:r>
                        <a:rPr lang="en-US" dirty="0"/>
                        <a:t>H100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rPr dirty="0" err="1"/>
                        <a:t>딥러닝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6036254" y="5327486"/>
            <a:ext cx="3593492" cy="180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  분석 템플릿 제공 현황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6254" y="5507486"/>
            <a:ext cx="3593492" cy="82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탐색적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: Pandas Profiling, </a:t>
            </a:r>
            <a:r>
              <a:rPr dirty="0" err="1"/>
              <a:t>Sweetviz</a:t>
            </a:r>
            <a:r>
              <a:rPr dirty="0"/>
              <a:t>, </a:t>
            </a:r>
            <a:r>
              <a:rPr dirty="0" err="1"/>
              <a:t>DataPrep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자연어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: </a:t>
            </a:r>
            <a:r>
              <a:rPr dirty="0" err="1"/>
              <a:t>KoNLPy</a:t>
            </a:r>
            <a:r>
              <a:rPr dirty="0"/>
              <a:t>, Transformers, </a:t>
            </a:r>
            <a:r>
              <a:rPr dirty="0" err="1"/>
              <a:t>LangChain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공간 </a:t>
            </a:r>
            <a:r>
              <a:rPr dirty="0" err="1"/>
              <a:t>분석</a:t>
            </a:r>
            <a:r>
              <a:rPr dirty="0"/>
              <a:t>: </a:t>
            </a:r>
            <a:r>
              <a:rPr dirty="0" err="1"/>
              <a:t>Geopandas</a:t>
            </a:r>
            <a:r>
              <a:rPr dirty="0"/>
              <a:t>, Folium, Kepler.gl</a:t>
            </a:r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의료</a:t>
            </a:r>
            <a:r>
              <a:rPr dirty="0"/>
              <a:t> </a:t>
            </a:r>
            <a:r>
              <a:rPr dirty="0" err="1"/>
              <a:t>영상</a:t>
            </a:r>
            <a:r>
              <a:rPr dirty="0"/>
              <a:t>: MONAI, </a:t>
            </a:r>
            <a:r>
              <a:rPr dirty="0" err="1"/>
              <a:t>PyDICOM</a:t>
            </a:r>
            <a:r>
              <a:rPr dirty="0"/>
              <a:t>, ITK</a:t>
            </a:r>
          </a:p>
        </p:txBody>
      </p:sp>
    </p:spTree>
    <p:extLst>
      <p:ext uri="{BB962C8B-B14F-4D97-AF65-F5344CB8AC3E}">
        <p14:creationId xmlns:p14="http://schemas.microsoft.com/office/powerpoint/2010/main" val="2723876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57A47-3B99-0C54-A9F7-41AB151FE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8D92192-6135-C688-4857-1B703D4D12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2.5.1 </a:t>
            </a:r>
            <a:r>
              <a:rPr lang="ko-KR" altLang="en-US" dirty="0"/>
              <a:t>사용자 분석 환경</a:t>
            </a:r>
            <a:r>
              <a:rPr lang="en-US" altLang="ko-KR" dirty="0"/>
              <a:t>(3/3)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BF9EA3C-309C-76D0-5534-92D41D11E4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1139" y="145620"/>
            <a:ext cx="5400000" cy="21730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기능 요구사항 </a:t>
            </a:r>
            <a:r>
              <a:rPr lang="en-US" altLang="ko-KR" dirty="0"/>
              <a:t>&gt; 2.5 AI </a:t>
            </a:r>
            <a:r>
              <a:rPr lang="ko-KR" altLang="en-US" dirty="0"/>
              <a:t>데이터 분석환경 제공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E207086-81BA-6B89-E11F-C3B100EE3E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JupyterHub</a:t>
            </a:r>
            <a:r>
              <a:rPr lang="en-US" altLang="ko-KR" dirty="0"/>
              <a:t> + Kubernetes </a:t>
            </a:r>
            <a:r>
              <a:rPr lang="ko-KR" altLang="en-US" dirty="0"/>
              <a:t>기반의 </a:t>
            </a:r>
            <a:r>
              <a:rPr lang="ko-KR" altLang="en-US" dirty="0" err="1"/>
              <a:t>멀티테넌트</a:t>
            </a:r>
            <a:r>
              <a:rPr lang="ko-KR" altLang="en-US" dirty="0"/>
              <a:t> 분석 환경을 구축하여</a:t>
            </a:r>
            <a:r>
              <a:rPr lang="en-US" altLang="ko-KR" dirty="0"/>
              <a:t>, </a:t>
            </a:r>
            <a:r>
              <a:rPr lang="ko-KR" altLang="en-US" dirty="0"/>
              <a:t>사용자별 독립적인 컴퓨팅 자원과 템플릿 기반 분석 환경을 제공하고</a:t>
            </a:r>
            <a:r>
              <a:rPr lang="en-US" altLang="ko-KR" dirty="0"/>
              <a:t>, </a:t>
            </a:r>
            <a:r>
              <a:rPr lang="ko-KR" altLang="en-US" dirty="0"/>
              <a:t>프로젝트별 </a:t>
            </a:r>
            <a:r>
              <a:rPr lang="en-US" altLang="ko-KR" dirty="0"/>
              <a:t>CPU/Memory/GPU </a:t>
            </a:r>
            <a:r>
              <a:rPr lang="ko-KR" altLang="en-US" dirty="0"/>
              <a:t>자원 관리 및 사용 모니터링 체계를 확립하겠습니다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5AC70A20-B99A-A1E3-1484-E92C60C0F8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컨테이너 기반 분석 환경 아키텍처</a:t>
            </a:r>
          </a:p>
        </p:txBody>
      </p:sp>
      <p:grpSp>
        <p:nvGrpSpPr>
          <p:cNvPr id="83" name="그룹 151">
            <a:extLst>
              <a:ext uri="{FF2B5EF4-FFF2-40B4-BE49-F238E27FC236}">
                <a16:creationId xmlns:a16="http://schemas.microsoft.com/office/drawing/2014/main" id="{2CEBCF94-932F-3FA4-0D41-FABA29328A57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84" name="모서리가 둥근 직사각형 20">
              <a:extLst>
                <a:ext uri="{FF2B5EF4-FFF2-40B4-BE49-F238E27FC236}">
                  <a16:creationId xmlns:a16="http://schemas.microsoft.com/office/drawing/2014/main" id="{B2E6E39F-1898-9778-A169-6DEFA26C153F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5" name="직사각형 153">
              <a:extLst>
                <a:ext uri="{FF2B5EF4-FFF2-40B4-BE49-F238E27FC236}">
                  <a16:creationId xmlns:a16="http://schemas.microsoft.com/office/drawing/2014/main" id="{F0D0119A-1FE8-89DE-A6E4-FBDBC10EAD4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SFR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-006</a:t>
              </a:r>
            </a:p>
          </p:txBody>
        </p:sp>
        <p:sp>
          <p:nvSpPr>
            <p:cNvPr id="86" name="직사각형 154">
              <a:extLst>
                <a:ext uri="{FF2B5EF4-FFF2-40B4-BE49-F238E27FC236}">
                  <a16:creationId xmlns:a16="http://schemas.microsoft.com/office/drawing/2014/main" id="{F607DA42-1058-1705-65B0-DC22080C1D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87" name="직선 연결선 155">
              <a:extLst>
                <a:ext uri="{FF2B5EF4-FFF2-40B4-BE49-F238E27FC236}">
                  <a16:creationId xmlns:a16="http://schemas.microsoft.com/office/drawing/2014/main" id="{19C2E717-6265-8D0E-C617-E50887F4238D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126821"/>
              </p:ext>
            </p:extLst>
          </p:nvPr>
        </p:nvGraphicFramePr>
        <p:xfrm>
          <a:off x="272482" y="1918160"/>
          <a:ext cx="9361040" cy="4543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689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92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단계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dirty="0" err="1"/>
                        <a:t>작업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내용</a:t>
                      </a:r>
                      <a:endParaRPr sz="1000" dirty="0"/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dirty="0" err="1"/>
                        <a:t>오픈소스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도구</a:t>
                      </a:r>
                      <a:endParaRPr sz="1000" dirty="0"/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dirty="0" err="1"/>
                        <a:t>상세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구현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방안</a:t>
                      </a:r>
                      <a:endParaRPr sz="1000" dirty="0"/>
                    </a:p>
                  </a:txBody>
                  <a:tcPr>
                    <a:solidFill>
                      <a:srgbClr val="005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13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STEP 1</a:t>
                      </a:r>
                    </a:p>
                    <a:p>
                      <a:r>
                        <a:rPr sz="1000" dirty="0" err="1"/>
                        <a:t>환경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준비</a:t>
                      </a:r>
                      <a:endParaRPr sz="1000" dirty="0"/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Kubernetes </a:t>
                      </a:r>
                      <a:r>
                        <a:rPr sz="1000" dirty="0" err="1"/>
                        <a:t>클러스터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구성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GPU </a:t>
                      </a:r>
                      <a:r>
                        <a:rPr sz="1000" dirty="0" err="1"/>
                        <a:t>노드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설정</a:t>
                      </a:r>
                      <a:endParaRPr sz="1000" dirty="0"/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K8s, NVIDIA Operator</a:t>
                      </a:r>
                    </a:p>
                    <a:p>
                      <a:pPr algn="l"/>
                      <a:r>
                        <a:rPr sz="1000" dirty="0"/>
                        <a:t>Helm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GPU </a:t>
                      </a:r>
                      <a:r>
                        <a:rPr sz="1000" dirty="0" err="1"/>
                        <a:t>드라이버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설치</a:t>
                      </a:r>
                      <a:r>
                        <a:rPr sz="1000" dirty="0"/>
                        <a:t> 및 Device Plugin </a:t>
                      </a:r>
                      <a:r>
                        <a:rPr sz="1000" dirty="0" err="1"/>
                        <a:t>배포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Namespace </a:t>
                      </a:r>
                      <a:r>
                        <a:rPr sz="1000" dirty="0" err="1"/>
                        <a:t>분리</a:t>
                      </a:r>
                      <a:r>
                        <a:rPr sz="1000" dirty="0"/>
                        <a:t> 및 </a:t>
                      </a:r>
                      <a:r>
                        <a:rPr sz="1000" dirty="0" err="1"/>
                        <a:t>ResourceQuota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설정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13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STEP 2</a:t>
                      </a:r>
                    </a:p>
                    <a:p>
                      <a:r>
                        <a:rPr sz="1000"/>
                        <a:t>JupyterHub 배포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Zero to </a:t>
                      </a:r>
                      <a:r>
                        <a:rPr sz="1000" dirty="0" err="1"/>
                        <a:t>JupyterHub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배포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SSO </a:t>
                      </a:r>
                      <a:r>
                        <a:rPr sz="1000" dirty="0" err="1"/>
                        <a:t>인증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연동</a:t>
                      </a:r>
                      <a:endParaRPr sz="1000" dirty="0"/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JupyterHub</a:t>
                      </a:r>
                      <a:r>
                        <a:rPr sz="1000" dirty="0"/>
                        <a:t>, OAuth</a:t>
                      </a:r>
                    </a:p>
                    <a:p>
                      <a:pPr algn="l"/>
                      <a:r>
                        <a:rPr sz="1000" dirty="0"/>
                        <a:t>Keycloak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Helm Chart 기반 </a:t>
                      </a:r>
                      <a:r>
                        <a:rPr sz="1000" dirty="0" err="1"/>
                        <a:t>JupyterHub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설치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LDAP/OAuth </a:t>
                      </a:r>
                      <a:r>
                        <a:rPr sz="1000" dirty="0" err="1"/>
                        <a:t>연동으로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통합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인증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13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STEP 3</a:t>
                      </a:r>
                    </a:p>
                    <a:p>
                      <a:r>
                        <a:rPr sz="1000"/>
                        <a:t>사용자 프로필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사용자별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이미지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설정</a:t>
                      </a:r>
                      <a:endParaRPr sz="1000" dirty="0"/>
                    </a:p>
                    <a:p>
                      <a:pPr algn="l"/>
                      <a:r>
                        <a:rPr sz="1000" dirty="0" err="1"/>
                        <a:t>리소스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프로필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정의</a:t>
                      </a:r>
                      <a:endParaRPr sz="1000" dirty="0"/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Docker, Spawner</a:t>
                      </a:r>
                    </a:p>
                    <a:p>
                      <a:pPr algn="l"/>
                      <a:r>
                        <a:rPr sz="1000" dirty="0" err="1"/>
                        <a:t>ProfileList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</a:t>
                      </a:r>
                      <a:r>
                        <a:rPr sz="1000" dirty="0" err="1"/>
                        <a:t>분석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목적별</a:t>
                      </a:r>
                      <a:r>
                        <a:rPr sz="1000" dirty="0"/>
                        <a:t> Docker </a:t>
                      </a:r>
                      <a:r>
                        <a:rPr sz="1000" dirty="0" err="1"/>
                        <a:t>이미지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구성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Small/Medium/Large/GPU </a:t>
                      </a:r>
                      <a:r>
                        <a:rPr sz="1000" dirty="0" err="1"/>
                        <a:t>프로필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13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STEP 4</a:t>
                      </a:r>
                    </a:p>
                    <a:p>
                      <a:r>
                        <a:rPr sz="1000"/>
                        <a:t>템플릿 구성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탐색적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분석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템플릿</a:t>
                      </a:r>
                      <a:endParaRPr sz="1000" dirty="0"/>
                    </a:p>
                    <a:p>
                      <a:pPr algn="l"/>
                      <a:r>
                        <a:rPr sz="1000" dirty="0" err="1"/>
                        <a:t>자연어</a:t>
                      </a:r>
                      <a:r>
                        <a:rPr sz="1000" dirty="0"/>
                        <a:t>/공간 </a:t>
                      </a:r>
                      <a:r>
                        <a:rPr sz="1000" dirty="0" err="1"/>
                        <a:t>분석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템플릿</a:t>
                      </a:r>
                      <a:endParaRPr sz="1000" dirty="0"/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Jupyter</a:t>
                      </a:r>
                      <a:r>
                        <a:rPr sz="1000" dirty="0"/>
                        <a:t> Notebooks</a:t>
                      </a:r>
                    </a:p>
                    <a:p>
                      <a:pPr algn="l"/>
                      <a:r>
                        <a:rPr sz="1000" dirty="0"/>
                        <a:t>Pandas, </a:t>
                      </a:r>
                      <a:r>
                        <a:rPr sz="1000" dirty="0" err="1"/>
                        <a:t>Geopandas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EDA </a:t>
                      </a:r>
                      <a:r>
                        <a:rPr sz="1000" dirty="0" err="1"/>
                        <a:t>자동화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템플릿</a:t>
                      </a:r>
                      <a:r>
                        <a:rPr sz="1000" dirty="0"/>
                        <a:t> (Profiling Report)</a:t>
                      </a:r>
                    </a:p>
                    <a:p>
                      <a:pPr algn="l"/>
                      <a:r>
                        <a:rPr sz="1000" dirty="0"/>
                        <a:t>- NLP/GIS </a:t>
                      </a:r>
                      <a:r>
                        <a:rPr sz="1000" dirty="0" err="1"/>
                        <a:t>분석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워크플로우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템플릿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913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STEP 5</a:t>
                      </a:r>
                    </a:p>
                    <a:p>
                      <a:r>
                        <a:rPr sz="1000"/>
                        <a:t>협업 환경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분석 프로젝트 공유</a:t>
                      </a:r>
                    </a:p>
                    <a:p>
                      <a:pPr algn="l"/>
                      <a:r>
                        <a:rPr sz="1000"/>
                        <a:t>결과 다운로드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MinIO</a:t>
                      </a:r>
                      <a:r>
                        <a:rPr sz="1000" dirty="0"/>
                        <a:t>, GitLab</a:t>
                      </a:r>
                    </a:p>
                    <a:p>
                      <a:pPr algn="l"/>
                      <a:r>
                        <a:rPr sz="1000" dirty="0"/>
                        <a:t>NFS Provisioner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</a:t>
                      </a:r>
                      <a:r>
                        <a:rPr sz="1000" dirty="0" err="1"/>
                        <a:t>공유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스토리지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구성</a:t>
                      </a:r>
                      <a:r>
                        <a:rPr sz="1000" dirty="0"/>
                        <a:t> (NFS/</a:t>
                      </a:r>
                      <a:r>
                        <a:rPr sz="1000" dirty="0" err="1"/>
                        <a:t>MinIO</a:t>
                      </a:r>
                      <a:r>
                        <a:rPr sz="1000" dirty="0"/>
                        <a:t>)</a:t>
                      </a:r>
                    </a:p>
                    <a:p>
                      <a:pPr algn="l"/>
                      <a:r>
                        <a:rPr sz="1000" dirty="0"/>
                        <a:t>- Git 기반 </a:t>
                      </a:r>
                      <a:r>
                        <a:rPr sz="1000" dirty="0" err="1"/>
                        <a:t>노트북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버전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관리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559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0824-6ED3-5921-1DA3-6A5626B77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C05196A-52C0-A854-522B-2B8E7986A6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2.5.2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분석 기능 구축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CF2B6FB4-3D71-57EC-D4A5-8F060D94F1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1139" y="145620"/>
            <a:ext cx="5400000" cy="21730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기능 요구사항 </a:t>
            </a:r>
            <a:r>
              <a:rPr lang="en-US" altLang="ko-KR" dirty="0"/>
              <a:t>&gt; 2.5 AI </a:t>
            </a:r>
            <a:r>
              <a:rPr lang="ko-KR" altLang="en-US" dirty="0"/>
              <a:t>데이터 분석환경 제공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2BC0405-ED79-8455-024C-6F36DC9294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최신 </a:t>
            </a:r>
            <a:r>
              <a:rPr lang="en-US" altLang="ko-KR" dirty="0"/>
              <a:t>SOTA </a:t>
            </a:r>
            <a:r>
              <a:rPr lang="ko-KR" altLang="en-US" dirty="0"/>
              <a:t>오픈소스 </a:t>
            </a:r>
            <a:r>
              <a:rPr lang="en-US" altLang="ko-KR" dirty="0"/>
              <a:t>LLM(Qwen3, </a:t>
            </a:r>
            <a:r>
              <a:rPr lang="en-US" altLang="ko-KR" dirty="0" err="1"/>
              <a:t>MiniMax</a:t>
            </a:r>
            <a:r>
              <a:rPr lang="en-US" altLang="ko-KR" dirty="0"/>
              <a:t> M1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을 도입하고</a:t>
            </a:r>
            <a:r>
              <a:rPr lang="en-US" altLang="ko-KR" dirty="0"/>
              <a:t>, </a:t>
            </a:r>
            <a:r>
              <a:rPr lang="en-US" altLang="ko-KR" dirty="0" err="1"/>
              <a:t>GraphRAG</a:t>
            </a:r>
            <a:r>
              <a:rPr lang="ko-KR" altLang="en-US" dirty="0"/>
              <a:t>와 </a:t>
            </a:r>
            <a:r>
              <a:rPr lang="en-US" altLang="ko-KR" dirty="0" err="1"/>
              <a:t>LangGraph</a:t>
            </a:r>
            <a:r>
              <a:rPr lang="en-US" altLang="ko-KR" dirty="0"/>
              <a:t> </a:t>
            </a:r>
            <a:r>
              <a:rPr lang="ko-KR" altLang="en-US" dirty="0"/>
              <a:t>기반 에이전트 시스템을 구축하여 지능형 데이터 패브릭 아키텍처를 실현하겠습니다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1D5D9E39-5AA3-19DF-9AB2-950303CD3C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플랫폼 데이터 플로우</a:t>
            </a:r>
          </a:p>
        </p:txBody>
      </p:sp>
      <p:grpSp>
        <p:nvGrpSpPr>
          <p:cNvPr id="83" name="그룹 151">
            <a:extLst>
              <a:ext uri="{FF2B5EF4-FFF2-40B4-BE49-F238E27FC236}">
                <a16:creationId xmlns:a16="http://schemas.microsoft.com/office/drawing/2014/main" id="{8A2EBC47-6AC8-94D0-8488-A10A449C3ADA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84" name="모서리가 둥근 직사각형 20">
              <a:extLst>
                <a:ext uri="{FF2B5EF4-FFF2-40B4-BE49-F238E27FC236}">
                  <a16:creationId xmlns:a16="http://schemas.microsoft.com/office/drawing/2014/main" id="{1719E158-7DA8-6368-1FA3-4E61897760D9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5" name="직사각형 153">
              <a:extLst>
                <a:ext uri="{FF2B5EF4-FFF2-40B4-BE49-F238E27FC236}">
                  <a16:creationId xmlns:a16="http://schemas.microsoft.com/office/drawing/2014/main" id="{542DDAE8-A66B-DC5C-51F6-F6CD048966C7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SFR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-006</a:t>
              </a:r>
            </a:p>
          </p:txBody>
        </p:sp>
        <p:sp>
          <p:nvSpPr>
            <p:cNvPr id="86" name="직사각형 154">
              <a:extLst>
                <a:ext uri="{FF2B5EF4-FFF2-40B4-BE49-F238E27FC236}">
                  <a16:creationId xmlns:a16="http://schemas.microsoft.com/office/drawing/2014/main" id="{7071CE7E-13B4-8950-F651-E358BD10749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87" name="직선 연결선 155">
              <a:extLst>
                <a:ext uri="{FF2B5EF4-FFF2-40B4-BE49-F238E27FC236}">
                  <a16:creationId xmlns:a16="http://schemas.microsoft.com/office/drawing/2014/main" id="{3FA4BB13-1A13-5E43-B8DE-6A7D7B3B9F64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4B49A6A-EA93-36BF-3371-1BDFBB0556EF}"/>
              </a:ext>
            </a:extLst>
          </p:cNvPr>
          <p:cNvGrpSpPr/>
          <p:nvPr/>
        </p:nvGrpSpPr>
        <p:grpSpPr>
          <a:xfrm>
            <a:off x="276252" y="2048163"/>
            <a:ext cx="1442180" cy="1296000"/>
            <a:chOff x="276252" y="2048163"/>
            <a:chExt cx="1442180" cy="1296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5A92D98-DE54-97A4-90C9-EF4CAF5294D0}"/>
                </a:ext>
              </a:extLst>
            </p:cNvPr>
            <p:cNvSpPr/>
            <p:nvPr/>
          </p:nvSpPr>
          <p:spPr>
            <a:xfrm>
              <a:off x="276252" y="2048163"/>
              <a:ext cx="1442180" cy="216000"/>
            </a:xfrm>
            <a:prstGeom prst="rect">
              <a:avLst/>
            </a:prstGeom>
            <a:solidFill>
              <a:srgbClr val="005BA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데이터 소스</a:t>
              </a: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E5013BE-DACF-3236-C0A1-71CC0FB9C2ED}"/>
                </a:ext>
              </a:extLst>
            </p:cNvPr>
            <p:cNvSpPr/>
            <p:nvPr/>
          </p:nvSpPr>
          <p:spPr>
            <a:xfrm>
              <a:off x="276252" y="2264163"/>
              <a:ext cx="1442180" cy="1080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5B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의료</a:t>
              </a:r>
              <a:r>
                <a:rPr dirty="0"/>
                <a:t> </a:t>
              </a:r>
              <a:r>
                <a:rPr dirty="0" err="1"/>
                <a:t>문헌</a:t>
              </a:r>
              <a:endParaRPr dirty="0"/>
            </a:p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연구</a:t>
              </a:r>
              <a:r>
                <a:rPr dirty="0"/>
                <a:t> </a:t>
              </a:r>
              <a:r>
                <a:rPr dirty="0" err="1"/>
                <a:t>보고서</a:t>
              </a:r>
              <a:endParaRPr dirty="0"/>
            </a:p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진료</a:t>
              </a:r>
              <a:r>
                <a:rPr dirty="0"/>
                <a:t> </a:t>
              </a:r>
              <a:r>
                <a:rPr dirty="0" err="1"/>
                <a:t>기록</a:t>
              </a:r>
              <a:endParaRPr dirty="0"/>
            </a:p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CDW </a:t>
              </a:r>
              <a:r>
                <a:rPr dirty="0" err="1"/>
                <a:t>메타데이터</a:t>
              </a:r>
              <a:endParaRPr dirty="0"/>
            </a:p>
          </p:txBody>
        </p:sp>
      </p:grpSp>
      <p:sp>
        <p:nvSpPr>
          <p:cNvPr id="4" name="Right Arrow 14">
            <a:extLst>
              <a:ext uri="{FF2B5EF4-FFF2-40B4-BE49-F238E27FC236}">
                <a16:creationId xmlns:a16="http://schemas.microsoft.com/office/drawing/2014/main" id="{ECD07FAE-145F-234C-FCFD-BF89ACE0C30A}"/>
              </a:ext>
            </a:extLst>
          </p:cNvPr>
          <p:cNvSpPr/>
          <p:nvPr/>
        </p:nvSpPr>
        <p:spPr>
          <a:xfrm>
            <a:off x="1932447" y="2768163"/>
            <a:ext cx="108000" cy="144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296AE99-1E1A-2627-C810-0FA743B59FF9}"/>
              </a:ext>
            </a:extLst>
          </p:cNvPr>
          <p:cNvGrpSpPr/>
          <p:nvPr/>
        </p:nvGrpSpPr>
        <p:grpSpPr>
          <a:xfrm>
            <a:off x="2254462" y="2048163"/>
            <a:ext cx="1442180" cy="1296000"/>
            <a:chOff x="2364252" y="2048163"/>
            <a:chExt cx="1442180" cy="1296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28E2738-5C50-E347-7792-CE5922101033}"/>
                </a:ext>
              </a:extLst>
            </p:cNvPr>
            <p:cNvSpPr/>
            <p:nvPr/>
          </p:nvSpPr>
          <p:spPr>
            <a:xfrm>
              <a:off x="2364252" y="2048163"/>
              <a:ext cx="1442180" cy="216000"/>
            </a:xfrm>
            <a:prstGeom prst="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전처리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EE580A7-E532-B2F6-C600-FB4F6EFC4D14}"/>
                </a:ext>
              </a:extLst>
            </p:cNvPr>
            <p:cNvSpPr/>
            <p:nvPr/>
          </p:nvSpPr>
          <p:spPr>
            <a:xfrm>
              <a:off x="2364252" y="2264163"/>
              <a:ext cx="1442180" cy="1080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A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문서</a:t>
              </a:r>
              <a:r>
                <a:rPr dirty="0"/>
                <a:t> </a:t>
              </a:r>
              <a:r>
                <a:rPr dirty="0" err="1"/>
                <a:t>청킹</a:t>
              </a:r>
              <a:endParaRPr dirty="0"/>
            </a:p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임베딩 </a:t>
              </a:r>
              <a:r>
                <a:rPr dirty="0" err="1"/>
                <a:t>생성</a:t>
              </a:r>
              <a:endParaRPr dirty="0"/>
            </a:p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그래프</a:t>
              </a:r>
              <a:r>
                <a:rPr dirty="0"/>
                <a:t> </a:t>
              </a:r>
              <a:r>
                <a:rPr dirty="0" err="1"/>
                <a:t>추출</a:t>
              </a:r>
              <a:endParaRPr dirty="0"/>
            </a:p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메타데이터</a:t>
              </a:r>
              <a:r>
                <a:rPr dirty="0"/>
                <a:t> </a:t>
              </a:r>
              <a:r>
                <a:rPr dirty="0" err="1"/>
                <a:t>정제</a:t>
              </a:r>
              <a:endParaRPr dirty="0"/>
            </a:p>
          </p:txBody>
        </p:sp>
      </p:grpSp>
      <p:sp>
        <p:nvSpPr>
          <p:cNvPr id="7" name="Right Arrow 17">
            <a:extLst>
              <a:ext uri="{FF2B5EF4-FFF2-40B4-BE49-F238E27FC236}">
                <a16:creationId xmlns:a16="http://schemas.microsoft.com/office/drawing/2014/main" id="{091E4263-5F37-9A4B-5BAD-A924A2A8F05D}"/>
              </a:ext>
            </a:extLst>
          </p:cNvPr>
          <p:cNvSpPr/>
          <p:nvPr/>
        </p:nvSpPr>
        <p:spPr>
          <a:xfrm>
            <a:off x="3910657" y="2768163"/>
            <a:ext cx="108000" cy="144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173C58A-956A-3849-CA11-F73D7BBB662E}"/>
              </a:ext>
            </a:extLst>
          </p:cNvPr>
          <p:cNvGrpSpPr/>
          <p:nvPr/>
        </p:nvGrpSpPr>
        <p:grpSpPr>
          <a:xfrm>
            <a:off x="4232672" y="2048163"/>
            <a:ext cx="1442180" cy="1296000"/>
            <a:chOff x="4452252" y="2048163"/>
            <a:chExt cx="1442180" cy="1296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DBCC86-48BB-465C-8D08-B48938EE392D}"/>
                </a:ext>
              </a:extLst>
            </p:cNvPr>
            <p:cNvSpPr/>
            <p:nvPr/>
          </p:nvSpPr>
          <p:spPr>
            <a:xfrm>
              <a:off x="4452252" y="2048163"/>
              <a:ext cx="1442180" cy="216000"/>
            </a:xfrm>
            <a:prstGeom prst="rect">
              <a:avLst/>
            </a:prstGeom>
            <a:solidFill>
              <a:srgbClr val="00A6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저장소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92A86AE-000C-1DB0-5733-62810D85D903}"/>
                </a:ext>
              </a:extLst>
            </p:cNvPr>
            <p:cNvSpPr/>
            <p:nvPr/>
          </p:nvSpPr>
          <p:spPr>
            <a:xfrm>
              <a:off x="4452252" y="2264163"/>
              <a:ext cx="1442180" cy="1080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0A6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Vector DB</a:t>
              </a:r>
              <a:br>
                <a:rPr dirty="0"/>
              </a:br>
              <a:r>
                <a:rPr dirty="0"/>
                <a:t>(Milvus)</a:t>
              </a:r>
            </a:p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Graph DB</a:t>
              </a:r>
              <a:br>
                <a:rPr dirty="0"/>
              </a:br>
              <a:r>
                <a:rPr dirty="0"/>
                <a:t>(Neo4j)</a:t>
              </a:r>
            </a:p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메타</a:t>
              </a:r>
              <a:r>
                <a:rPr dirty="0"/>
                <a:t> </a:t>
              </a:r>
              <a:r>
                <a:rPr dirty="0" err="1"/>
                <a:t>저장소</a:t>
              </a:r>
              <a:endParaRPr dirty="0"/>
            </a:p>
          </p:txBody>
        </p:sp>
      </p:grpSp>
      <p:sp>
        <p:nvSpPr>
          <p:cNvPr id="14" name="Right Arrow 20">
            <a:extLst>
              <a:ext uri="{FF2B5EF4-FFF2-40B4-BE49-F238E27FC236}">
                <a16:creationId xmlns:a16="http://schemas.microsoft.com/office/drawing/2014/main" id="{EA9A3528-4E03-5F42-6BD5-1AD6A2521855}"/>
              </a:ext>
            </a:extLst>
          </p:cNvPr>
          <p:cNvSpPr/>
          <p:nvPr/>
        </p:nvSpPr>
        <p:spPr>
          <a:xfrm>
            <a:off x="5888867" y="2768163"/>
            <a:ext cx="108000" cy="144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2EDC367-7949-2FE5-2757-27182E03E6B0}"/>
              </a:ext>
            </a:extLst>
          </p:cNvPr>
          <p:cNvGrpSpPr/>
          <p:nvPr/>
        </p:nvGrpSpPr>
        <p:grpSpPr>
          <a:xfrm>
            <a:off x="6210882" y="2048163"/>
            <a:ext cx="1442180" cy="1296000"/>
            <a:chOff x="6540251" y="2048163"/>
            <a:chExt cx="1442180" cy="1296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C9B5DF-EF41-126B-9044-AF16C64772E3}"/>
                </a:ext>
              </a:extLst>
            </p:cNvPr>
            <p:cNvSpPr/>
            <p:nvPr/>
          </p:nvSpPr>
          <p:spPr>
            <a:xfrm>
              <a:off x="6540251" y="2048163"/>
              <a:ext cx="1442180" cy="216000"/>
            </a:xfrm>
            <a:prstGeom prst="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AI 엔진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0AB72DC-15E2-D0DA-E9B0-C55740D3C004}"/>
                </a:ext>
              </a:extLst>
            </p:cNvPr>
            <p:cNvSpPr/>
            <p:nvPr/>
          </p:nvSpPr>
          <p:spPr>
            <a:xfrm>
              <a:off x="6540251" y="2264163"/>
              <a:ext cx="1442180" cy="1080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FF99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LLM </a:t>
              </a:r>
              <a:r>
                <a:rPr dirty="0" err="1"/>
                <a:t>추론</a:t>
              </a:r>
              <a:br>
                <a:rPr dirty="0"/>
              </a:br>
              <a:r>
                <a:rPr dirty="0"/>
                <a:t>(</a:t>
              </a:r>
              <a:r>
                <a:rPr dirty="0" err="1"/>
                <a:t>vLLM</a:t>
              </a:r>
              <a:r>
                <a:rPr dirty="0"/>
                <a:t>)</a:t>
              </a:r>
            </a:p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RAG </a:t>
              </a:r>
              <a:r>
                <a:rPr dirty="0" err="1"/>
                <a:t>검색</a:t>
              </a:r>
              <a:endParaRPr dirty="0"/>
            </a:p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Agent </a:t>
              </a:r>
              <a:r>
                <a:rPr dirty="0" err="1"/>
                <a:t>실행</a:t>
              </a:r>
              <a:endParaRPr dirty="0"/>
            </a:p>
          </p:txBody>
        </p:sp>
      </p:grpSp>
      <p:sp>
        <p:nvSpPr>
          <p:cNvPr id="17" name="Right Arrow 23">
            <a:extLst>
              <a:ext uri="{FF2B5EF4-FFF2-40B4-BE49-F238E27FC236}">
                <a16:creationId xmlns:a16="http://schemas.microsoft.com/office/drawing/2014/main" id="{9F05187C-B043-7DF7-7423-4445E893D2B2}"/>
              </a:ext>
            </a:extLst>
          </p:cNvPr>
          <p:cNvSpPr/>
          <p:nvPr/>
        </p:nvSpPr>
        <p:spPr>
          <a:xfrm>
            <a:off x="7867077" y="2768163"/>
            <a:ext cx="108000" cy="144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B3BEEA1-7745-A839-FCB8-66BD08A36C2A}"/>
              </a:ext>
            </a:extLst>
          </p:cNvPr>
          <p:cNvGrpSpPr/>
          <p:nvPr/>
        </p:nvGrpSpPr>
        <p:grpSpPr>
          <a:xfrm>
            <a:off x="8189095" y="2048163"/>
            <a:ext cx="1442180" cy="1296000"/>
            <a:chOff x="8628252" y="2048163"/>
            <a:chExt cx="1442180" cy="12960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2238046-7892-AD76-401C-A1EC170F86E3}"/>
                </a:ext>
              </a:extLst>
            </p:cNvPr>
            <p:cNvSpPr/>
            <p:nvPr/>
          </p:nvSpPr>
          <p:spPr>
            <a:xfrm>
              <a:off x="8628252" y="2048163"/>
              <a:ext cx="1442180" cy="216000"/>
            </a:xfrm>
            <a:prstGeom prst="rect">
              <a:avLst/>
            </a:prstGeom>
            <a:solidFill>
              <a:srgbClr val="7B68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 b="1">
                  <a:solidFill>
                    <a:srgbClr val="FFFFFF"/>
                  </a:solidFill>
                </a:defRPr>
              </a:pPr>
              <a:r>
                <a:t>서비스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E50437D-24BE-8404-3701-E39B4D946E4B}"/>
                </a:ext>
              </a:extLst>
            </p:cNvPr>
            <p:cNvSpPr/>
            <p:nvPr/>
          </p:nvSpPr>
          <p:spPr>
            <a:xfrm>
              <a:off x="8628252" y="2264163"/>
              <a:ext cx="1442180" cy="1080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7B68E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Text2SQL</a:t>
              </a:r>
            </a:p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Q&amp;A 챗봇</a:t>
              </a:r>
            </a:p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문서</a:t>
              </a:r>
              <a:r>
                <a:rPr dirty="0"/>
                <a:t> 요약</a:t>
              </a:r>
            </a:p>
            <a:p>
              <a:pPr>
                <a:spcAft>
                  <a:spcPts val="300"/>
                </a:spcAft>
                <a:defRPr sz="900">
                  <a:solidFill>
                    <a:srgbClr val="4D4D4D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이미지</a:t>
              </a:r>
              <a:r>
                <a:rPr dirty="0"/>
                <a:t> </a:t>
              </a:r>
              <a:r>
                <a:rPr dirty="0" err="1"/>
                <a:t>검색</a:t>
              </a:r>
              <a:endParaRPr dirty="0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71EBB7B-DC88-2146-0A65-C13561070C90}"/>
              </a:ext>
            </a:extLst>
          </p:cNvPr>
          <p:cNvSpPr txBox="1"/>
          <p:nvPr/>
        </p:nvSpPr>
        <p:spPr>
          <a:xfrm>
            <a:off x="6665661" y="3704163"/>
            <a:ext cx="101475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4D4D4D"/>
                </a:solidFill>
              </a:defRPr>
            </a:pPr>
            <a:r>
              <a:rPr dirty="0" err="1"/>
              <a:t>정확도</a:t>
            </a:r>
            <a:r>
              <a:rPr dirty="0"/>
              <a:t> 목표</a:t>
            </a:r>
          </a:p>
        </p:txBody>
      </p:sp>
      <p:sp>
        <p:nvSpPr>
          <p:cNvPr id="21" name="Rounded Rectangle 27">
            <a:extLst>
              <a:ext uri="{FF2B5EF4-FFF2-40B4-BE49-F238E27FC236}">
                <a16:creationId xmlns:a16="http://schemas.microsoft.com/office/drawing/2014/main" id="{948BE374-F373-B6E6-375F-78444753776B}"/>
              </a:ext>
            </a:extLst>
          </p:cNvPr>
          <p:cNvSpPr/>
          <p:nvPr/>
        </p:nvSpPr>
        <p:spPr>
          <a:xfrm>
            <a:off x="7860415" y="3704163"/>
            <a:ext cx="915337" cy="216000"/>
          </a:xfrm>
          <a:prstGeom prst="round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7F286C-4635-5474-D8E8-2CAC98BE847F}"/>
              </a:ext>
            </a:extLst>
          </p:cNvPr>
          <p:cNvSpPr txBox="1"/>
          <p:nvPr/>
        </p:nvSpPr>
        <p:spPr>
          <a:xfrm>
            <a:off x="8779387" y="3704163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A65A"/>
                </a:solidFill>
              </a:defRPr>
            </a:pPr>
            <a:r>
              <a:t>90%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349FCC-A938-05BF-3968-C2A9603DB31F}"/>
              </a:ext>
            </a:extLst>
          </p:cNvPr>
          <p:cNvSpPr txBox="1"/>
          <p:nvPr/>
        </p:nvSpPr>
        <p:spPr>
          <a:xfrm>
            <a:off x="6665661" y="4136162"/>
            <a:ext cx="101475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4D4D4D"/>
                </a:solidFill>
              </a:defRPr>
            </a:pPr>
            <a:r>
              <a:t>Text2SQL 응답</a:t>
            </a:r>
          </a:p>
        </p:txBody>
      </p:sp>
      <p:sp>
        <p:nvSpPr>
          <p:cNvPr id="24" name="Rounded Rectangle 30">
            <a:extLst>
              <a:ext uri="{FF2B5EF4-FFF2-40B4-BE49-F238E27FC236}">
                <a16:creationId xmlns:a16="http://schemas.microsoft.com/office/drawing/2014/main" id="{DDE71A71-37BD-6108-F82D-28BBBC68CA26}"/>
              </a:ext>
            </a:extLst>
          </p:cNvPr>
          <p:cNvSpPr/>
          <p:nvPr/>
        </p:nvSpPr>
        <p:spPr>
          <a:xfrm>
            <a:off x="7860415" y="4136162"/>
            <a:ext cx="864485" cy="21600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2B57BE-9791-4852-061B-661256250EA5}"/>
              </a:ext>
            </a:extLst>
          </p:cNvPr>
          <p:cNvSpPr txBox="1"/>
          <p:nvPr/>
        </p:nvSpPr>
        <p:spPr>
          <a:xfrm>
            <a:off x="8712860" y="4136162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AEEF"/>
                </a:solidFill>
              </a:defRPr>
            </a:pPr>
            <a:r>
              <a:t>85%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87286B-AC36-4E5D-A1A9-2E1AFBEEB0F3}"/>
              </a:ext>
            </a:extLst>
          </p:cNvPr>
          <p:cNvSpPr txBox="1"/>
          <p:nvPr/>
        </p:nvSpPr>
        <p:spPr>
          <a:xfrm>
            <a:off x="6665661" y="4568163"/>
            <a:ext cx="101475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4D4D4D"/>
                </a:solidFill>
              </a:defRPr>
            </a:pPr>
            <a:r>
              <a:t>GraphRAG 검색</a:t>
            </a:r>
          </a:p>
        </p:txBody>
      </p:sp>
      <p:sp>
        <p:nvSpPr>
          <p:cNvPr id="27" name="Rounded Rectangle 33">
            <a:extLst>
              <a:ext uri="{FF2B5EF4-FFF2-40B4-BE49-F238E27FC236}">
                <a16:creationId xmlns:a16="http://schemas.microsoft.com/office/drawing/2014/main" id="{96729110-B831-90D4-E012-C5DB19B3821A}"/>
              </a:ext>
            </a:extLst>
          </p:cNvPr>
          <p:cNvSpPr/>
          <p:nvPr/>
        </p:nvSpPr>
        <p:spPr>
          <a:xfrm>
            <a:off x="7860415" y="4568163"/>
            <a:ext cx="966189" cy="216000"/>
          </a:xfrm>
          <a:prstGeom prst="round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6B344A-41E5-9A83-B0E8-800C8AF3E8E8}"/>
              </a:ext>
            </a:extLst>
          </p:cNvPr>
          <p:cNvSpPr txBox="1"/>
          <p:nvPr/>
        </p:nvSpPr>
        <p:spPr>
          <a:xfrm>
            <a:off x="8830675" y="4568163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5BAC"/>
                </a:solidFill>
              </a:defRPr>
            </a:pPr>
            <a:r>
              <a:rPr dirty="0"/>
              <a:t>95%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DDC056-0E60-DD47-21E4-93AB5FC70EAF}"/>
              </a:ext>
            </a:extLst>
          </p:cNvPr>
          <p:cNvSpPr txBox="1"/>
          <p:nvPr/>
        </p:nvSpPr>
        <p:spPr>
          <a:xfrm>
            <a:off x="6665661" y="5000163"/>
            <a:ext cx="101475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4D4D4D"/>
                </a:solidFill>
              </a:defRPr>
            </a:pPr>
            <a:r>
              <a:t>동시 사용자</a:t>
            </a:r>
          </a:p>
        </p:txBody>
      </p:sp>
      <p:sp>
        <p:nvSpPr>
          <p:cNvPr id="30" name="Rounded Rectangle 36">
            <a:extLst>
              <a:ext uri="{FF2B5EF4-FFF2-40B4-BE49-F238E27FC236}">
                <a16:creationId xmlns:a16="http://schemas.microsoft.com/office/drawing/2014/main" id="{514AEE53-F38C-B1F8-98E4-FC9D374C4980}"/>
              </a:ext>
            </a:extLst>
          </p:cNvPr>
          <p:cNvSpPr/>
          <p:nvPr/>
        </p:nvSpPr>
        <p:spPr>
          <a:xfrm>
            <a:off x="7860415" y="5000163"/>
            <a:ext cx="813633" cy="2160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4C4CB6-0895-FBD1-A177-86691FBE5F78}"/>
              </a:ext>
            </a:extLst>
          </p:cNvPr>
          <p:cNvSpPr txBox="1"/>
          <p:nvPr/>
        </p:nvSpPr>
        <p:spPr>
          <a:xfrm>
            <a:off x="8638712" y="5000163"/>
            <a:ext cx="72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9900"/>
                </a:solidFill>
              </a:defRPr>
            </a:pPr>
            <a:r>
              <a:t>80%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CEC80E-D2EC-BAC9-5E18-8D6DBE686766}"/>
              </a:ext>
            </a:extLst>
          </p:cNvPr>
          <p:cNvSpPr/>
          <p:nvPr/>
        </p:nvSpPr>
        <p:spPr>
          <a:xfrm>
            <a:off x="6644094" y="5563042"/>
            <a:ext cx="3006214" cy="1800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  핵심 기술 스택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A4C53E-B187-87E4-767F-CA990CE97466}"/>
              </a:ext>
            </a:extLst>
          </p:cNvPr>
          <p:cNvSpPr/>
          <p:nvPr/>
        </p:nvSpPr>
        <p:spPr>
          <a:xfrm>
            <a:off x="6644094" y="5743042"/>
            <a:ext cx="3006214" cy="7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LLM: </a:t>
            </a:r>
            <a:r>
              <a:rPr dirty="0" err="1"/>
              <a:t>vLLM</a:t>
            </a:r>
            <a:r>
              <a:rPr dirty="0"/>
              <a:t> + Qwen3/</a:t>
            </a:r>
            <a:r>
              <a:rPr dirty="0" err="1"/>
              <a:t>MiniMax</a:t>
            </a:r>
            <a:r>
              <a:rPr dirty="0"/>
              <a:t> M1 (On-premise)</a:t>
            </a:r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RAG: </a:t>
            </a:r>
            <a:r>
              <a:rPr dirty="0" err="1"/>
              <a:t>LangChain</a:t>
            </a:r>
            <a:r>
              <a:rPr dirty="0"/>
              <a:t> + </a:t>
            </a:r>
            <a:r>
              <a:rPr lang="en-US" dirty="0" err="1"/>
              <a:t>Qdrant</a:t>
            </a:r>
            <a:r>
              <a:rPr dirty="0"/>
              <a:t> + Neo4j </a:t>
            </a:r>
            <a:r>
              <a:rPr dirty="0" err="1"/>
              <a:t>GraphRAG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Agent: </a:t>
            </a:r>
            <a:r>
              <a:rPr dirty="0" err="1"/>
              <a:t>LangGraph</a:t>
            </a:r>
            <a:endParaRPr dirty="0"/>
          </a:p>
        </p:txBody>
      </p:sp>
      <p:graphicFrame>
        <p:nvGraphicFramePr>
          <p:cNvPr id="39" name="Table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8372"/>
              </p:ext>
            </p:extLst>
          </p:nvPr>
        </p:nvGraphicFramePr>
        <p:xfrm>
          <a:off x="279125" y="3476002"/>
          <a:ext cx="5164458" cy="3007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35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41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dirty="0" err="1"/>
                        <a:t>구성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요소</a:t>
                      </a:r>
                      <a:endParaRPr sz="1000" dirty="0"/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dirty="0" err="1"/>
                        <a:t>오픈소스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기술</a:t>
                      </a:r>
                      <a:endParaRPr sz="1000" dirty="0"/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dirty="0" err="1"/>
                        <a:t>구현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방안</a:t>
                      </a:r>
                      <a:endParaRPr sz="1000" dirty="0"/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dirty="0"/>
                        <a:t>기대 </a:t>
                      </a:r>
                      <a:r>
                        <a:rPr sz="1000" dirty="0" err="1"/>
                        <a:t>효과</a:t>
                      </a:r>
                      <a:endParaRPr sz="1000" dirty="0"/>
                    </a:p>
                  </a:txBody>
                  <a:tcPr>
                    <a:solidFill>
                      <a:srgbClr val="005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32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LLM </a:t>
                      </a:r>
                      <a:r>
                        <a:rPr sz="1000" dirty="0" err="1"/>
                        <a:t>엔진</a:t>
                      </a:r>
                      <a:endParaRPr sz="1000" dirty="0"/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vLLM</a:t>
                      </a:r>
                      <a:r>
                        <a:rPr sz="1000" dirty="0"/>
                        <a:t>, </a:t>
                      </a:r>
                      <a:r>
                        <a:rPr sz="1000" dirty="0" err="1"/>
                        <a:t>Ollama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Qwen3, </a:t>
                      </a:r>
                      <a:r>
                        <a:rPr sz="1000" dirty="0" err="1"/>
                        <a:t>LLaMA</a:t>
                      </a:r>
                      <a:endParaRPr sz="1000" dirty="0"/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On-premise GPU </a:t>
                      </a:r>
                      <a:r>
                        <a:rPr sz="1000" dirty="0" err="1"/>
                        <a:t>서버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배포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모델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양자화</a:t>
                      </a:r>
                      <a:r>
                        <a:rPr sz="1000" dirty="0"/>
                        <a:t>(GPTQ/AWQ) </a:t>
                      </a:r>
                      <a:r>
                        <a:rPr sz="1000" dirty="0" err="1"/>
                        <a:t>적용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멀티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모델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서빙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구성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의료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도메인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특화</a:t>
                      </a:r>
                      <a:endParaRPr sz="1000" dirty="0"/>
                    </a:p>
                    <a:p>
                      <a:pPr algn="l"/>
                      <a:r>
                        <a:rPr sz="1000" dirty="0" err="1"/>
                        <a:t>응답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생성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32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GraphRAG</a:t>
                      </a:r>
                      <a:endParaRPr sz="1000" dirty="0"/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Neo4j, </a:t>
                      </a:r>
                      <a:r>
                        <a:rPr sz="1000" dirty="0" err="1"/>
                        <a:t>LangChain</a:t>
                      </a:r>
                      <a:endParaRPr sz="1000" dirty="0"/>
                    </a:p>
                    <a:p>
                      <a:pPr algn="l"/>
                      <a:r>
                        <a:rPr sz="1000" dirty="0" err="1"/>
                        <a:t>LlamaIndex</a:t>
                      </a:r>
                      <a:endParaRPr sz="1000" dirty="0"/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</a:t>
                      </a:r>
                      <a:r>
                        <a:rPr sz="1000" dirty="0" err="1"/>
                        <a:t>의료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온톨로지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지식그래프</a:t>
                      </a:r>
                      <a:r>
                        <a:rPr sz="1000" dirty="0"/>
                        <a:t> 구축</a:t>
                      </a:r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엔티티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추출</a:t>
                      </a:r>
                      <a:r>
                        <a:rPr sz="1000" dirty="0"/>
                        <a:t> 및 </a:t>
                      </a:r>
                      <a:r>
                        <a:rPr sz="1000" dirty="0" err="1"/>
                        <a:t>관계</a:t>
                      </a:r>
                      <a:r>
                        <a:rPr sz="1000" dirty="0"/>
                        <a:t> 매핑</a:t>
                      </a:r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그래프</a:t>
                      </a:r>
                      <a:r>
                        <a:rPr sz="1000" dirty="0"/>
                        <a:t> 임베딩 </a:t>
                      </a:r>
                      <a:r>
                        <a:rPr sz="1000" dirty="0" err="1"/>
                        <a:t>생성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정확도 높은</a:t>
                      </a:r>
                    </a:p>
                    <a:p>
                      <a:pPr algn="l"/>
                      <a:r>
                        <a:rPr sz="1000"/>
                        <a:t>컨텍스트 검색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32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Agent System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LangGraph</a:t>
                      </a:r>
                      <a:r>
                        <a:rPr sz="1000" dirty="0"/>
                        <a:t>, </a:t>
                      </a:r>
                      <a:r>
                        <a:rPr sz="1000" dirty="0" err="1"/>
                        <a:t>AutoGen</a:t>
                      </a:r>
                      <a:endParaRPr sz="1000" dirty="0"/>
                    </a:p>
                    <a:p>
                      <a:pPr algn="l"/>
                      <a:r>
                        <a:rPr sz="1000" dirty="0" err="1"/>
                        <a:t>CrewAI</a:t>
                      </a:r>
                      <a:endParaRPr sz="1000" dirty="0"/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Multi-Agent </a:t>
                      </a:r>
                      <a:r>
                        <a:rPr sz="1000" dirty="0" err="1"/>
                        <a:t>워크플로우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설계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Tool Use </a:t>
                      </a:r>
                      <a:r>
                        <a:rPr sz="1000" dirty="0" err="1"/>
                        <a:t>기능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구현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자율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의사결정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로직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복잡한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연구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질의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자동 </a:t>
                      </a:r>
                      <a:r>
                        <a:rPr sz="1000" dirty="0" err="1"/>
                        <a:t>처리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32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Text2SQL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LangChain</a:t>
                      </a:r>
                      <a:r>
                        <a:rPr sz="1000" dirty="0"/>
                        <a:t>, </a:t>
                      </a:r>
                      <a:r>
                        <a:rPr sz="1000" dirty="0" err="1"/>
                        <a:t>SQLAlchemy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Vanna.ai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</a:t>
                      </a:r>
                      <a:r>
                        <a:rPr sz="1000" dirty="0" err="1"/>
                        <a:t>스키마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메타데이터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학습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Few-shot </a:t>
                      </a:r>
                      <a:r>
                        <a:rPr sz="1000" dirty="0" err="1"/>
                        <a:t>프롬프팅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SQL </a:t>
                      </a:r>
                      <a:r>
                        <a:rPr sz="1000" dirty="0" err="1"/>
                        <a:t>검증</a:t>
                      </a:r>
                      <a:r>
                        <a:rPr sz="1000" dirty="0"/>
                        <a:t> 및 </a:t>
                      </a:r>
                      <a:r>
                        <a:rPr sz="1000" dirty="0" err="1"/>
                        <a:t>실행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자연어</a:t>
                      </a:r>
                      <a:r>
                        <a:rPr sz="1000" dirty="0"/>
                        <a:t> 기반</a:t>
                      </a:r>
                    </a:p>
                    <a:p>
                      <a:pPr algn="l"/>
                      <a:r>
                        <a:rPr sz="1000" dirty="0" err="1"/>
                        <a:t>데이터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조회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32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Vector Store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Milvus, Chroma</a:t>
                      </a:r>
                    </a:p>
                    <a:p>
                      <a:pPr algn="l"/>
                      <a:r>
                        <a:rPr sz="1000" dirty="0" err="1"/>
                        <a:t>PGVector</a:t>
                      </a:r>
                      <a:endParaRPr sz="1000" dirty="0"/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</a:t>
                      </a:r>
                      <a:r>
                        <a:rPr sz="1000" dirty="0" err="1"/>
                        <a:t>문서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청킹</a:t>
                      </a:r>
                      <a:r>
                        <a:rPr sz="1000" dirty="0"/>
                        <a:t> 및 임베딩</a:t>
                      </a:r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의료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문헌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인덱싱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하이브리드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검색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빠른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의미</a:t>
                      </a:r>
                      <a:r>
                        <a:rPr sz="1000" dirty="0"/>
                        <a:t> 기반</a:t>
                      </a:r>
                    </a:p>
                    <a:p>
                      <a:pPr algn="l"/>
                      <a:r>
                        <a:rPr sz="1000" dirty="0" err="1"/>
                        <a:t>유사도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검색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368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D1F5E-CA90-15BF-66B9-C7B06187E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CC1C48F-F30C-5CC8-87BC-3103587C9B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2.5.2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분석 기능 구축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30E6F9F-D0B9-DB71-CA49-807A564F10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1139" y="145620"/>
            <a:ext cx="5400000" cy="217304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기능 요구사항 </a:t>
            </a:r>
            <a:r>
              <a:rPr lang="en-US" altLang="ko-KR" dirty="0"/>
              <a:t>&gt; 2.5 AI </a:t>
            </a:r>
            <a:r>
              <a:rPr lang="ko-KR" altLang="en-US" dirty="0"/>
              <a:t>데이터 분석환경 제공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434DF5C1-54B2-ACF8-A155-52EC7F43A5C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 err="1"/>
              <a:t>LangGraph</a:t>
            </a:r>
            <a:r>
              <a:rPr lang="en-US" altLang="ko-KR" dirty="0"/>
              <a:t> </a:t>
            </a:r>
            <a:r>
              <a:rPr lang="ko-KR" altLang="en-US" dirty="0"/>
              <a:t>기반 </a:t>
            </a:r>
            <a:r>
              <a:rPr lang="en-US" altLang="ko-KR" dirty="0"/>
              <a:t>Multi-Agent </a:t>
            </a:r>
            <a:r>
              <a:rPr lang="ko-KR" altLang="en-US" dirty="0"/>
              <a:t>시스템과 </a:t>
            </a:r>
            <a:r>
              <a:rPr lang="en-US" altLang="ko-KR" dirty="0" err="1"/>
              <a:t>GraphRAG</a:t>
            </a:r>
            <a:r>
              <a:rPr lang="ko-KR" altLang="en-US" dirty="0"/>
              <a:t>를 결합하여</a:t>
            </a:r>
            <a:r>
              <a:rPr lang="en-US" altLang="ko-KR" dirty="0"/>
              <a:t>, </a:t>
            </a:r>
            <a:r>
              <a:rPr lang="ko-KR" altLang="en-US" dirty="0"/>
              <a:t>연구 기획부터 데이터 분석</a:t>
            </a:r>
            <a:r>
              <a:rPr lang="en-US" altLang="ko-KR" dirty="0"/>
              <a:t>, </a:t>
            </a:r>
            <a:r>
              <a:rPr lang="ko-KR" altLang="en-US" dirty="0"/>
              <a:t>문헌 참고까지 연구 전 주기를 지원하는 </a:t>
            </a:r>
            <a:r>
              <a:rPr lang="en-US" altLang="ko-KR" dirty="0"/>
              <a:t>AI Assistant</a:t>
            </a:r>
            <a:r>
              <a:rPr lang="ko-KR" altLang="en-US" dirty="0"/>
              <a:t>를 구축하고</a:t>
            </a:r>
            <a:r>
              <a:rPr lang="en-US" altLang="ko-KR" dirty="0"/>
              <a:t>, </a:t>
            </a:r>
            <a:r>
              <a:rPr lang="ko-KR" altLang="en-US" dirty="0"/>
              <a:t>온톨로지</a:t>
            </a:r>
            <a:r>
              <a:rPr lang="en-US" altLang="ko-KR" dirty="0"/>
              <a:t>(OWL) </a:t>
            </a:r>
            <a:r>
              <a:rPr lang="ko-KR" altLang="en-US" dirty="0"/>
              <a:t>기반 지식그래프와 최신 </a:t>
            </a:r>
            <a:r>
              <a:rPr lang="en-US" altLang="ko-KR" dirty="0"/>
              <a:t>LLM</a:t>
            </a:r>
            <a:r>
              <a:rPr lang="ko-KR" altLang="en-US" dirty="0"/>
              <a:t>을 결합하여 의료 도메인 특화 서비스를 제공하겠습니다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50FAC96-BD3F-296D-BD81-4AA3DA9437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단계별 구현 로드맵</a:t>
            </a:r>
          </a:p>
        </p:txBody>
      </p:sp>
      <p:grpSp>
        <p:nvGrpSpPr>
          <p:cNvPr id="83" name="그룹 151">
            <a:extLst>
              <a:ext uri="{FF2B5EF4-FFF2-40B4-BE49-F238E27FC236}">
                <a16:creationId xmlns:a16="http://schemas.microsoft.com/office/drawing/2014/main" id="{54160771-08C3-C3F4-5ABE-F9BB10C3D2AE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84" name="모서리가 둥근 직사각형 20">
              <a:extLst>
                <a:ext uri="{FF2B5EF4-FFF2-40B4-BE49-F238E27FC236}">
                  <a16:creationId xmlns:a16="http://schemas.microsoft.com/office/drawing/2014/main" id="{152AE321-FAC4-2BDA-448A-C7077510B5AA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5" name="직사각형 153">
              <a:extLst>
                <a:ext uri="{FF2B5EF4-FFF2-40B4-BE49-F238E27FC236}">
                  <a16:creationId xmlns:a16="http://schemas.microsoft.com/office/drawing/2014/main" id="{34CFC3B9-6CD5-49AD-1FFC-E3722FB88DE3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SFR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-006</a:t>
              </a:r>
            </a:p>
          </p:txBody>
        </p:sp>
        <p:sp>
          <p:nvSpPr>
            <p:cNvPr id="86" name="직사각형 154">
              <a:extLst>
                <a:ext uri="{FF2B5EF4-FFF2-40B4-BE49-F238E27FC236}">
                  <a16:creationId xmlns:a16="http://schemas.microsoft.com/office/drawing/2014/main" id="{8F13D951-131A-C914-8343-21DD6E86E22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87" name="직선 연결선 155">
              <a:extLst>
                <a:ext uri="{FF2B5EF4-FFF2-40B4-BE49-F238E27FC236}">
                  <a16:creationId xmlns:a16="http://schemas.microsoft.com/office/drawing/2014/main" id="{8434872D-197A-D010-C814-EF2F0DD75B15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Rectangle 66"/>
          <p:cNvSpPr/>
          <p:nvPr/>
        </p:nvSpPr>
        <p:spPr>
          <a:xfrm>
            <a:off x="281792" y="2194998"/>
            <a:ext cx="9343200" cy="540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31174" y="2104998"/>
            <a:ext cx="169876" cy="180000"/>
          </a:xfrm>
          <a:prstGeom prst="ellipse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81792" y="1906998"/>
            <a:ext cx="1868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5BAC"/>
                </a:solidFill>
              </a:defRPr>
            </a:pPr>
            <a:r>
              <a:t>Phase 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81792" y="2338997"/>
            <a:ext cx="198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D4D4D"/>
                </a:solidFill>
              </a:defRPr>
            </a:pPr>
            <a:r>
              <a:t>2개월</a:t>
            </a:r>
          </a:p>
        </p:txBody>
      </p:sp>
      <p:sp>
        <p:nvSpPr>
          <p:cNvPr id="71" name="Rounded Rectangle 16"/>
          <p:cNvSpPr/>
          <p:nvPr/>
        </p:nvSpPr>
        <p:spPr>
          <a:xfrm>
            <a:off x="699174" y="2518997"/>
            <a:ext cx="1033876" cy="900000"/>
          </a:xfrm>
          <a:prstGeom prst="roundRect">
            <a:avLst/>
          </a:prstGeom>
          <a:solidFill>
            <a:srgbClr val="E6F3FA"/>
          </a:solidFill>
          <a:ln w="127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800">
                <a:solidFill>
                  <a:srgbClr val="4D4D4D"/>
                </a:solidFill>
              </a:defRPr>
            </a:pPr>
            <a:r>
              <a:rPr dirty="0"/>
              <a:t>• GPU </a:t>
            </a:r>
            <a:r>
              <a:rPr dirty="0" err="1"/>
              <a:t>서버</a:t>
            </a:r>
            <a:r>
              <a:rPr dirty="0"/>
              <a:t> </a:t>
            </a:r>
            <a:r>
              <a:rPr dirty="0" err="1"/>
              <a:t>구성</a:t>
            </a:r>
            <a:endParaRPr dirty="0"/>
          </a:p>
          <a:p>
            <a:pPr>
              <a:spcAft>
                <a:spcPts val="200"/>
              </a:spcAft>
              <a:defRPr sz="8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vLLM</a:t>
            </a:r>
            <a:r>
              <a:rPr dirty="0"/>
              <a:t> </a:t>
            </a:r>
            <a:r>
              <a:rPr dirty="0" err="1"/>
              <a:t>배포</a:t>
            </a:r>
            <a:endParaRPr dirty="0"/>
          </a:p>
          <a:p>
            <a:pPr>
              <a:spcAft>
                <a:spcPts val="200"/>
              </a:spcAft>
              <a:defRPr sz="800">
                <a:solidFill>
                  <a:srgbClr val="4D4D4D"/>
                </a:solidFill>
              </a:defRPr>
            </a:pPr>
            <a:r>
              <a:rPr dirty="0"/>
              <a:t>• Vector DB 구축</a:t>
            </a:r>
          </a:p>
        </p:txBody>
      </p:sp>
      <p:sp>
        <p:nvSpPr>
          <p:cNvPr id="72" name="Oval 71"/>
          <p:cNvSpPr/>
          <p:nvPr/>
        </p:nvSpPr>
        <p:spPr>
          <a:xfrm>
            <a:off x="3166854" y="2104998"/>
            <a:ext cx="169876" cy="18000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2317472" y="1906998"/>
            <a:ext cx="1868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EEF"/>
                </a:solidFill>
              </a:defRPr>
            </a:pPr>
            <a:r>
              <a:t>Phase 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61792" y="2338997"/>
            <a:ext cx="198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D4D4D"/>
                </a:solidFill>
              </a:defRPr>
            </a:pPr>
            <a:r>
              <a:t>3개월</a:t>
            </a:r>
          </a:p>
        </p:txBody>
      </p:sp>
      <p:sp>
        <p:nvSpPr>
          <p:cNvPr id="75" name="Rounded Rectangle 20"/>
          <p:cNvSpPr/>
          <p:nvPr/>
        </p:nvSpPr>
        <p:spPr>
          <a:xfrm>
            <a:off x="2734854" y="2518997"/>
            <a:ext cx="1033876" cy="900000"/>
          </a:xfrm>
          <a:prstGeom prst="roundRect">
            <a:avLst/>
          </a:prstGeom>
          <a:solidFill>
            <a:srgbClr val="E6F3FA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8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온톨로지</a:t>
            </a:r>
            <a:r>
              <a:rPr dirty="0"/>
              <a:t> </a:t>
            </a:r>
            <a:r>
              <a:rPr dirty="0" err="1"/>
              <a:t>설계</a:t>
            </a:r>
            <a:endParaRPr dirty="0"/>
          </a:p>
          <a:p>
            <a:pPr>
              <a:spcAft>
                <a:spcPts val="200"/>
              </a:spcAft>
              <a:defRPr sz="800">
                <a:solidFill>
                  <a:srgbClr val="4D4D4D"/>
                </a:solidFill>
              </a:defRPr>
            </a:pPr>
            <a:r>
              <a:rPr dirty="0"/>
              <a:t>• Neo4j 구축</a:t>
            </a:r>
          </a:p>
          <a:p>
            <a:pPr>
              <a:spcAft>
                <a:spcPts val="200"/>
              </a:spcAft>
              <a:defRPr sz="8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엔티티</a:t>
            </a:r>
            <a:r>
              <a:rPr dirty="0"/>
              <a:t> </a:t>
            </a:r>
            <a:r>
              <a:rPr dirty="0" err="1"/>
              <a:t>추출</a:t>
            </a:r>
            <a:endParaRPr dirty="0"/>
          </a:p>
        </p:txBody>
      </p:sp>
      <p:sp>
        <p:nvSpPr>
          <p:cNvPr id="76" name="Oval 75"/>
          <p:cNvSpPr/>
          <p:nvPr/>
        </p:nvSpPr>
        <p:spPr>
          <a:xfrm>
            <a:off x="5146854" y="2104998"/>
            <a:ext cx="169876" cy="18000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297472" y="1906998"/>
            <a:ext cx="1868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A65A"/>
                </a:solidFill>
              </a:defRPr>
            </a:pPr>
            <a:r>
              <a:t>Phase 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41792" y="2338997"/>
            <a:ext cx="198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D4D4D"/>
                </a:solidFill>
              </a:defRPr>
            </a:pPr>
            <a:r>
              <a:t>3개월</a:t>
            </a:r>
          </a:p>
        </p:txBody>
      </p:sp>
      <p:sp>
        <p:nvSpPr>
          <p:cNvPr id="79" name="Rounded Rectangle 24"/>
          <p:cNvSpPr/>
          <p:nvPr/>
        </p:nvSpPr>
        <p:spPr>
          <a:xfrm>
            <a:off x="4714854" y="2518997"/>
            <a:ext cx="1033876" cy="900000"/>
          </a:xfrm>
          <a:prstGeom prst="roundRect">
            <a:avLst/>
          </a:prstGeom>
          <a:solidFill>
            <a:srgbClr val="E6F3FA"/>
          </a:solidFill>
          <a:ln w="12700">
            <a:solidFill>
              <a:srgbClr val="00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8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문서</a:t>
            </a:r>
            <a:r>
              <a:rPr dirty="0"/>
              <a:t> 임베딩</a:t>
            </a:r>
          </a:p>
          <a:p>
            <a:pPr>
              <a:spcAft>
                <a:spcPts val="200"/>
              </a:spcAft>
              <a:defRPr sz="8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GraphRAG</a:t>
            </a:r>
            <a:r>
              <a:rPr dirty="0"/>
              <a:t> </a:t>
            </a:r>
            <a:r>
              <a:rPr dirty="0" err="1"/>
              <a:t>개발</a:t>
            </a:r>
            <a:endParaRPr dirty="0"/>
          </a:p>
          <a:p>
            <a:pPr>
              <a:spcAft>
                <a:spcPts val="200"/>
              </a:spcAft>
              <a:defRPr sz="8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하이브리드</a:t>
            </a:r>
            <a:r>
              <a:rPr dirty="0"/>
              <a:t> </a:t>
            </a:r>
            <a:r>
              <a:rPr dirty="0" err="1"/>
              <a:t>검색</a:t>
            </a:r>
            <a:endParaRPr dirty="0"/>
          </a:p>
        </p:txBody>
      </p:sp>
      <p:sp>
        <p:nvSpPr>
          <p:cNvPr id="80" name="Oval 79"/>
          <p:cNvSpPr/>
          <p:nvPr/>
        </p:nvSpPr>
        <p:spPr>
          <a:xfrm>
            <a:off x="7054662" y="2104998"/>
            <a:ext cx="169876" cy="18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205280" y="1906998"/>
            <a:ext cx="1868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9900"/>
                </a:solidFill>
              </a:defRPr>
            </a:pPr>
            <a:r>
              <a:t>Phase 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49600" y="2338997"/>
            <a:ext cx="198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D4D4D"/>
                </a:solidFill>
              </a:defRPr>
            </a:pPr>
            <a:r>
              <a:t>2개월</a:t>
            </a:r>
          </a:p>
        </p:txBody>
      </p:sp>
      <p:sp>
        <p:nvSpPr>
          <p:cNvPr id="88" name="Rounded Rectangle 28"/>
          <p:cNvSpPr/>
          <p:nvPr/>
        </p:nvSpPr>
        <p:spPr>
          <a:xfrm>
            <a:off x="6622662" y="2518997"/>
            <a:ext cx="1033876" cy="900000"/>
          </a:xfrm>
          <a:prstGeom prst="roundRect">
            <a:avLst/>
          </a:prstGeom>
          <a:solidFill>
            <a:srgbClr val="E6F3FA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800">
                <a:solidFill>
                  <a:srgbClr val="4D4D4D"/>
                </a:solidFill>
              </a:defRPr>
            </a:pPr>
            <a:r>
              <a:rPr dirty="0"/>
              <a:t>• Tool </a:t>
            </a:r>
            <a:r>
              <a:rPr dirty="0" err="1"/>
              <a:t>정의</a:t>
            </a:r>
            <a:endParaRPr dirty="0"/>
          </a:p>
          <a:p>
            <a:pPr>
              <a:spcAft>
                <a:spcPts val="200"/>
              </a:spcAft>
              <a:defRPr sz="800">
                <a:solidFill>
                  <a:srgbClr val="4D4D4D"/>
                </a:solidFill>
              </a:defRPr>
            </a:pPr>
            <a:r>
              <a:rPr dirty="0"/>
              <a:t>• Agent </a:t>
            </a:r>
            <a:r>
              <a:rPr dirty="0" err="1"/>
              <a:t>워크플로우</a:t>
            </a:r>
            <a:endParaRPr dirty="0"/>
          </a:p>
          <a:p>
            <a:pPr>
              <a:spcAft>
                <a:spcPts val="200"/>
              </a:spcAft>
              <a:defRPr sz="8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자율</a:t>
            </a:r>
            <a:r>
              <a:rPr dirty="0"/>
              <a:t> </a:t>
            </a:r>
            <a:r>
              <a:rPr dirty="0" err="1"/>
              <a:t>실행</a:t>
            </a:r>
            <a:r>
              <a:rPr dirty="0"/>
              <a:t> </a:t>
            </a:r>
            <a:r>
              <a:rPr dirty="0" err="1"/>
              <a:t>로직</a:t>
            </a:r>
            <a:endParaRPr dirty="0"/>
          </a:p>
        </p:txBody>
      </p:sp>
      <p:sp>
        <p:nvSpPr>
          <p:cNvPr id="89" name="Oval 88"/>
          <p:cNvSpPr/>
          <p:nvPr/>
        </p:nvSpPr>
        <p:spPr>
          <a:xfrm>
            <a:off x="8800041" y="2104998"/>
            <a:ext cx="169876" cy="18000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950659" y="1906998"/>
            <a:ext cx="1868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B68EE"/>
                </a:solidFill>
              </a:defRPr>
            </a:pPr>
            <a:r>
              <a:t>Phase 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94979" y="2338997"/>
            <a:ext cx="1980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4D4D4D"/>
                </a:solidFill>
              </a:defRPr>
            </a:pPr>
            <a:r>
              <a:t>2개월</a:t>
            </a:r>
          </a:p>
        </p:txBody>
      </p:sp>
      <p:sp>
        <p:nvSpPr>
          <p:cNvPr id="92" name="Rounded Rectangle 32"/>
          <p:cNvSpPr/>
          <p:nvPr/>
        </p:nvSpPr>
        <p:spPr>
          <a:xfrm>
            <a:off x="8368041" y="2518997"/>
            <a:ext cx="1033876" cy="900000"/>
          </a:xfrm>
          <a:prstGeom prst="roundRect">
            <a:avLst/>
          </a:prstGeom>
          <a:solidFill>
            <a:srgbClr val="E6F3FA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8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채팅</a:t>
            </a:r>
            <a:r>
              <a:rPr dirty="0"/>
              <a:t> UI </a:t>
            </a:r>
            <a:r>
              <a:rPr dirty="0" err="1"/>
              <a:t>개발</a:t>
            </a:r>
            <a:endParaRPr dirty="0"/>
          </a:p>
          <a:p>
            <a:pPr>
              <a:spcAft>
                <a:spcPts val="200"/>
              </a:spcAft>
              <a:defRPr sz="8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멀티모달</a:t>
            </a:r>
            <a:r>
              <a:rPr dirty="0"/>
              <a:t> </a:t>
            </a:r>
            <a:r>
              <a:rPr dirty="0" err="1"/>
              <a:t>지원</a:t>
            </a:r>
            <a:endParaRPr dirty="0"/>
          </a:p>
          <a:p>
            <a:pPr>
              <a:spcAft>
                <a:spcPts val="200"/>
              </a:spcAft>
              <a:defRPr sz="8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시각화</a:t>
            </a:r>
            <a:endParaRPr dirty="0"/>
          </a:p>
        </p:txBody>
      </p:sp>
      <p:sp>
        <p:nvSpPr>
          <p:cNvPr id="93" name="Rectangle 92"/>
          <p:cNvSpPr/>
          <p:nvPr/>
        </p:nvSpPr>
        <p:spPr>
          <a:xfrm>
            <a:off x="7386812" y="3722796"/>
            <a:ext cx="2252488" cy="18000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  멀티모달 기능 구현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86812" y="3902796"/>
            <a:ext cx="2252488" cy="965030"/>
          </a:xfrm>
          <a:prstGeom prst="rect">
            <a:avLst/>
          </a:prstGeom>
          <a:solidFill>
            <a:srgbClr val="FFFFFF"/>
          </a:solidFill>
          <a:ln w="12700">
            <a:solidFill>
              <a:srgbClr val="7B6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X-RAY </a:t>
            </a:r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검색</a:t>
            </a:r>
            <a:r>
              <a:rPr dirty="0"/>
              <a:t> </a:t>
            </a:r>
            <a:r>
              <a:rPr lang="en-US" altLang="ko-KR" dirty="0"/>
              <a:t>(</a:t>
            </a:r>
            <a:r>
              <a:rPr dirty="0" err="1"/>
              <a:t>BiomedCLIP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PDF/</a:t>
            </a:r>
            <a:r>
              <a:rPr dirty="0" err="1"/>
              <a:t>문서</a:t>
            </a:r>
            <a:r>
              <a:rPr dirty="0"/>
              <a:t> 자동 </a:t>
            </a:r>
            <a:r>
              <a:rPr dirty="0" err="1"/>
              <a:t>파싱</a:t>
            </a:r>
            <a:r>
              <a:rPr dirty="0"/>
              <a:t> (</a:t>
            </a:r>
            <a:r>
              <a:rPr dirty="0" err="1"/>
              <a:t>LlamaParse</a:t>
            </a:r>
            <a:r>
              <a:rPr dirty="0"/>
              <a:t>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386812" y="5333975"/>
            <a:ext cx="2252488" cy="180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  성능 검증 기준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386812" y="5513975"/>
            <a:ext cx="2252488" cy="965030"/>
          </a:xfrm>
          <a:prstGeom prst="rect">
            <a:avLst/>
          </a:prstGeom>
          <a:solidFill>
            <a:srgbClr val="FFFFFF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테스트케이스</a:t>
            </a:r>
            <a:r>
              <a:rPr dirty="0"/>
              <a:t> </a:t>
            </a:r>
            <a:r>
              <a:rPr dirty="0" err="1"/>
              <a:t>정확도</a:t>
            </a:r>
            <a:r>
              <a:rPr dirty="0"/>
              <a:t> 90% </a:t>
            </a:r>
            <a:r>
              <a:rPr dirty="0" err="1"/>
              <a:t>이상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LLM </a:t>
            </a:r>
            <a:r>
              <a:rPr dirty="0" err="1"/>
              <a:t>응답</a:t>
            </a:r>
            <a:r>
              <a:rPr dirty="0"/>
              <a:t> 시간 5초 </a:t>
            </a:r>
            <a:r>
              <a:rPr dirty="0" err="1"/>
              <a:t>이내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동시</a:t>
            </a:r>
            <a:r>
              <a:rPr dirty="0"/>
              <a:t> 사용자 10명 </a:t>
            </a:r>
            <a:r>
              <a:rPr dirty="0" err="1"/>
              <a:t>지원</a:t>
            </a:r>
            <a:endParaRPr dirty="0"/>
          </a:p>
        </p:txBody>
      </p:sp>
      <p:graphicFrame>
        <p:nvGraphicFramePr>
          <p:cNvPr id="97" name="Table 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0446800"/>
              </p:ext>
            </p:extLst>
          </p:nvPr>
        </p:nvGraphicFramePr>
        <p:xfrm>
          <a:off x="281792" y="3474718"/>
          <a:ext cx="6119008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4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dirty="0"/>
                        <a:t>Phase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dirty="0" err="1"/>
                        <a:t>구현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단계</a:t>
                      </a:r>
                      <a:endParaRPr sz="1000" dirty="0"/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dirty="0" err="1"/>
                        <a:t>상세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작업</a:t>
                      </a:r>
                      <a:endParaRPr sz="1000" dirty="0"/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dirty="0" err="1"/>
                        <a:t>기술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스택</a:t>
                      </a:r>
                      <a:endParaRPr sz="1000" dirty="0"/>
                    </a:p>
                  </a:txBody>
                  <a:tcPr>
                    <a:solidFill>
                      <a:srgbClr val="005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05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Phase 1</a:t>
                      </a:r>
                    </a:p>
                    <a:p>
                      <a:pPr algn="l"/>
                      <a:r>
                        <a:rPr sz="1000" dirty="0"/>
                        <a:t>(2개월)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인프라</a:t>
                      </a:r>
                      <a:r>
                        <a:rPr sz="1000" dirty="0"/>
                        <a:t> 구축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GPU </a:t>
                      </a:r>
                      <a:r>
                        <a:rPr sz="1000" dirty="0" err="1"/>
                        <a:t>서버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구성</a:t>
                      </a:r>
                      <a:r>
                        <a:rPr sz="1000" dirty="0"/>
                        <a:t> (CUDA, </a:t>
                      </a:r>
                      <a:r>
                        <a:rPr sz="1000" dirty="0" err="1"/>
                        <a:t>cuDNN</a:t>
                      </a:r>
                      <a:r>
                        <a:rPr sz="1000" dirty="0"/>
                        <a:t>)</a:t>
                      </a:r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vLLM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서빙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인프라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배포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Vector DB </a:t>
                      </a:r>
                      <a:r>
                        <a:rPr sz="1000" dirty="0" err="1"/>
                        <a:t>클러스터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구성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Docker, K8s</a:t>
                      </a:r>
                    </a:p>
                    <a:p>
                      <a:pPr algn="l"/>
                      <a:r>
                        <a:rPr sz="1000" dirty="0" err="1"/>
                        <a:t>vLLM</a:t>
                      </a:r>
                      <a:r>
                        <a:rPr sz="1000" dirty="0"/>
                        <a:t>, Milvus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05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Phase 2</a:t>
                      </a:r>
                    </a:p>
                    <a:p>
                      <a:pPr algn="l"/>
                      <a:r>
                        <a:rPr sz="1000" dirty="0"/>
                        <a:t>(3개월)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지식그래프</a:t>
                      </a:r>
                      <a:r>
                        <a:rPr sz="1000" dirty="0"/>
                        <a:t> 구축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</a:t>
                      </a:r>
                      <a:r>
                        <a:rPr sz="1000" dirty="0" err="1"/>
                        <a:t>의료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온톨로지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설계</a:t>
                      </a:r>
                      <a:r>
                        <a:rPr sz="1000" dirty="0"/>
                        <a:t> (OWL)</a:t>
                      </a:r>
                    </a:p>
                    <a:p>
                      <a:pPr algn="l"/>
                      <a:r>
                        <a:rPr sz="1000" dirty="0"/>
                        <a:t>- Neo4j </a:t>
                      </a:r>
                      <a:r>
                        <a:rPr sz="1000" dirty="0" err="1"/>
                        <a:t>그래프</a:t>
                      </a:r>
                      <a:r>
                        <a:rPr sz="1000" dirty="0"/>
                        <a:t> DB 구축</a:t>
                      </a:r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엔티티</a:t>
                      </a:r>
                      <a:r>
                        <a:rPr sz="1000" dirty="0"/>
                        <a:t>/</a:t>
                      </a:r>
                      <a:r>
                        <a:rPr sz="1000" dirty="0" err="1"/>
                        <a:t>관계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추출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파이프라인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Neo4j, spaCy</a:t>
                      </a:r>
                    </a:p>
                    <a:p>
                      <a:pPr algn="l"/>
                      <a:r>
                        <a:rPr sz="1000"/>
                        <a:t>LlamaIndex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05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Phase 3</a:t>
                      </a:r>
                    </a:p>
                    <a:p>
                      <a:pPr algn="l"/>
                      <a:r>
                        <a:rPr sz="1000" dirty="0"/>
                        <a:t>(3개월)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RAG 시스템 </a:t>
                      </a:r>
                      <a:r>
                        <a:rPr sz="1000" dirty="0" err="1"/>
                        <a:t>개발</a:t>
                      </a:r>
                      <a:endParaRPr sz="1000" dirty="0"/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</a:t>
                      </a:r>
                      <a:r>
                        <a:rPr sz="1000" dirty="0" err="1"/>
                        <a:t>문서</a:t>
                      </a:r>
                      <a:r>
                        <a:rPr sz="1000" dirty="0"/>
                        <a:t> 임베딩 </a:t>
                      </a:r>
                      <a:r>
                        <a:rPr sz="1000" dirty="0" err="1"/>
                        <a:t>파이프라인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GraphRAG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검색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엔진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하이브리드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검색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구현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LangChain</a:t>
                      </a:r>
                      <a:r>
                        <a:rPr sz="1000" dirty="0"/>
                        <a:t>, Chroma</a:t>
                      </a:r>
                    </a:p>
                    <a:p>
                      <a:pPr algn="l"/>
                      <a:r>
                        <a:rPr sz="1000" dirty="0"/>
                        <a:t>BGE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05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Phase 4</a:t>
                      </a:r>
                    </a:p>
                    <a:p>
                      <a:pPr algn="l"/>
                      <a:r>
                        <a:rPr sz="1000" dirty="0"/>
                        <a:t>(2개월)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Agent </a:t>
                      </a:r>
                      <a:r>
                        <a:rPr sz="1000" dirty="0" err="1"/>
                        <a:t>개발</a:t>
                      </a:r>
                      <a:endParaRPr sz="1000" dirty="0"/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Tool </a:t>
                      </a:r>
                      <a:r>
                        <a:rPr sz="1000" dirty="0" err="1"/>
                        <a:t>정의</a:t>
                      </a:r>
                      <a:r>
                        <a:rPr sz="1000" dirty="0"/>
                        <a:t> 및 </a:t>
                      </a:r>
                      <a:r>
                        <a:rPr sz="1000" dirty="0" err="1"/>
                        <a:t>연결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Multi-Agent </a:t>
                      </a:r>
                      <a:r>
                        <a:rPr sz="1000" dirty="0" err="1"/>
                        <a:t>워크플로우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자율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실행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로직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구현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LangGraph</a:t>
                      </a:r>
                      <a:r>
                        <a:rPr sz="1000" dirty="0"/>
                        <a:t>, </a:t>
                      </a:r>
                      <a:r>
                        <a:rPr sz="1000" dirty="0" err="1"/>
                        <a:t>AutoGen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05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Phase 5</a:t>
                      </a:r>
                    </a:p>
                    <a:p>
                      <a:pPr algn="l"/>
                      <a:r>
                        <a:rPr sz="1000" dirty="0"/>
                        <a:t>(2개월)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UI/UX </a:t>
                      </a:r>
                      <a:r>
                        <a:rPr sz="1000" dirty="0" err="1"/>
                        <a:t>개발</a:t>
                      </a:r>
                      <a:endParaRPr sz="1000" dirty="0"/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</a:t>
                      </a:r>
                      <a:r>
                        <a:rPr sz="1000" dirty="0" err="1"/>
                        <a:t>채팅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인터페이스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개발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멀티모달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입력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지원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결과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시각화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React, </a:t>
                      </a:r>
                      <a:r>
                        <a:rPr sz="1000" dirty="0" err="1"/>
                        <a:t>FastAPI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790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D9B4F-5B36-B11A-9F0B-7FFBFA7D6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0321DEE-6E70-03E2-642C-E1EDF3E7CE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4.1 </a:t>
            </a:r>
            <a:r>
              <a:rPr lang="ko-KR" altLang="en-US" dirty="0"/>
              <a:t>데이터 취득 방식의 일관성 유지 방안 수립</a:t>
            </a:r>
            <a:r>
              <a:rPr lang="en-US" altLang="ko-KR" dirty="0"/>
              <a:t>(1/2)</a:t>
            </a:r>
            <a:r>
              <a:rPr lang="ko-KR" altLang="en-US" dirty="0"/>
              <a:t> 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6C5E1CA0-E24D-2538-A933-6CE2A5982E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1139" y="145620"/>
            <a:ext cx="5400000" cy="217304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취득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7819690-5D32-37AA-FA61-0623D23B20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Apache Airflow </a:t>
            </a:r>
            <a:r>
              <a:rPr lang="ko-KR" altLang="en-US" dirty="0"/>
              <a:t>기반의 통합 워크플로우 오케스트레이션으로 다양한 원천 시스템에서 일관된 데이터 취득 절차와 규칙을 적용하고</a:t>
            </a:r>
            <a:r>
              <a:rPr lang="en-US" altLang="ko-KR" dirty="0"/>
              <a:t>, </a:t>
            </a:r>
            <a:r>
              <a:rPr lang="ko-KR" altLang="en-US" dirty="0"/>
              <a:t>실시간 스트림</a:t>
            </a:r>
            <a:r>
              <a:rPr lang="en-US" altLang="ko-KR" dirty="0"/>
              <a:t>(Kafka)</a:t>
            </a:r>
            <a:r>
              <a:rPr lang="ko-KR" altLang="en-US" dirty="0"/>
              <a:t>과 배치 프로세스</a:t>
            </a:r>
            <a:r>
              <a:rPr lang="en-US" altLang="ko-KR" dirty="0"/>
              <a:t>(Spark)</a:t>
            </a:r>
            <a:r>
              <a:rPr lang="ko-KR" altLang="en-US" dirty="0"/>
              <a:t>를 통합 관리하는 </a:t>
            </a:r>
            <a:r>
              <a:rPr lang="en-US" altLang="ko-KR" dirty="0" err="1"/>
              <a:t>DataOps</a:t>
            </a:r>
            <a:r>
              <a:rPr lang="en-US" altLang="ko-KR" dirty="0"/>
              <a:t> </a:t>
            </a:r>
            <a:r>
              <a:rPr lang="ko-KR" altLang="en-US" dirty="0"/>
              <a:t>체계를 구축하겠습니다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D63BFEB-CD16-FDE1-7D4C-D4547614D0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통합 데이터 취득 관리 체계</a:t>
            </a:r>
          </a:p>
        </p:txBody>
      </p:sp>
      <p:grpSp>
        <p:nvGrpSpPr>
          <p:cNvPr id="83" name="그룹 151">
            <a:extLst>
              <a:ext uri="{FF2B5EF4-FFF2-40B4-BE49-F238E27FC236}">
                <a16:creationId xmlns:a16="http://schemas.microsoft.com/office/drawing/2014/main" id="{099EAB31-DEF9-D908-783E-9EABEDAE0C0D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84" name="모서리가 둥근 직사각형 20">
              <a:extLst>
                <a:ext uri="{FF2B5EF4-FFF2-40B4-BE49-F238E27FC236}">
                  <a16:creationId xmlns:a16="http://schemas.microsoft.com/office/drawing/2014/main" id="{882B6CB4-544D-B39C-215B-1D81E4CB4EA5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5" name="직사각형 153">
              <a:extLst>
                <a:ext uri="{FF2B5EF4-FFF2-40B4-BE49-F238E27FC236}">
                  <a16:creationId xmlns:a16="http://schemas.microsoft.com/office/drawing/2014/main" id="{530BAC10-B9E5-0C63-40B4-B02C49CA2583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DIR-001</a:t>
              </a:r>
            </a:p>
          </p:txBody>
        </p:sp>
        <p:sp>
          <p:nvSpPr>
            <p:cNvPr id="86" name="직사각형 154">
              <a:extLst>
                <a:ext uri="{FF2B5EF4-FFF2-40B4-BE49-F238E27FC236}">
                  <a16:creationId xmlns:a16="http://schemas.microsoft.com/office/drawing/2014/main" id="{0EBF3BF0-D39C-4773-2325-D7944C8D58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87" name="직선 연결선 155">
              <a:extLst>
                <a:ext uri="{FF2B5EF4-FFF2-40B4-BE49-F238E27FC236}">
                  <a16:creationId xmlns:a16="http://schemas.microsoft.com/office/drawing/2014/main" id="{CC32FD26-03FB-4E53-3EF0-492E777495A9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 9">
            <a:extLst>
              <a:ext uri="{FF2B5EF4-FFF2-40B4-BE49-F238E27FC236}">
                <a16:creationId xmlns:a16="http://schemas.microsoft.com/office/drawing/2014/main" id="{85C130A1-59E0-9AD2-9099-A243CCDF3703}"/>
              </a:ext>
            </a:extLst>
          </p:cNvPr>
          <p:cNvSpPr/>
          <p:nvPr/>
        </p:nvSpPr>
        <p:spPr>
          <a:xfrm>
            <a:off x="281619" y="3306121"/>
            <a:ext cx="4308071" cy="3150259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9050">
            <a:solidFill>
              <a:srgbClr val="005B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14" name="Image 2" descr="/tmp/rasterized-gradient-5e83b24e.png">
            <a:extLst>
              <a:ext uri="{FF2B5EF4-FFF2-40B4-BE49-F238E27FC236}">
                <a16:creationId xmlns:a16="http://schemas.microsoft.com/office/drawing/2014/main" id="{33C58B49-96D3-590C-7AC7-F54DD22B3C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20" y="3678171"/>
            <a:ext cx="4109428" cy="881955"/>
          </a:xfrm>
          <a:prstGeom prst="rect">
            <a:avLst/>
          </a:prstGeom>
        </p:spPr>
      </p:pic>
      <p:sp>
        <p:nvSpPr>
          <p:cNvPr id="15" name="Text 16">
            <a:extLst>
              <a:ext uri="{FF2B5EF4-FFF2-40B4-BE49-F238E27FC236}">
                <a16:creationId xmlns:a16="http://schemas.microsoft.com/office/drawing/2014/main" id="{6FCDDB26-F3D9-1C37-2E78-987B2A376C88}"/>
              </a:ext>
            </a:extLst>
          </p:cNvPr>
          <p:cNvSpPr/>
          <p:nvPr/>
        </p:nvSpPr>
        <p:spPr>
          <a:xfrm>
            <a:off x="453069" y="3735321"/>
            <a:ext cx="40903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5BAC"/>
                </a:solidFill>
                <a:ea typeface="Arial" pitchFamily="34" charset="-122"/>
                <a:cs typeface="Arial" pitchFamily="34" charset="-120"/>
              </a:rPr>
              <a:t>표준화된 데이터 취득 프레임워크</a:t>
            </a:r>
            <a:endParaRPr lang="en-US" sz="1000" dirty="0"/>
          </a:p>
        </p:txBody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E6037339-7749-B389-5A66-9D4FFF27FBC7}"/>
              </a:ext>
            </a:extLst>
          </p:cNvPr>
          <p:cNvSpPr/>
          <p:nvPr/>
        </p:nvSpPr>
        <p:spPr>
          <a:xfrm>
            <a:off x="453070" y="3874327"/>
            <a:ext cx="4010106" cy="6096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ea typeface="Arial" pitchFamily="34" charset="-122"/>
                <a:cs typeface="Arial" pitchFamily="34" charset="-120"/>
              </a:rPr>
              <a:t>REST API 기반 통일된 인터페이스 제공</a:t>
            </a:r>
            <a:endParaRPr lang="en-US" sz="1000" dirty="0"/>
          </a:p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ea typeface="Arial" pitchFamily="34" charset="-122"/>
                <a:cs typeface="Arial" pitchFamily="34" charset="-120"/>
              </a:rPr>
              <a:t>20+ 원천 시스템 표준화 및 공통 스키마 적용</a:t>
            </a:r>
            <a:endParaRPr lang="en-US" sz="1000" dirty="0"/>
          </a:p>
        </p:txBody>
      </p:sp>
      <p:pic>
        <p:nvPicPr>
          <p:cNvPr id="17" name="Image 3" descr="/tmp/rasterized-gradient-e2904ba8.png">
            <a:extLst>
              <a:ext uri="{FF2B5EF4-FFF2-40B4-BE49-F238E27FC236}">
                <a16:creationId xmlns:a16="http://schemas.microsoft.com/office/drawing/2014/main" id="{95CB8F1E-B55A-3FF2-6B2C-F6AD2C3D7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20" y="4598227"/>
            <a:ext cx="4109428" cy="881955"/>
          </a:xfrm>
          <a:prstGeom prst="rect">
            <a:avLst/>
          </a:prstGeom>
        </p:spPr>
      </p:pic>
      <p:sp>
        <p:nvSpPr>
          <p:cNvPr id="18" name="Text 18">
            <a:extLst>
              <a:ext uri="{FF2B5EF4-FFF2-40B4-BE49-F238E27FC236}">
                <a16:creationId xmlns:a16="http://schemas.microsoft.com/office/drawing/2014/main" id="{7E407BC1-CD9B-D43E-20FE-FC2CD3316324}"/>
              </a:ext>
            </a:extLst>
          </p:cNvPr>
          <p:cNvSpPr/>
          <p:nvPr/>
        </p:nvSpPr>
        <p:spPr>
          <a:xfrm>
            <a:off x="453069" y="4655377"/>
            <a:ext cx="40903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5BAC"/>
                </a:solidFill>
                <a:ea typeface="Arial" pitchFamily="34" charset="-122"/>
                <a:cs typeface="Arial" pitchFamily="34" charset="-120"/>
              </a:rPr>
              <a:t>데이터 취득 표준 절차</a:t>
            </a:r>
            <a:endParaRPr lang="en-US" sz="1000" dirty="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63DC78AF-F964-5782-1EEB-F9DCD2D3658E}"/>
              </a:ext>
            </a:extLst>
          </p:cNvPr>
          <p:cNvSpPr/>
          <p:nvPr/>
        </p:nvSpPr>
        <p:spPr>
          <a:xfrm>
            <a:off x="453070" y="4794382"/>
            <a:ext cx="4010106" cy="6096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ea typeface="Arial" pitchFamily="34" charset="-122"/>
                <a:cs typeface="Arial" pitchFamily="34" charset="-120"/>
              </a:rPr>
              <a:t>연결-검증-추출-변환-적재 5단계 표준화</a:t>
            </a:r>
            <a:endParaRPr lang="en-US" sz="1000" dirty="0"/>
          </a:p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ea typeface="Arial" pitchFamily="34" charset="-122"/>
                <a:cs typeface="Arial" pitchFamily="34" charset="-120"/>
              </a:rPr>
              <a:t>각 단계별 체크포인트 및 품질 검증</a:t>
            </a:r>
            <a:endParaRPr lang="en-US" sz="1000" dirty="0"/>
          </a:p>
        </p:txBody>
      </p:sp>
      <p:pic>
        <p:nvPicPr>
          <p:cNvPr id="20" name="Image 4" descr="/tmp/rasterized-gradient-9065116f.png">
            <a:extLst>
              <a:ext uri="{FF2B5EF4-FFF2-40B4-BE49-F238E27FC236}">
                <a16:creationId xmlns:a16="http://schemas.microsoft.com/office/drawing/2014/main" id="{9C8BCA77-3DA1-686A-4C49-39A6B93F2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20" y="5518282"/>
            <a:ext cx="4109428" cy="881955"/>
          </a:xfrm>
          <a:prstGeom prst="rect">
            <a:avLst/>
          </a:prstGeom>
        </p:spPr>
      </p:pic>
      <p:sp>
        <p:nvSpPr>
          <p:cNvPr id="21" name="Text 20">
            <a:extLst>
              <a:ext uri="{FF2B5EF4-FFF2-40B4-BE49-F238E27FC236}">
                <a16:creationId xmlns:a16="http://schemas.microsoft.com/office/drawing/2014/main" id="{14D6FF8A-9FE5-95D4-AD00-FB4EA1138BCB}"/>
              </a:ext>
            </a:extLst>
          </p:cNvPr>
          <p:cNvSpPr/>
          <p:nvPr/>
        </p:nvSpPr>
        <p:spPr>
          <a:xfrm>
            <a:off x="453069" y="5575432"/>
            <a:ext cx="40903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5BAC"/>
                </a:solidFill>
                <a:ea typeface="Arial" pitchFamily="34" charset="-122"/>
                <a:cs typeface="Arial" pitchFamily="34" charset="-120"/>
              </a:rPr>
              <a:t>통합 규칙 관리</a:t>
            </a:r>
            <a:endParaRPr lang="en-US" sz="1000" dirty="0"/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009D3D93-BC3A-55A5-B7C2-7AA22E722A65}"/>
              </a:ext>
            </a:extLst>
          </p:cNvPr>
          <p:cNvSpPr/>
          <p:nvPr/>
        </p:nvSpPr>
        <p:spPr>
          <a:xfrm>
            <a:off x="453070" y="5714437"/>
            <a:ext cx="4010106" cy="6096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ea typeface="Arial" pitchFamily="34" charset="-122"/>
                <a:cs typeface="Arial" pitchFamily="34" charset="-120"/>
              </a:rPr>
              <a:t>중앙 집중식 규칙 저장소 및 버전 관리</a:t>
            </a:r>
            <a:endParaRPr lang="en-US" sz="1000" dirty="0"/>
          </a:p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ea typeface="Arial" pitchFamily="34" charset="-122"/>
                <a:cs typeface="Arial" pitchFamily="34" charset="-120"/>
              </a:rPr>
              <a:t>규칙 변경 시 자동 배포 및 적용</a:t>
            </a:r>
            <a:endParaRPr lang="en-US" sz="10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CFF60967-8A24-C51D-670E-CA2D3E40D4BF}"/>
              </a:ext>
            </a:extLst>
          </p:cNvPr>
          <p:cNvSpPr/>
          <p:nvPr/>
        </p:nvSpPr>
        <p:spPr>
          <a:xfrm>
            <a:off x="5353682" y="3316006"/>
            <a:ext cx="4308071" cy="3140374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9050">
            <a:solidFill>
              <a:srgbClr val="005B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pic>
        <p:nvPicPr>
          <p:cNvPr id="31" name="Image 6" descr="/tmp/rasterized-gradient-ca36c16e.png">
            <a:extLst>
              <a:ext uri="{FF2B5EF4-FFF2-40B4-BE49-F238E27FC236}">
                <a16:creationId xmlns:a16="http://schemas.microsoft.com/office/drawing/2014/main" id="{66C383C5-830F-6E4B-9B4F-C821875D8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7983" y="3678171"/>
            <a:ext cx="4109428" cy="881955"/>
          </a:xfrm>
          <a:prstGeom prst="rect">
            <a:avLst/>
          </a:prstGeom>
        </p:spPr>
      </p:pic>
      <p:sp>
        <p:nvSpPr>
          <p:cNvPr id="32" name="Text 29">
            <a:extLst>
              <a:ext uri="{FF2B5EF4-FFF2-40B4-BE49-F238E27FC236}">
                <a16:creationId xmlns:a16="http://schemas.microsoft.com/office/drawing/2014/main" id="{80D847DE-B2AA-6C26-F218-45D3A1E350BD}"/>
              </a:ext>
            </a:extLst>
          </p:cNvPr>
          <p:cNvSpPr/>
          <p:nvPr/>
        </p:nvSpPr>
        <p:spPr>
          <a:xfrm>
            <a:off x="5525132" y="3735321"/>
            <a:ext cx="40903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5BAC"/>
                </a:solidFill>
                <a:ea typeface="Arial" pitchFamily="34" charset="-122"/>
                <a:cs typeface="Arial" pitchFamily="34" charset="-120"/>
              </a:rPr>
              <a:t>하이브리드 데이터 취득 엔진</a:t>
            </a:r>
            <a:endParaRPr lang="en-US" sz="100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F9E69B83-A3C4-527A-8F32-2F470F404877}"/>
              </a:ext>
            </a:extLst>
          </p:cNvPr>
          <p:cNvSpPr/>
          <p:nvPr/>
        </p:nvSpPr>
        <p:spPr>
          <a:xfrm>
            <a:off x="5525133" y="3874327"/>
            <a:ext cx="4010106" cy="6096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ea typeface="Arial" pitchFamily="34" charset="-122"/>
                <a:cs typeface="Arial" pitchFamily="34" charset="-120"/>
              </a:rPr>
              <a:t>Kafka (실시간 스트리밍) + Airflow (배치)</a:t>
            </a:r>
            <a:endParaRPr lang="en-US" sz="1000" dirty="0"/>
          </a:p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ea typeface="Arial" pitchFamily="34" charset="-122"/>
                <a:cs typeface="Arial" pitchFamily="34" charset="-120"/>
              </a:rPr>
              <a:t>데이터 볼륨 기반 자동 방식 전환</a:t>
            </a:r>
            <a:endParaRPr lang="en-US" sz="1000" dirty="0"/>
          </a:p>
        </p:txBody>
      </p:sp>
      <p:pic>
        <p:nvPicPr>
          <p:cNvPr id="34" name="Image 7" descr="/tmp/rasterized-gradient-1ead700d.png">
            <a:extLst>
              <a:ext uri="{FF2B5EF4-FFF2-40B4-BE49-F238E27FC236}">
                <a16:creationId xmlns:a16="http://schemas.microsoft.com/office/drawing/2014/main" id="{3EB8B968-6AB7-C546-835F-7247A49B80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7983" y="4598227"/>
            <a:ext cx="4109428" cy="881955"/>
          </a:xfrm>
          <a:prstGeom prst="rect">
            <a:avLst/>
          </a:prstGeom>
        </p:spPr>
      </p:pic>
      <p:sp>
        <p:nvSpPr>
          <p:cNvPr id="35" name="Text 31">
            <a:extLst>
              <a:ext uri="{FF2B5EF4-FFF2-40B4-BE49-F238E27FC236}">
                <a16:creationId xmlns:a16="http://schemas.microsoft.com/office/drawing/2014/main" id="{07D7018D-1DD9-AB6B-A575-A8E6B1B3E0FB}"/>
              </a:ext>
            </a:extLst>
          </p:cNvPr>
          <p:cNvSpPr/>
          <p:nvPr/>
        </p:nvSpPr>
        <p:spPr>
          <a:xfrm>
            <a:off x="5525132" y="4655377"/>
            <a:ext cx="40903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5BAC"/>
                </a:solidFill>
                <a:ea typeface="Arial" pitchFamily="34" charset="-122"/>
                <a:cs typeface="Arial" pitchFamily="34" charset="-120"/>
              </a:rPr>
              <a:t>통합 관리 콘솔</a:t>
            </a:r>
            <a:endParaRPr lang="en-US" sz="1000" dirty="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25CA077E-B2D2-8729-CC39-0E24A29384D0}"/>
              </a:ext>
            </a:extLst>
          </p:cNvPr>
          <p:cNvSpPr/>
          <p:nvPr/>
        </p:nvSpPr>
        <p:spPr>
          <a:xfrm>
            <a:off x="5525133" y="4794382"/>
            <a:ext cx="4010106" cy="6096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ea typeface="Arial" pitchFamily="34" charset="-122"/>
                <a:cs typeface="Arial" pitchFamily="34" charset="-120"/>
              </a:rPr>
              <a:t>GUI 기반 직관적 설정 인터페이스</a:t>
            </a:r>
            <a:endParaRPr lang="en-US" sz="1000" dirty="0"/>
          </a:p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ea typeface="Arial" pitchFamily="34" charset="-122"/>
                <a:cs typeface="Arial" pitchFamily="34" charset="-120"/>
              </a:rPr>
              <a:t>실시간 ↔ 배치 전환 및 상태 모니터링</a:t>
            </a:r>
            <a:endParaRPr lang="en-US" sz="1000" dirty="0"/>
          </a:p>
        </p:txBody>
      </p:sp>
      <p:pic>
        <p:nvPicPr>
          <p:cNvPr id="37" name="Image 8" descr="/tmp/rasterized-gradient-4f31d6eb.png">
            <a:extLst>
              <a:ext uri="{FF2B5EF4-FFF2-40B4-BE49-F238E27FC236}">
                <a16:creationId xmlns:a16="http://schemas.microsoft.com/office/drawing/2014/main" id="{64440DA9-65AD-D21F-56A4-BD64F1BBAA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7983" y="5518282"/>
            <a:ext cx="4109428" cy="881955"/>
          </a:xfrm>
          <a:prstGeom prst="rect">
            <a:avLst/>
          </a:prstGeom>
        </p:spPr>
      </p:pic>
      <p:sp>
        <p:nvSpPr>
          <p:cNvPr id="38" name="Text 33">
            <a:extLst>
              <a:ext uri="{FF2B5EF4-FFF2-40B4-BE49-F238E27FC236}">
                <a16:creationId xmlns:a16="http://schemas.microsoft.com/office/drawing/2014/main" id="{FA868E79-401F-CBA5-B292-F62C48ED1568}"/>
              </a:ext>
            </a:extLst>
          </p:cNvPr>
          <p:cNvSpPr/>
          <p:nvPr/>
        </p:nvSpPr>
        <p:spPr>
          <a:xfrm>
            <a:off x="5525132" y="5575432"/>
            <a:ext cx="40903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150"/>
              </a:spcAft>
              <a:buNone/>
            </a:pPr>
            <a:r>
              <a:rPr lang="en-US" sz="1000" b="1" dirty="0">
                <a:solidFill>
                  <a:srgbClr val="005BAC"/>
                </a:solidFill>
                <a:ea typeface="Arial" pitchFamily="34" charset="-122"/>
                <a:cs typeface="Arial" pitchFamily="34" charset="-120"/>
              </a:rPr>
              <a:t>지능형 제어 시스템</a:t>
            </a:r>
            <a:endParaRPr lang="en-US" sz="1000" dirty="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229EA94B-34D5-02C2-3FC8-99AC5ACBE130}"/>
              </a:ext>
            </a:extLst>
          </p:cNvPr>
          <p:cNvSpPr/>
          <p:nvPr/>
        </p:nvSpPr>
        <p:spPr>
          <a:xfrm>
            <a:off x="5525133" y="5714437"/>
            <a:ext cx="4010106" cy="60960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ea typeface="Arial" pitchFamily="34" charset="-122"/>
                <a:cs typeface="Arial" pitchFamily="34" charset="-120"/>
              </a:rPr>
              <a:t>데이터 특성 분석 후 최적 방식 추천</a:t>
            </a:r>
            <a:endParaRPr lang="en-US" sz="1000" dirty="0"/>
          </a:p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ea typeface="Arial" pitchFamily="34" charset="-122"/>
                <a:cs typeface="Arial" pitchFamily="34" charset="-120"/>
              </a:rPr>
              <a:t>시스템 부하 기반 동적 스케줄 조정</a:t>
            </a:r>
            <a:endParaRPr lang="en-US" sz="10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B05741A-A637-25C7-6801-1A80299C7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656" y="3709665"/>
            <a:ext cx="2091344" cy="759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A8DE2D1E-ED41-DBA5-DEE1-B2BB8BEAD8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8941" y="3795298"/>
            <a:ext cx="1655312" cy="640187"/>
          </a:xfrm>
          <a:prstGeom prst="rect">
            <a:avLst/>
          </a:prstGeom>
        </p:spPr>
      </p:pic>
      <p:sp>
        <p:nvSpPr>
          <p:cNvPr id="43" name="직사각형 133">
            <a:extLst>
              <a:ext uri="{FF2B5EF4-FFF2-40B4-BE49-F238E27FC236}">
                <a16:creationId xmlns:a16="http://schemas.microsoft.com/office/drawing/2014/main" id="{73548769-F7A0-0ECA-5789-331E3DF076B8}"/>
              </a:ext>
            </a:extLst>
          </p:cNvPr>
          <p:cNvSpPr/>
          <p:nvPr/>
        </p:nvSpPr>
        <p:spPr>
          <a:xfrm>
            <a:off x="272482" y="3316006"/>
            <a:ext cx="4317207" cy="289239"/>
          </a:xfrm>
          <a:prstGeom prst="rect">
            <a:avLst/>
          </a:prstGeom>
          <a:solidFill>
            <a:srgbClr val="0066AC"/>
          </a:solidFill>
          <a:ln w="6350">
            <a:noFill/>
          </a:ln>
        </p:spPr>
        <p:txBody>
          <a:bodyPr vert="horz" wrap="square" lIns="3600" tIns="3600" rIns="3600" bIns="36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① 일관된 데이터 취득 절차와 규칙</a:t>
            </a:r>
          </a:p>
        </p:txBody>
      </p:sp>
      <p:sp>
        <p:nvSpPr>
          <p:cNvPr id="44" name="직사각형 133">
            <a:extLst>
              <a:ext uri="{FF2B5EF4-FFF2-40B4-BE49-F238E27FC236}">
                <a16:creationId xmlns:a16="http://schemas.microsoft.com/office/drawing/2014/main" id="{3B4BA386-EB2F-79CC-67EA-3714F50B3741}"/>
              </a:ext>
            </a:extLst>
          </p:cNvPr>
          <p:cNvSpPr/>
          <p:nvPr/>
        </p:nvSpPr>
        <p:spPr>
          <a:xfrm>
            <a:off x="5360836" y="3306121"/>
            <a:ext cx="4288978" cy="289239"/>
          </a:xfrm>
          <a:prstGeom prst="rect">
            <a:avLst/>
          </a:prstGeom>
          <a:solidFill>
            <a:srgbClr val="0066AC"/>
          </a:solidFill>
          <a:ln w="6350">
            <a:noFill/>
          </a:ln>
        </p:spPr>
        <p:txBody>
          <a:bodyPr vert="horz" wrap="square" lIns="3600" tIns="3600" rIns="3600" bIns="36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② 실시간</a:t>
            </a:r>
            <a:r>
              <a:rPr lang="en-US" altLang="ko-KR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배치 통합 관리 도구</a:t>
            </a:r>
          </a:p>
        </p:txBody>
      </p:sp>
      <p:sp>
        <p:nvSpPr>
          <p:cNvPr id="3" name="Rectangle 2"/>
          <p:cNvSpPr/>
          <p:nvPr/>
        </p:nvSpPr>
        <p:spPr>
          <a:xfrm>
            <a:off x="282270" y="1897771"/>
            <a:ext cx="1520383" cy="216000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원천 시스템</a:t>
            </a:r>
          </a:p>
        </p:txBody>
      </p:sp>
      <p:sp>
        <p:nvSpPr>
          <p:cNvPr id="4" name="Rectangle 3"/>
          <p:cNvSpPr/>
          <p:nvPr/>
        </p:nvSpPr>
        <p:spPr>
          <a:xfrm>
            <a:off x="282270" y="2113771"/>
            <a:ext cx="1520383" cy="10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4D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Oracle DB</a:t>
            </a:r>
          </a:p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PostgreSQL</a:t>
            </a:r>
          </a:p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MongoDB</a:t>
            </a:r>
          </a:p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API/File</a:t>
            </a:r>
          </a:p>
        </p:txBody>
      </p:sp>
      <p:sp>
        <p:nvSpPr>
          <p:cNvPr id="24" name="Right Arrow 14"/>
          <p:cNvSpPr/>
          <p:nvPr/>
        </p:nvSpPr>
        <p:spPr>
          <a:xfrm>
            <a:off x="1967039" y="2617771"/>
            <a:ext cx="108000" cy="144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243936" y="1897771"/>
            <a:ext cx="1520383" cy="2160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취득 계층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39425" y="2113771"/>
            <a:ext cx="1520383" cy="10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Debezium</a:t>
            </a:r>
            <a:r>
              <a:rPr dirty="0"/>
              <a:t> CDC</a:t>
            </a:r>
          </a:p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Kafka Connect</a:t>
            </a:r>
          </a:p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Airbyte</a:t>
            </a:r>
            <a:endParaRPr dirty="0"/>
          </a:p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Singer Taps</a:t>
            </a:r>
          </a:p>
        </p:txBody>
      </p:sp>
      <p:sp>
        <p:nvSpPr>
          <p:cNvPr id="41" name="Right Arrow 17"/>
          <p:cNvSpPr/>
          <p:nvPr/>
        </p:nvSpPr>
        <p:spPr>
          <a:xfrm>
            <a:off x="3924194" y="2617771"/>
            <a:ext cx="108000" cy="144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196580" y="1897771"/>
            <a:ext cx="1520383" cy="216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스트리밍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96580" y="2113771"/>
            <a:ext cx="1520383" cy="10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Apache Kafka</a:t>
            </a:r>
          </a:p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Schema Registry</a:t>
            </a:r>
          </a:p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ksqlDB</a:t>
            </a:r>
            <a:endParaRPr dirty="0"/>
          </a:p>
        </p:txBody>
      </p:sp>
      <p:sp>
        <p:nvSpPr>
          <p:cNvPr id="47" name="Right Arrow 20"/>
          <p:cNvSpPr/>
          <p:nvPr/>
        </p:nvSpPr>
        <p:spPr>
          <a:xfrm>
            <a:off x="5881349" y="2617771"/>
            <a:ext cx="108000" cy="144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153735" y="1897771"/>
            <a:ext cx="1520383" cy="216000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오케스트레이션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53735" y="2113771"/>
            <a:ext cx="1520383" cy="10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Apache Airflow</a:t>
            </a:r>
          </a:p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DAG </a:t>
            </a:r>
            <a:r>
              <a:rPr dirty="0" err="1"/>
              <a:t>관리</a:t>
            </a:r>
            <a:endParaRPr dirty="0"/>
          </a:p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스케줄링</a:t>
            </a:r>
            <a:endParaRPr dirty="0"/>
          </a:p>
        </p:txBody>
      </p:sp>
      <p:sp>
        <p:nvSpPr>
          <p:cNvPr id="50" name="Right Arrow 23"/>
          <p:cNvSpPr/>
          <p:nvPr/>
        </p:nvSpPr>
        <p:spPr>
          <a:xfrm>
            <a:off x="7838504" y="2617771"/>
            <a:ext cx="108000" cy="144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110890" y="1897771"/>
            <a:ext cx="1520383" cy="216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적재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10890" y="2113771"/>
            <a:ext cx="1520383" cy="108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Landing Zone</a:t>
            </a:r>
          </a:p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Delta Lake</a:t>
            </a:r>
          </a:p>
          <a:p>
            <a:pPr>
              <a:spcAft>
                <a:spcPts val="3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Parquet</a:t>
            </a:r>
          </a:p>
        </p:txBody>
      </p:sp>
    </p:spTree>
    <p:extLst>
      <p:ext uri="{BB962C8B-B14F-4D97-AF65-F5344CB8AC3E}">
        <p14:creationId xmlns:p14="http://schemas.microsoft.com/office/powerpoint/2010/main" val="854351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0DA4B-0837-3276-2F18-EAABD6C17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8DD214D-967E-32F9-952B-5B72767F26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4.1 </a:t>
            </a:r>
            <a:r>
              <a:rPr lang="ko-KR" altLang="en-US" dirty="0"/>
              <a:t>데이터 취득 방식의 일관성 유지 방안 수립</a:t>
            </a:r>
            <a:r>
              <a:rPr lang="en-US" altLang="ko-KR" dirty="0"/>
              <a:t>(2/2)</a:t>
            </a:r>
            <a:r>
              <a:rPr lang="ko-KR" altLang="en-US" dirty="0"/>
              <a:t> 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6C4E0DA-F59F-803C-443D-ED630436D3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1139" y="145620"/>
            <a:ext cx="5400000" cy="217304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취득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237E18C-6E3D-6E89-516D-423FAF5134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Job/Group </a:t>
            </a:r>
            <a:r>
              <a:rPr lang="ko-KR" altLang="en-US" dirty="0"/>
              <a:t>단위로 취득 방식을 유연하게 변경하고</a:t>
            </a:r>
            <a:r>
              <a:rPr lang="en-US" altLang="ko-KR" dirty="0"/>
              <a:t>, </a:t>
            </a:r>
            <a:r>
              <a:rPr lang="ko-KR" altLang="en-US" dirty="0"/>
              <a:t>전체 프로세스를 실시간으로 추적하는 지능형 관리 시스템을 구축하고</a:t>
            </a:r>
            <a:r>
              <a:rPr lang="en-US" altLang="ko-KR" dirty="0"/>
              <a:t>, </a:t>
            </a:r>
            <a:r>
              <a:rPr lang="ko-KR" altLang="en-US" dirty="0"/>
              <a:t>오류 발생 시 다중 담당자 </a:t>
            </a:r>
            <a:r>
              <a:rPr lang="en-US" altLang="ko-KR" dirty="0"/>
              <a:t>Alert</a:t>
            </a:r>
            <a:r>
              <a:rPr lang="ko-KR" altLang="en-US" dirty="0"/>
              <a:t>와 상세 </a:t>
            </a:r>
            <a:r>
              <a:rPr lang="en-US" altLang="ko-KR" dirty="0"/>
              <a:t>Logging</a:t>
            </a:r>
            <a:r>
              <a:rPr lang="ko-KR" altLang="en-US" dirty="0"/>
              <a:t>으로 신속한 대응과 문제 해결을 지원하겠습니다</a:t>
            </a:r>
          </a:p>
          <a:p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1599D579-C94C-AC72-8C2E-2086641F898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통합 데이터 취득 관리 체계</a:t>
            </a:r>
          </a:p>
        </p:txBody>
      </p:sp>
      <p:grpSp>
        <p:nvGrpSpPr>
          <p:cNvPr id="83" name="그룹 151">
            <a:extLst>
              <a:ext uri="{FF2B5EF4-FFF2-40B4-BE49-F238E27FC236}">
                <a16:creationId xmlns:a16="http://schemas.microsoft.com/office/drawing/2014/main" id="{28AB49EE-5B23-4B44-7578-829AF8C84D71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84" name="모서리가 둥근 직사각형 20">
              <a:extLst>
                <a:ext uri="{FF2B5EF4-FFF2-40B4-BE49-F238E27FC236}">
                  <a16:creationId xmlns:a16="http://schemas.microsoft.com/office/drawing/2014/main" id="{D85BFF07-63C9-9FDD-7ADD-C0C519413129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5" name="직사각형 153">
              <a:extLst>
                <a:ext uri="{FF2B5EF4-FFF2-40B4-BE49-F238E27FC236}">
                  <a16:creationId xmlns:a16="http://schemas.microsoft.com/office/drawing/2014/main" id="{A862B57D-E7B6-ADC9-62C5-AEB16D893E42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DIR-001</a:t>
              </a:r>
            </a:p>
          </p:txBody>
        </p:sp>
        <p:sp>
          <p:nvSpPr>
            <p:cNvPr id="86" name="직사각형 154">
              <a:extLst>
                <a:ext uri="{FF2B5EF4-FFF2-40B4-BE49-F238E27FC236}">
                  <a16:creationId xmlns:a16="http://schemas.microsoft.com/office/drawing/2014/main" id="{95C63DC7-E4CF-0A53-224D-E7E7BC7A065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87" name="직선 연결선 155">
              <a:extLst>
                <a:ext uri="{FF2B5EF4-FFF2-40B4-BE49-F238E27FC236}">
                  <a16:creationId xmlns:a16="http://schemas.microsoft.com/office/drawing/2014/main" id="{E6C19AAA-A436-3AE6-410A-57571AB3CA57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 15">
            <a:extLst>
              <a:ext uri="{FF2B5EF4-FFF2-40B4-BE49-F238E27FC236}">
                <a16:creationId xmlns:a16="http://schemas.microsoft.com/office/drawing/2014/main" id="{08E72244-0F1D-987D-8B17-C3611EE89803}"/>
              </a:ext>
            </a:extLst>
          </p:cNvPr>
          <p:cNvSpPr/>
          <p:nvPr/>
        </p:nvSpPr>
        <p:spPr>
          <a:xfrm>
            <a:off x="-3023555" y="4483174"/>
            <a:ext cx="1737680" cy="93345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D93FE48D-BEAF-8DBE-354A-8B4FDE941238}"/>
              </a:ext>
            </a:extLst>
          </p:cNvPr>
          <p:cNvSpPr/>
          <p:nvPr/>
        </p:nvSpPr>
        <p:spPr>
          <a:xfrm>
            <a:off x="-3023555" y="5616649"/>
            <a:ext cx="1737680" cy="93345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endParaRPr lang="en-US" sz="100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058812"/>
              </p:ext>
            </p:extLst>
          </p:nvPr>
        </p:nvGraphicFramePr>
        <p:xfrm>
          <a:off x="272482" y="1888200"/>
          <a:ext cx="9361040" cy="4588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80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488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3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86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구현 요소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오픈소스 기술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구현 방안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일관성 확보 방안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98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워크플로우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통합</a:t>
                      </a:r>
                      <a:endParaRPr sz="1000" dirty="0"/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Apache Airflow</a:t>
                      </a:r>
                    </a:p>
                    <a:p>
                      <a:pPr algn="l"/>
                      <a:r>
                        <a:rPr sz="1000" dirty="0"/>
                        <a:t>Prefect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- DAG 기반 파이프라인 정의</a:t>
                      </a:r>
                    </a:p>
                    <a:p>
                      <a:pPr algn="l"/>
                      <a:r>
                        <a:rPr sz="1000"/>
                        <a:t>- 스케줄링 및 의존성 관리</a:t>
                      </a:r>
                    </a:p>
                    <a:p>
                      <a:pPr algn="l"/>
                      <a:r>
                        <a:rPr sz="1000"/>
                        <a:t>- 재실행/백필 자동화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모든 원천에 동일한</a:t>
                      </a:r>
                    </a:p>
                    <a:p>
                      <a:pPr algn="l"/>
                      <a:r>
                        <a:rPr sz="1000"/>
                        <a:t>취득 프레임워크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98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실시간 취득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Apache Kafka</a:t>
                      </a:r>
                    </a:p>
                    <a:p>
                      <a:pPr algn="l"/>
                      <a:r>
                        <a:rPr sz="1000"/>
                        <a:t>Debezium CDC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Change Data Capture </a:t>
                      </a:r>
                      <a:r>
                        <a:rPr sz="1000" dirty="0" err="1"/>
                        <a:t>구현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이벤트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스트리밍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메시지</a:t>
                      </a:r>
                      <a:r>
                        <a:rPr sz="1000" dirty="0"/>
                        <a:t> 큐 기반 </a:t>
                      </a:r>
                      <a:r>
                        <a:rPr sz="1000" dirty="0" err="1"/>
                        <a:t>전달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CDC 통합 설정으로</a:t>
                      </a:r>
                    </a:p>
                    <a:p>
                      <a:pPr algn="l"/>
                      <a:r>
                        <a:rPr sz="1000"/>
                        <a:t>실시간 동기화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98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배치 취득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Apache Spark</a:t>
                      </a:r>
                    </a:p>
                    <a:p>
                      <a:pPr algn="l"/>
                      <a:r>
                        <a:rPr sz="1000"/>
                        <a:t>Delta Lake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</a:t>
                      </a:r>
                      <a:r>
                        <a:rPr sz="1000" dirty="0" err="1"/>
                        <a:t>대용량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병렬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처리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Incremental Load</a:t>
                      </a:r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멱등성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보장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공통 ETL 템플릿</a:t>
                      </a:r>
                    </a:p>
                    <a:p>
                      <a:pPr algn="l"/>
                      <a:r>
                        <a:rPr sz="1000"/>
                        <a:t>재사용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98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로깅/모니터링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Prometheus, Grafana</a:t>
                      </a:r>
                    </a:p>
                    <a:p>
                      <a:pPr algn="l"/>
                      <a:r>
                        <a:rPr sz="1000"/>
                        <a:t>Elasticsearch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</a:t>
                      </a:r>
                      <a:r>
                        <a:rPr sz="1000" dirty="0" err="1"/>
                        <a:t>취득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작업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메트릭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수집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</a:t>
                      </a:r>
                      <a:r>
                        <a:rPr sz="1000" dirty="0" err="1"/>
                        <a:t>실시간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대시보드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Alert </a:t>
                      </a:r>
                      <a:r>
                        <a:rPr sz="1000" dirty="0" err="1"/>
                        <a:t>설정</a:t>
                      </a:r>
                      <a:r>
                        <a:rPr sz="1000" dirty="0"/>
                        <a:t> (Slack/Email)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중앙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집중식</a:t>
                      </a:r>
                      <a:endParaRPr sz="1000" dirty="0"/>
                    </a:p>
                    <a:p>
                      <a:pPr algn="l"/>
                      <a:r>
                        <a:rPr sz="1000" dirty="0" err="1"/>
                        <a:t>로그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관리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198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오류 처리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Dead Letter Queue</a:t>
                      </a:r>
                    </a:p>
                    <a:p>
                      <a:pPr algn="l"/>
                      <a:r>
                        <a:rPr sz="1000"/>
                        <a:t>Retry Mechanism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- 실패 작업 자동 재시도</a:t>
                      </a:r>
                    </a:p>
                    <a:p>
                      <a:pPr algn="l"/>
                      <a:r>
                        <a:rPr sz="1000"/>
                        <a:t>- DLQ 기반 오류 격리</a:t>
                      </a:r>
                    </a:p>
                    <a:p>
                      <a:pPr algn="l"/>
                      <a:r>
                        <a:rPr sz="1000"/>
                        <a:t>- 선택적 재실행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표준화된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오류</a:t>
                      </a:r>
                      <a:endParaRPr sz="1000" dirty="0"/>
                    </a:p>
                    <a:p>
                      <a:pPr algn="l"/>
                      <a:r>
                        <a:rPr sz="1000" dirty="0" err="1"/>
                        <a:t>핸들링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절차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943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0F0EC-3155-1F47-A2A9-45D972E98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380D020D-FDC2-3A6A-E955-79C47BB75C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통일된 데이터 취득 기술의 확보 방안 수립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5F01C566-D8C1-54BB-1598-7B9ADF6DC29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1139" y="145620"/>
            <a:ext cx="5400000" cy="217304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취득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3E265DA-215D-1A28-7647-83CB83558D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데이터 형태</a:t>
            </a:r>
            <a:r>
              <a:rPr lang="en-US" altLang="ko-KR" dirty="0"/>
              <a:t>(RDBMS, NoSQL, File, API)</a:t>
            </a:r>
            <a:r>
              <a:rPr lang="ko-KR" altLang="en-US" dirty="0"/>
              <a:t>에 관계없이 </a:t>
            </a:r>
            <a:r>
              <a:rPr lang="en-US" altLang="ko-KR" dirty="0"/>
              <a:t>Apache Spark</a:t>
            </a:r>
            <a:r>
              <a:rPr lang="ko-KR" altLang="en-US" dirty="0"/>
              <a:t>와 통합 커넥터를 활용하여 동일한 기술 기반으로 작업을 수행하고</a:t>
            </a:r>
            <a:r>
              <a:rPr lang="en-US" altLang="ko-KR" dirty="0"/>
              <a:t>, </a:t>
            </a:r>
            <a:r>
              <a:rPr lang="ko-KR" altLang="en-US" dirty="0"/>
              <a:t>대표적인 데이터 포맷별 취득 템플릿을 제공하여 개발 생산성을 극대화하겠습니다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36D0802-5382-1469-3B72-CFB0831443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통합 데이터 취득 관리 체계</a:t>
            </a:r>
          </a:p>
        </p:txBody>
      </p:sp>
      <p:grpSp>
        <p:nvGrpSpPr>
          <p:cNvPr id="83" name="그룹 151">
            <a:extLst>
              <a:ext uri="{FF2B5EF4-FFF2-40B4-BE49-F238E27FC236}">
                <a16:creationId xmlns:a16="http://schemas.microsoft.com/office/drawing/2014/main" id="{77AB93AA-674A-C230-2126-9C90B1D4CAF6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84" name="모서리가 둥근 직사각형 20">
              <a:extLst>
                <a:ext uri="{FF2B5EF4-FFF2-40B4-BE49-F238E27FC236}">
                  <a16:creationId xmlns:a16="http://schemas.microsoft.com/office/drawing/2014/main" id="{7ACDACA9-EE36-291A-F96A-2F1D956D23CC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5" name="직사각형 153">
              <a:extLst>
                <a:ext uri="{FF2B5EF4-FFF2-40B4-BE49-F238E27FC236}">
                  <a16:creationId xmlns:a16="http://schemas.microsoft.com/office/drawing/2014/main" id="{0C602FDB-E624-8EF8-8154-91D9DABDD76F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DIR-00</a:t>
              </a: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２</a:t>
              </a:r>
              <a:endPara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oPub돋움체 Bold"/>
                <a:ea typeface="KoPub돋움체 Bold"/>
              </a:endParaRPr>
            </a:p>
          </p:txBody>
        </p:sp>
        <p:sp>
          <p:nvSpPr>
            <p:cNvPr id="86" name="직사각형 154">
              <a:extLst>
                <a:ext uri="{FF2B5EF4-FFF2-40B4-BE49-F238E27FC236}">
                  <a16:creationId xmlns:a16="http://schemas.microsoft.com/office/drawing/2014/main" id="{534629EE-2138-A6F5-9C9F-4938B6C7F2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87" name="직선 연결선 155">
              <a:extLst>
                <a:ext uri="{FF2B5EF4-FFF2-40B4-BE49-F238E27FC236}">
                  <a16:creationId xmlns:a16="http://schemas.microsoft.com/office/drawing/2014/main" id="{07E11D72-16AD-A2B1-37FD-D2933C8F73AF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 15">
            <a:extLst>
              <a:ext uri="{FF2B5EF4-FFF2-40B4-BE49-F238E27FC236}">
                <a16:creationId xmlns:a16="http://schemas.microsoft.com/office/drawing/2014/main" id="{05D291BE-5D43-F8FA-294E-29ACFABA9246}"/>
              </a:ext>
            </a:extLst>
          </p:cNvPr>
          <p:cNvSpPr/>
          <p:nvPr/>
        </p:nvSpPr>
        <p:spPr>
          <a:xfrm>
            <a:off x="-3023555" y="4483174"/>
            <a:ext cx="1737680" cy="93345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B13272C6-5309-C872-60FB-94635D94D4FE}"/>
              </a:ext>
            </a:extLst>
          </p:cNvPr>
          <p:cNvSpPr/>
          <p:nvPr/>
        </p:nvSpPr>
        <p:spPr>
          <a:xfrm>
            <a:off x="-3023555" y="5616649"/>
            <a:ext cx="1737680" cy="93345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5B2BF79-630E-F308-71B8-33077ADCF80C}"/>
              </a:ext>
            </a:extLst>
          </p:cNvPr>
          <p:cNvSpPr/>
          <p:nvPr/>
        </p:nvSpPr>
        <p:spPr>
          <a:xfrm>
            <a:off x="1283376" y="3193008"/>
            <a:ext cx="360000" cy="360000"/>
          </a:xfrm>
          <a:prstGeom prst="ellipse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🗄️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C849D4-5965-0409-D856-42233CA96A0D}"/>
              </a:ext>
            </a:extLst>
          </p:cNvPr>
          <p:cNvSpPr txBox="1"/>
          <p:nvPr/>
        </p:nvSpPr>
        <p:spPr>
          <a:xfrm>
            <a:off x="1715376" y="3193008"/>
            <a:ext cx="19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5BAC"/>
                </a:solidFill>
              </a:defRPr>
            </a:pPr>
            <a:r>
              <a:t>RDBMS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7BBB86-EB85-04FD-EC0D-75D0814D7E31}"/>
              </a:ext>
            </a:extLst>
          </p:cNvPr>
          <p:cNvSpPr txBox="1"/>
          <p:nvPr/>
        </p:nvSpPr>
        <p:spPr>
          <a:xfrm>
            <a:off x="1715376" y="3373008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D4D4D"/>
                </a:solidFill>
              </a:defRPr>
            </a:pPr>
            <a:r>
              <a:rPr dirty="0"/>
              <a:t>Oracle, PostgreSQL</a:t>
            </a:r>
            <a:br>
              <a:rPr dirty="0"/>
            </a:br>
            <a:r>
              <a:rPr dirty="0"/>
              <a:t>JDBC Connector + Spark SQL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A46A01D-B1B8-D3EE-41C5-2A227EDF24BD}"/>
              </a:ext>
            </a:extLst>
          </p:cNvPr>
          <p:cNvSpPr/>
          <p:nvPr/>
        </p:nvSpPr>
        <p:spPr>
          <a:xfrm>
            <a:off x="3803376" y="3193008"/>
            <a:ext cx="360000" cy="36000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3DE892-7E60-6FFD-45E3-568A5522D281}"/>
              </a:ext>
            </a:extLst>
          </p:cNvPr>
          <p:cNvSpPr txBox="1"/>
          <p:nvPr/>
        </p:nvSpPr>
        <p:spPr>
          <a:xfrm>
            <a:off x="4235375" y="3193008"/>
            <a:ext cx="19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AEEF"/>
                </a:solidFill>
              </a:defRPr>
            </a:pPr>
            <a:r>
              <a:t>NoSQL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5DE5F0-1B15-4692-5E74-7D4AD135A1D6}"/>
              </a:ext>
            </a:extLst>
          </p:cNvPr>
          <p:cNvSpPr txBox="1"/>
          <p:nvPr/>
        </p:nvSpPr>
        <p:spPr>
          <a:xfrm>
            <a:off x="4235375" y="3373008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D4D4D"/>
                </a:solidFill>
              </a:defRPr>
            </a:pPr>
            <a:r>
              <a:rPr dirty="0"/>
              <a:t>MongoDB, Redis</a:t>
            </a:r>
            <a:br>
              <a:rPr dirty="0"/>
            </a:br>
            <a:r>
              <a:rPr dirty="0" err="1"/>
              <a:t>전용</a:t>
            </a:r>
            <a:r>
              <a:rPr dirty="0"/>
              <a:t> Connector + Schema </a:t>
            </a:r>
            <a:r>
              <a:rPr dirty="0" err="1"/>
              <a:t>추론</a:t>
            </a:r>
            <a:endParaRPr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137C67B-1E7A-620A-7E52-84B52903C55D}"/>
              </a:ext>
            </a:extLst>
          </p:cNvPr>
          <p:cNvSpPr/>
          <p:nvPr/>
        </p:nvSpPr>
        <p:spPr>
          <a:xfrm>
            <a:off x="6323376" y="3193008"/>
            <a:ext cx="360000" cy="360000"/>
          </a:xfrm>
          <a:prstGeom prst="ellipse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159586-5F64-5224-F879-2EC2C90CB9B8}"/>
              </a:ext>
            </a:extLst>
          </p:cNvPr>
          <p:cNvSpPr txBox="1"/>
          <p:nvPr/>
        </p:nvSpPr>
        <p:spPr>
          <a:xfrm>
            <a:off x="6755376" y="3193008"/>
            <a:ext cx="19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A65A"/>
                </a:solidFill>
              </a:defRPr>
            </a:pPr>
            <a:r>
              <a:t>File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04158E-9BA1-F0AE-8499-A853990F39C9}"/>
              </a:ext>
            </a:extLst>
          </p:cNvPr>
          <p:cNvSpPr txBox="1"/>
          <p:nvPr/>
        </p:nvSpPr>
        <p:spPr>
          <a:xfrm>
            <a:off x="6755376" y="3373008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D4D4D"/>
                </a:solidFill>
              </a:defRPr>
            </a:pPr>
            <a:r>
              <a:rPr dirty="0"/>
              <a:t>CSV, JSON, Parquet</a:t>
            </a:r>
            <a:br>
              <a:rPr dirty="0"/>
            </a:br>
            <a:r>
              <a:rPr dirty="0"/>
              <a:t>Spark </a:t>
            </a:r>
            <a:r>
              <a:rPr dirty="0" err="1"/>
              <a:t>DataFrameReader</a:t>
            </a:r>
            <a:endParaRPr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3145600-1B59-574E-219D-6BD3B3467D4C}"/>
              </a:ext>
            </a:extLst>
          </p:cNvPr>
          <p:cNvSpPr/>
          <p:nvPr/>
        </p:nvSpPr>
        <p:spPr>
          <a:xfrm>
            <a:off x="1283376" y="5086656"/>
            <a:ext cx="360000" cy="3600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C08DF0-E9A3-31A5-80D4-721B6B3194B5}"/>
              </a:ext>
            </a:extLst>
          </p:cNvPr>
          <p:cNvSpPr txBox="1"/>
          <p:nvPr/>
        </p:nvSpPr>
        <p:spPr>
          <a:xfrm>
            <a:off x="1715376" y="5086656"/>
            <a:ext cx="19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900"/>
                </a:solidFill>
              </a:defRPr>
            </a:pPr>
            <a:r>
              <a:t>API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745509-0051-2DFD-9D86-A0BD3BE59E97}"/>
              </a:ext>
            </a:extLst>
          </p:cNvPr>
          <p:cNvSpPr txBox="1"/>
          <p:nvPr/>
        </p:nvSpPr>
        <p:spPr>
          <a:xfrm>
            <a:off x="1715376" y="5266656"/>
            <a:ext cx="198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D4D4D"/>
                </a:solidFill>
              </a:defRPr>
            </a:pPr>
            <a:r>
              <a:rPr dirty="0"/>
              <a:t>REST/</a:t>
            </a:r>
            <a:r>
              <a:rPr dirty="0" err="1"/>
              <a:t>GraphQL</a:t>
            </a:r>
            <a:br>
              <a:rPr dirty="0"/>
            </a:br>
            <a:r>
              <a:rPr dirty="0" err="1"/>
              <a:t>aiohttp</a:t>
            </a:r>
            <a:r>
              <a:rPr dirty="0"/>
              <a:t> + Singer Taps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D8FE936-F30E-B5CB-1832-98D2E58FD972}"/>
              </a:ext>
            </a:extLst>
          </p:cNvPr>
          <p:cNvSpPr/>
          <p:nvPr/>
        </p:nvSpPr>
        <p:spPr>
          <a:xfrm>
            <a:off x="3803376" y="5086656"/>
            <a:ext cx="360000" cy="36000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EC4502-513F-6044-BC2B-A89E1B943D2A}"/>
              </a:ext>
            </a:extLst>
          </p:cNvPr>
          <p:cNvSpPr txBox="1"/>
          <p:nvPr/>
        </p:nvSpPr>
        <p:spPr>
          <a:xfrm>
            <a:off x="4235375" y="5086656"/>
            <a:ext cx="19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B68EE"/>
                </a:solidFill>
              </a:defRPr>
            </a:pPr>
            <a:r>
              <a:t>HL7/FHIR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A49101-3DE2-EE5D-9E63-20ED760144F2}"/>
              </a:ext>
            </a:extLst>
          </p:cNvPr>
          <p:cNvSpPr txBox="1"/>
          <p:nvPr/>
        </p:nvSpPr>
        <p:spPr>
          <a:xfrm>
            <a:off x="4235375" y="5266656"/>
            <a:ext cx="1191937" cy="349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D4D4D"/>
                </a:solidFill>
              </a:defRPr>
            </a:pPr>
            <a:r>
              <a:rPr dirty="0" err="1"/>
              <a:t>의료</a:t>
            </a:r>
            <a:r>
              <a:rPr dirty="0"/>
              <a:t> </a:t>
            </a:r>
            <a:r>
              <a:rPr dirty="0" err="1"/>
              <a:t>표준</a:t>
            </a:r>
            <a:r>
              <a:rPr dirty="0"/>
              <a:t> </a:t>
            </a:r>
            <a:r>
              <a:rPr dirty="0" err="1"/>
              <a:t>데이터</a:t>
            </a:r>
            <a:br>
              <a:rPr dirty="0"/>
            </a:br>
            <a:r>
              <a:rPr dirty="0"/>
              <a:t>HAPI FHIR + MIRTH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E640B9A-0CF3-96DD-B2CF-2D74CE66570E}"/>
              </a:ext>
            </a:extLst>
          </p:cNvPr>
          <p:cNvSpPr/>
          <p:nvPr/>
        </p:nvSpPr>
        <p:spPr>
          <a:xfrm>
            <a:off x="6323376" y="5086656"/>
            <a:ext cx="360000" cy="3600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🩻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A05CD2-19B2-C8E4-99A9-72596C4B7884}"/>
              </a:ext>
            </a:extLst>
          </p:cNvPr>
          <p:cNvSpPr txBox="1"/>
          <p:nvPr/>
        </p:nvSpPr>
        <p:spPr>
          <a:xfrm>
            <a:off x="6755376" y="5086656"/>
            <a:ext cx="198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91E63"/>
                </a:solidFill>
              </a:defRPr>
            </a:pPr>
            <a:r>
              <a:t>DICOM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E6C7D2-E3B9-74BF-6D43-CCCDCC418AF7}"/>
              </a:ext>
            </a:extLst>
          </p:cNvPr>
          <p:cNvSpPr txBox="1"/>
          <p:nvPr/>
        </p:nvSpPr>
        <p:spPr>
          <a:xfrm>
            <a:off x="6755376" y="5266656"/>
            <a:ext cx="10048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4D4D4D"/>
                </a:solidFill>
              </a:defRPr>
            </a:pPr>
            <a:r>
              <a:rPr dirty="0" err="1"/>
              <a:t>의료</a:t>
            </a:r>
            <a:r>
              <a:rPr dirty="0"/>
              <a:t> </a:t>
            </a:r>
            <a:r>
              <a:rPr dirty="0" err="1"/>
              <a:t>영상</a:t>
            </a:r>
            <a:r>
              <a:rPr dirty="0"/>
              <a:t> </a:t>
            </a:r>
            <a:r>
              <a:rPr dirty="0" err="1"/>
              <a:t>메타</a:t>
            </a:r>
            <a:br>
              <a:rPr dirty="0"/>
            </a:br>
            <a:r>
              <a:rPr dirty="0" err="1"/>
              <a:t>PyDICOM</a:t>
            </a:r>
            <a:r>
              <a:rPr dirty="0"/>
              <a:t> + ITK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FA1042-CC30-C279-5301-496F9C764E81}"/>
              </a:ext>
            </a:extLst>
          </p:cNvPr>
          <p:cNvSpPr/>
          <p:nvPr/>
        </p:nvSpPr>
        <p:spPr>
          <a:xfrm>
            <a:off x="271440" y="5638608"/>
            <a:ext cx="3434928" cy="180000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  자동 생성 기능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8406E26-9EC1-E588-2B3F-347D9ED4815E}"/>
              </a:ext>
            </a:extLst>
          </p:cNvPr>
          <p:cNvSpPr/>
          <p:nvPr/>
        </p:nvSpPr>
        <p:spPr>
          <a:xfrm>
            <a:off x="271440" y="5818608"/>
            <a:ext cx="3434928" cy="64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메타데이터</a:t>
            </a:r>
            <a:r>
              <a:rPr dirty="0"/>
              <a:t> 기반 DDL 자동 </a:t>
            </a:r>
            <a:r>
              <a:rPr dirty="0" err="1"/>
              <a:t>생성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포맷별</a:t>
            </a:r>
            <a:r>
              <a:rPr dirty="0"/>
              <a:t> </a:t>
            </a:r>
            <a:r>
              <a:rPr dirty="0" err="1"/>
              <a:t>취득</a:t>
            </a:r>
            <a:r>
              <a:rPr dirty="0"/>
              <a:t> </a:t>
            </a:r>
            <a:r>
              <a:rPr dirty="0" err="1"/>
              <a:t>템플릿</a:t>
            </a:r>
            <a:r>
              <a:rPr dirty="0"/>
              <a:t> </a:t>
            </a:r>
            <a:r>
              <a:rPr dirty="0" err="1"/>
              <a:t>제공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OpenAPI Spec 기반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생성</a:t>
            </a:r>
            <a:endParaRPr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5674A8-4C2B-85CE-A7C6-EEFA08CD1827}"/>
              </a:ext>
            </a:extLst>
          </p:cNvPr>
          <p:cNvSpPr/>
          <p:nvPr/>
        </p:nvSpPr>
        <p:spPr>
          <a:xfrm>
            <a:off x="5326380" y="5638607"/>
            <a:ext cx="4307142" cy="166649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  기술 연동 방안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6A0411-5DED-084B-D18E-6749E8E7B746}"/>
              </a:ext>
            </a:extLst>
          </p:cNvPr>
          <p:cNvSpPr/>
          <p:nvPr/>
        </p:nvSpPr>
        <p:spPr>
          <a:xfrm>
            <a:off x="5326380" y="5818608"/>
            <a:ext cx="4307142" cy="64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lang="en-US" altLang="ko-KR" dirty="0"/>
              <a:t>• </a:t>
            </a:r>
            <a:r>
              <a:rPr lang="ko-KR" altLang="en-US" dirty="0"/>
              <a:t>동일한 </a:t>
            </a:r>
            <a:r>
              <a:rPr lang="en-US" altLang="ko-KR" dirty="0"/>
              <a:t>Spark </a:t>
            </a:r>
            <a:r>
              <a:rPr lang="ko-KR" altLang="en-US" dirty="0"/>
              <a:t>엔진 기반으로 모든 데이터 처리 </a:t>
            </a:r>
            <a:r>
              <a:rPr lang="en-US" altLang="ko-KR" dirty="0"/>
              <a:t>(Spark Connect </a:t>
            </a:r>
            <a:r>
              <a:rPr lang="ko-KR" altLang="en-US" dirty="0"/>
              <a:t>활용</a:t>
            </a:r>
            <a:r>
              <a:rPr lang="en-US" altLang="ko-KR" dirty="0"/>
              <a:t>)</a:t>
            </a:r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lang="en-US" altLang="ko-KR" dirty="0"/>
              <a:t>• </a:t>
            </a:r>
            <a:r>
              <a:rPr lang="ko-KR" altLang="en-US" dirty="0"/>
              <a:t>다른 기술</a:t>
            </a:r>
            <a:r>
              <a:rPr lang="en-US" altLang="ko-KR" dirty="0"/>
              <a:t>Set(Python, SQL, Scala) </a:t>
            </a:r>
            <a:r>
              <a:rPr lang="ko-KR" altLang="en-US" dirty="0"/>
              <a:t>간 원활한 연동</a:t>
            </a:r>
            <a:r>
              <a:rPr lang="en-US" altLang="ko-KR" dirty="0"/>
              <a:t>: </a:t>
            </a:r>
            <a:r>
              <a:rPr lang="en-US" altLang="ko-KR" dirty="0" err="1"/>
              <a:t>Jupyter</a:t>
            </a:r>
            <a:r>
              <a:rPr lang="en-US" altLang="ko-KR" dirty="0"/>
              <a:t> + Spark + Delta Lake</a:t>
            </a:r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lang="en-US" altLang="ko-KR" dirty="0"/>
              <a:t>• Template Registry: Git </a:t>
            </a:r>
            <a:r>
              <a:rPr lang="ko-KR" altLang="en-US" dirty="0"/>
              <a:t>기반 취득 템플릿 버전 관리 및 공유</a:t>
            </a:r>
          </a:p>
        </p:txBody>
      </p:sp>
      <p:pic>
        <p:nvPicPr>
          <p:cNvPr id="2050" name="Picture 2" descr="What is JDBC? Java Database Connectivity.">
            <a:extLst>
              <a:ext uri="{FF2B5EF4-FFF2-40B4-BE49-F238E27FC236}">
                <a16:creationId xmlns:a16="http://schemas.microsoft.com/office/drawing/2014/main" id="{47D5BB40-6588-2DF8-1222-BF2AC0A06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376" y="2048137"/>
            <a:ext cx="1628009" cy="113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2DA44E9-6210-2211-2B6E-721E15E85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1664"/>
          <a:stretch>
            <a:fillRect/>
          </a:stretch>
        </p:blipFill>
        <p:spPr>
          <a:xfrm>
            <a:off x="3817752" y="2307359"/>
            <a:ext cx="2089697" cy="769381"/>
          </a:xfrm>
          <a:prstGeom prst="rect">
            <a:avLst/>
          </a:prstGeom>
        </p:spPr>
      </p:pic>
      <p:pic>
        <p:nvPicPr>
          <p:cNvPr id="2054" name="Picture 6" descr="4. Spark SQL and DataFrames: Introduction to Built-in Data Sources -  Learning Spark, 2nd Edition [Book]">
            <a:extLst>
              <a:ext uri="{FF2B5EF4-FFF2-40B4-BE49-F238E27FC236}">
                <a16:creationId xmlns:a16="http://schemas.microsoft.com/office/drawing/2014/main" id="{24D3DD39-E2FE-6318-F3FF-D18FAD498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237" y="1974577"/>
            <a:ext cx="1538790" cy="1190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 Complete Guide to GraphQL and its impact with API development.">
            <a:extLst>
              <a:ext uri="{FF2B5EF4-FFF2-40B4-BE49-F238E27FC236}">
                <a16:creationId xmlns:a16="http://schemas.microsoft.com/office/drawing/2014/main" id="{E4BE1802-C6ED-25C5-A2AC-40ED9C5C0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42" y="3810632"/>
            <a:ext cx="2009675" cy="125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44870E5-9D5A-9778-1090-C53CA29895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03376" y="4007328"/>
            <a:ext cx="2221382" cy="102709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45AB957-4ACC-F93E-7599-32B48260E6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6853" y="4007328"/>
            <a:ext cx="1117227" cy="1117227"/>
          </a:xfrm>
          <a:prstGeom prst="rect">
            <a:avLst/>
          </a:prstGeom>
        </p:spPr>
      </p:pic>
      <p:pic>
        <p:nvPicPr>
          <p:cNvPr id="2062" name="Picture 14" descr="itk.imread of dicom images with dtype int16 - Engineering - ITK">
            <a:extLst>
              <a:ext uri="{FF2B5EF4-FFF2-40B4-BE49-F238E27FC236}">
                <a16:creationId xmlns:a16="http://schemas.microsoft.com/office/drawing/2014/main" id="{AE8C7FBE-31D3-8D14-E110-EEED4EB36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8675" y="4007328"/>
            <a:ext cx="1387422" cy="114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692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0AC76-4BEE-7100-BA6D-7613C269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5F58650-414F-3085-4AD9-E24CC697B3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4.2 </a:t>
            </a:r>
            <a:r>
              <a:rPr lang="ko-KR" altLang="en-US" dirty="0"/>
              <a:t>통일된 데이터 취득 기술의 확보 방안 수립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D0F231B-5B8A-43A0-79F5-DA045582B65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1139" y="145620"/>
            <a:ext cx="5400000" cy="217304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취득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82F089A-D797-35E7-EC4C-BE9FB6113FB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데이터 형태</a:t>
            </a:r>
            <a:r>
              <a:rPr lang="en-US" altLang="ko-KR" dirty="0"/>
              <a:t>(RDBMS, NoSQL, File, API)</a:t>
            </a:r>
            <a:r>
              <a:rPr lang="ko-KR" altLang="en-US" dirty="0"/>
              <a:t>에 관계없이 </a:t>
            </a:r>
            <a:r>
              <a:rPr lang="en-US" altLang="ko-KR" dirty="0"/>
              <a:t>Apache Spark</a:t>
            </a:r>
            <a:r>
              <a:rPr lang="ko-KR" altLang="en-US" dirty="0"/>
              <a:t>와 통합 커넥터를 활용하여 동일한 기술 기반으로 작업을 수행하겠습니다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66C79E90-C2DB-2C1E-80ED-39205E83B8A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통합 데이터 취득 관리 체계</a:t>
            </a:r>
          </a:p>
        </p:txBody>
      </p:sp>
      <p:grpSp>
        <p:nvGrpSpPr>
          <p:cNvPr id="83" name="그룹 151">
            <a:extLst>
              <a:ext uri="{FF2B5EF4-FFF2-40B4-BE49-F238E27FC236}">
                <a16:creationId xmlns:a16="http://schemas.microsoft.com/office/drawing/2014/main" id="{A7467F04-CB31-8BDC-CDD6-231BD039509D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84" name="모서리가 둥근 직사각형 20">
              <a:extLst>
                <a:ext uri="{FF2B5EF4-FFF2-40B4-BE49-F238E27FC236}">
                  <a16:creationId xmlns:a16="http://schemas.microsoft.com/office/drawing/2014/main" id="{BB6102C2-7D3E-95C4-78A4-1EDC9B754E0E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5" name="직사각형 153">
              <a:extLst>
                <a:ext uri="{FF2B5EF4-FFF2-40B4-BE49-F238E27FC236}">
                  <a16:creationId xmlns:a16="http://schemas.microsoft.com/office/drawing/2014/main" id="{06B49CDD-E0CC-14AD-A30E-DE3BBA6C9D8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DIR-00</a:t>
              </a: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２</a:t>
              </a:r>
              <a:endPara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oPub돋움체 Bold"/>
                <a:ea typeface="KoPub돋움체 Bold"/>
              </a:endParaRPr>
            </a:p>
          </p:txBody>
        </p:sp>
        <p:sp>
          <p:nvSpPr>
            <p:cNvPr id="86" name="직사각형 154">
              <a:extLst>
                <a:ext uri="{FF2B5EF4-FFF2-40B4-BE49-F238E27FC236}">
                  <a16:creationId xmlns:a16="http://schemas.microsoft.com/office/drawing/2014/main" id="{DDD9C974-D1E4-22FE-E02C-120B5D43A8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87" name="직선 연결선 155">
              <a:extLst>
                <a:ext uri="{FF2B5EF4-FFF2-40B4-BE49-F238E27FC236}">
                  <a16:creationId xmlns:a16="http://schemas.microsoft.com/office/drawing/2014/main" id="{9F702809-02FE-F6D6-5948-155BAD96E482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 15">
            <a:extLst>
              <a:ext uri="{FF2B5EF4-FFF2-40B4-BE49-F238E27FC236}">
                <a16:creationId xmlns:a16="http://schemas.microsoft.com/office/drawing/2014/main" id="{BF839CAB-4A05-7B36-DB73-834A64F5D493}"/>
              </a:ext>
            </a:extLst>
          </p:cNvPr>
          <p:cNvSpPr/>
          <p:nvPr/>
        </p:nvSpPr>
        <p:spPr>
          <a:xfrm>
            <a:off x="-3023555" y="4483174"/>
            <a:ext cx="1737680" cy="93345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EA4716D3-0687-9E79-EF5D-E86914943651}"/>
              </a:ext>
            </a:extLst>
          </p:cNvPr>
          <p:cNvSpPr/>
          <p:nvPr/>
        </p:nvSpPr>
        <p:spPr>
          <a:xfrm>
            <a:off x="-3023555" y="5616649"/>
            <a:ext cx="1737680" cy="93345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endParaRPr lang="en-US" sz="1000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8B6836B-08C2-7A2B-E92E-04D8A9BDD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448916"/>
              </p:ext>
            </p:extLst>
          </p:nvPr>
        </p:nvGraphicFramePr>
        <p:xfrm>
          <a:off x="272482" y="1888202"/>
          <a:ext cx="9377825" cy="4588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4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8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7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886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데이터 원천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커넥터/기술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취득 템플릿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자동 생성 기능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198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RDBMS</a:t>
                      </a:r>
                    </a:p>
                    <a:p>
                      <a:pPr algn="l"/>
                      <a:r>
                        <a:rPr sz="1000" dirty="0"/>
                        <a:t>(Oracle, PostgreSQL)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JDBC Connector</a:t>
                      </a:r>
                    </a:p>
                    <a:p>
                      <a:pPr algn="l"/>
                      <a:r>
                        <a:rPr sz="1000"/>
                        <a:t>Spark SQL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</a:t>
                      </a:r>
                      <a:r>
                        <a:rPr sz="1000" dirty="0" err="1"/>
                        <a:t>테이블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전체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복사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템플릿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Incremental </a:t>
                      </a:r>
                      <a:r>
                        <a:rPr sz="1000" dirty="0" err="1"/>
                        <a:t>추출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템플릿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Partition Pruning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메타데이터 기반</a:t>
                      </a:r>
                    </a:p>
                    <a:p>
                      <a:pPr algn="l"/>
                      <a:r>
                        <a:rPr sz="1000"/>
                        <a:t>자동 DDL 생성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98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NoSQL</a:t>
                      </a:r>
                    </a:p>
                    <a:p>
                      <a:pPr algn="l"/>
                      <a:r>
                        <a:rPr sz="1000"/>
                        <a:t>(MongoDB, Redis)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MongoDB Connector</a:t>
                      </a:r>
                    </a:p>
                    <a:p>
                      <a:pPr algn="l"/>
                      <a:r>
                        <a:rPr sz="1000" dirty="0"/>
                        <a:t>Redis Connector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Collection Export </a:t>
                      </a:r>
                      <a:r>
                        <a:rPr sz="1000" dirty="0" err="1"/>
                        <a:t>템플릿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Schema Inference</a:t>
                      </a:r>
                    </a:p>
                    <a:p>
                      <a:pPr algn="l"/>
                      <a:r>
                        <a:rPr sz="1000" dirty="0"/>
                        <a:t>- Nested </a:t>
                      </a:r>
                      <a:r>
                        <a:rPr sz="1000" dirty="0" err="1"/>
                        <a:t>데이터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평탄화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JSON Schema</a:t>
                      </a:r>
                    </a:p>
                    <a:p>
                      <a:pPr algn="l"/>
                      <a:r>
                        <a:rPr sz="1000"/>
                        <a:t>자동 추출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98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File</a:t>
                      </a:r>
                    </a:p>
                    <a:p>
                      <a:pPr algn="l"/>
                      <a:r>
                        <a:rPr sz="1000"/>
                        <a:t>(CSV, JSON, Parquet)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Spark DataFrameReader</a:t>
                      </a:r>
                    </a:p>
                    <a:p>
                      <a:pPr algn="l"/>
                      <a:r>
                        <a:rPr sz="1000"/>
                        <a:t>PyArrow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</a:t>
                      </a:r>
                      <a:r>
                        <a:rPr sz="1000" dirty="0" err="1"/>
                        <a:t>다중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파일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병합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템플릿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Schema Evolution </a:t>
                      </a:r>
                      <a:r>
                        <a:rPr sz="1000" dirty="0" err="1"/>
                        <a:t>처리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Compression </a:t>
                      </a:r>
                      <a:r>
                        <a:rPr sz="1000" dirty="0" err="1"/>
                        <a:t>지원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파일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스캔</a:t>
                      </a:r>
                      <a:r>
                        <a:rPr sz="1000" dirty="0"/>
                        <a:t> 기반</a:t>
                      </a:r>
                    </a:p>
                    <a:p>
                      <a:pPr algn="l"/>
                      <a:r>
                        <a:rPr sz="1000" dirty="0"/>
                        <a:t>자동 </a:t>
                      </a:r>
                      <a:r>
                        <a:rPr sz="1000" dirty="0" err="1"/>
                        <a:t>스키마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유추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98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API/Web Service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Requests, aiohttp</a:t>
                      </a:r>
                    </a:p>
                    <a:p>
                      <a:pPr algn="l"/>
                      <a:r>
                        <a:rPr sz="1000"/>
                        <a:t>Singer Taps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REST API </a:t>
                      </a:r>
                      <a:r>
                        <a:rPr sz="1000" dirty="0" err="1"/>
                        <a:t>호출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템플릿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Pagination </a:t>
                      </a:r>
                      <a:r>
                        <a:rPr sz="1000" dirty="0" err="1"/>
                        <a:t>처리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Rate Limiting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OpenAPI Spec 기반</a:t>
                      </a:r>
                    </a:p>
                    <a:p>
                      <a:pPr algn="l"/>
                      <a:r>
                        <a:rPr sz="1000" dirty="0"/>
                        <a:t>자동 </a:t>
                      </a:r>
                      <a:r>
                        <a:rPr sz="1000" dirty="0" err="1"/>
                        <a:t>코드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생성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1987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의료 데이터</a:t>
                      </a:r>
                    </a:p>
                    <a:p>
                      <a:pPr algn="l"/>
                      <a:r>
                        <a:rPr sz="1000"/>
                        <a:t>(HL7, FHIR, DICOM)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HAPI FHIR, </a:t>
                      </a:r>
                      <a:r>
                        <a:rPr sz="1000" dirty="0" err="1"/>
                        <a:t>PyDICOM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MIRTH Connect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FHIR Resource </a:t>
                      </a:r>
                      <a:r>
                        <a:rPr sz="1000" dirty="0" err="1"/>
                        <a:t>추출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DICOM </a:t>
                      </a:r>
                      <a:r>
                        <a:rPr sz="1000" dirty="0" err="1"/>
                        <a:t>메타데이터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추출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- HL7 </a:t>
                      </a:r>
                      <a:r>
                        <a:rPr sz="1000" dirty="0" err="1"/>
                        <a:t>메시지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파싱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표준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스키마</a:t>
                      </a:r>
                      <a:endParaRPr sz="1000" dirty="0"/>
                    </a:p>
                    <a:p>
                      <a:pPr algn="l"/>
                      <a:r>
                        <a:rPr sz="1000" dirty="0"/>
                        <a:t>자동 매핑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676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7E3C3-CED5-94DF-580D-8C4FA3385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85733A8-38E4-F801-58B0-34ED1D7D2D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4.3 </a:t>
            </a:r>
            <a:r>
              <a:rPr lang="ko-KR" altLang="en-US" dirty="0"/>
              <a:t>원천데이터의 변화에 대한 대응 방안 수립 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F47545C6-1CA8-414F-DE5D-5D7AAEC21E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1139" y="145620"/>
            <a:ext cx="5400000" cy="217304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취득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961D991-798F-BED0-BB52-374D48452C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Schema Registry</a:t>
            </a:r>
            <a:r>
              <a:rPr lang="ko-KR" altLang="en-US" dirty="0"/>
              <a:t>와 자동 스키마 변경 탐지 시스템을 구축하여</a:t>
            </a:r>
            <a:r>
              <a:rPr lang="en-US" altLang="ko-KR" dirty="0"/>
              <a:t>, </a:t>
            </a:r>
            <a:r>
              <a:rPr lang="ko-KR" altLang="en-US" dirty="0"/>
              <a:t>원천 시스템의 </a:t>
            </a:r>
            <a:r>
              <a:rPr lang="en-US" altLang="ko-KR" dirty="0"/>
              <a:t>DDL </a:t>
            </a:r>
            <a:r>
              <a:rPr lang="ko-KR" altLang="en-US" dirty="0"/>
              <a:t>변경에 실시간으로 대응하고</a:t>
            </a:r>
            <a:r>
              <a:rPr lang="en-US" altLang="ko-KR" dirty="0"/>
              <a:t>, </a:t>
            </a:r>
            <a:r>
              <a:rPr lang="ko-KR" altLang="en-US" dirty="0"/>
              <a:t>스키마 변화에 대한 </a:t>
            </a:r>
            <a:r>
              <a:rPr lang="en-US" altLang="ko-KR" dirty="0"/>
              <a:t>Logging</a:t>
            </a:r>
            <a:r>
              <a:rPr lang="ko-KR" altLang="en-US" dirty="0"/>
              <a:t>과 </a:t>
            </a:r>
            <a:r>
              <a:rPr lang="en-US" altLang="ko-KR" dirty="0"/>
              <a:t>Monitoring</a:t>
            </a:r>
            <a:r>
              <a:rPr lang="ko-KR" altLang="en-US" dirty="0"/>
              <a:t>으로 변경 이력을 추적하고</a:t>
            </a:r>
            <a:r>
              <a:rPr lang="en-US" altLang="ko-KR" dirty="0"/>
              <a:t>, </a:t>
            </a:r>
            <a:r>
              <a:rPr lang="ko-KR" altLang="en-US" dirty="0"/>
              <a:t>허용 범위 내 자동 반영 기준을 정의하겠습니다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0422691-0ADA-7868-E4AD-9BFA4E09B6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스키마 변경 탐지 및 자동 대응 체계</a:t>
            </a:r>
          </a:p>
        </p:txBody>
      </p:sp>
      <p:grpSp>
        <p:nvGrpSpPr>
          <p:cNvPr id="83" name="그룹 151">
            <a:extLst>
              <a:ext uri="{FF2B5EF4-FFF2-40B4-BE49-F238E27FC236}">
                <a16:creationId xmlns:a16="http://schemas.microsoft.com/office/drawing/2014/main" id="{43EBAD7D-3963-A3E3-6616-48C82DA035E7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84" name="모서리가 둥근 직사각형 20">
              <a:extLst>
                <a:ext uri="{FF2B5EF4-FFF2-40B4-BE49-F238E27FC236}">
                  <a16:creationId xmlns:a16="http://schemas.microsoft.com/office/drawing/2014/main" id="{3F81997D-D602-2835-B599-A41742E07ADC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5" name="직사각형 153">
              <a:extLst>
                <a:ext uri="{FF2B5EF4-FFF2-40B4-BE49-F238E27FC236}">
                  <a16:creationId xmlns:a16="http://schemas.microsoft.com/office/drawing/2014/main" id="{D4D8F876-E715-8B9A-F0DB-4495C1BD1DEF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DIR-00</a:t>
              </a: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３</a:t>
              </a:r>
              <a:endPara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oPub돋움체 Bold"/>
                <a:ea typeface="KoPub돋움체 Bold"/>
              </a:endParaRPr>
            </a:p>
          </p:txBody>
        </p:sp>
        <p:sp>
          <p:nvSpPr>
            <p:cNvPr id="86" name="직사각형 154">
              <a:extLst>
                <a:ext uri="{FF2B5EF4-FFF2-40B4-BE49-F238E27FC236}">
                  <a16:creationId xmlns:a16="http://schemas.microsoft.com/office/drawing/2014/main" id="{0499D468-C889-BA5C-4B4D-36EB28BD93F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87" name="직선 연결선 155">
              <a:extLst>
                <a:ext uri="{FF2B5EF4-FFF2-40B4-BE49-F238E27FC236}">
                  <a16:creationId xmlns:a16="http://schemas.microsoft.com/office/drawing/2014/main" id="{454546A1-07EE-A646-1F45-6CD3CE293A81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 15">
            <a:extLst>
              <a:ext uri="{FF2B5EF4-FFF2-40B4-BE49-F238E27FC236}">
                <a16:creationId xmlns:a16="http://schemas.microsoft.com/office/drawing/2014/main" id="{1BBCCA68-7916-0907-00D8-966ADDE125A2}"/>
              </a:ext>
            </a:extLst>
          </p:cNvPr>
          <p:cNvSpPr/>
          <p:nvPr/>
        </p:nvSpPr>
        <p:spPr>
          <a:xfrm>
            <a:off x="-3023555" y="4483174"/>
            <a:ext cx="1737680" cy="93345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E4FC8857-EE2D-FE59-4246-01AB5606D5F4}"/>
              </a:ext>
            </a:extLst>
          </p:cNvPr>
          <p:cNvSpPr/>
          <p:nvPr/>
        </p:nvSpPr>
        <p:spPr>
          <a:xfrm>
            <a:off x="-3023555" y="5616649"/>
            <a:ext cx="1737680" cy="93345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4E59ADB-C5C8-E799-4FAD-6B1888520BBB}"/>
              </a:ext>
            </a:extLst>
          </p:cNvPr>
          <p:cNvGrpSpPr/>
          <p:nvPr/>
        </p:nvGrpSpPr>
        <p:grpSpPr>
          <a:xfrm>
            <a:off x="268598" y="2040264"/>
            <a:ext cx="1454976" cy="592608"/>
            <a:chOff x="238118" y="2040264"/>
            <a:chExt cx="1454976" cy="592608"/>
          </a:xfrm>
        </p:grpSpPr>
        <p:sp>
          <p:nvSpPr>
            <p:cNvPr id="2" name="Rounded Rectangle 12">
              <a:extLst>
                <a:ext uri="{FF2B5EF4-FFF2-40B4-BE49-F238E27FC236}">
                  <a16:creationId xmlns:a16="http://schemas.microsoft.com/office/drawing/2014/main" id="{2724CD76-BDC0-5944-5C3E-956A2FBC20C3}"/>
                </a:ext>
              </a:extLst>
            </p:cNvPr>
            <p:cNvSpPr/>
            <p:nvPr/>
          </p:nvSpPr>
          <p:spPr>
            <a:xfrm>
              <a:off x="238118" y="2040264"/>
              <a:ext cx="1454976" cy="592608"/>
            </a:xfrm>
            <a:prstGeom prst="roundRect">
              <a:avLst/>
            </a:prstGeom>
            <a:solidFill>
              <a:srgbClr val="005BA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B6FF2B3-339A-B3ED-93FB-3ACA36CDAAC6}"/>
                </a:ext>
              </a:extLst>
            </p:cNvPr>
            <p:cNvSpPr/>
            <p:nvPr/>
          </p:nvSpPr>
          <p:spPr>
            <a:xfrm>
              <a:off x="311808" y="2052480"/>
              <a:ext cx="180000" cy="18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05BAC"/>
                  </a:solidFill>
                </a:defRPr>
              </a:pPr>
              <a:r>
                <a:t>1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C7A0022-C625-400F-2C69-352B781F9A77}"/>
                </a:ext>
              </a:extLst>
            </p:cNvPr>
            <p:cNvSpPr txBox="1"/>
            <p:nvPr/>
          </p:nvSpPr>
          <p:spPr>
            <a:xfrm>
              <a:off x="527808" y="2070480"/>
              <a:ext cx="80112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  <a:r>
                <a:rPr dirty="0" err="1"/>
                <a:t>변경</a:t>
              </a:r>
              <a:r>
                <a:rPr dirty="0"/>
                <a:t> </a:t>
              </a:r>
              <a:r>
                <a:rPr dirty="0" err="1"/>
                <a:t>탐지</a:t>
              </a:r>
              <a:endParaRPr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E38252-7EBE-4F08-91C1-89D8C05562BF}"/>
                </a:ext>
              </a:extLst>
            </p:cNvPr>
            <p:cNvSpPr txBox="1"/>
            <p:nvPr/>
          </p:nvSpPr>
          <p:spPr>
            <a:xfrm>
              <a:off x="329808" y="2214480"/>
              <a:ext cx="104702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r>
                <a:rPr dirty="0" err="1"/>
                <a:t>Debezium</a:t>
              </a:r>
              <a:r>
                <a:rPr dirty="0"/>
                <a:t> DDL</a:t>
              </a:r>
              <a:br>
                <a:rPr dirty="0"/>
              </a:br>
              <a:r>
                <a:rPr dirty="0"/>
                <a:t>Schema Registry</a:t>
              </a:r>
            </a:p>
          </p:txBody>
        </p:sp>
      </p:grpSp>
      <p:sp>
        <p:nvSpPr>
          <p:cNvPr id="6" name="Right Arrow 16">
            <a:extLst>
              <a:ext uri="{FF2B5EF4-FFF2-40B4-BE49-F238E27FC236}">
                <a16:creationId xmlns:a16="http://schemas.microsoft.com/office/drawing/2014/main" id="{F5F1A0A6-2D39-CC9A-407F-FB00F830179E}"/>
              </a:ext>
            </a:extLst>
          </p:cNvPr>
          <p:cNvSpPr/>
          <p:nvPr/>
        </p:nvSpPr>
        <p:spPr>
          <a:xfrm>
            <a:off x="1948599" y="2214480"/>
            <a:ext cx="72000" cy="108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E227416-AFB4-CAE4-B5ED-B582A4B0E818}"/>
              </a:ext>
            </a:extLst>
          </p:cNvPr>
          <p:cNvGrpSpPr/>
          <p:nvPr/>
        </p:nvGrpSpPr>
        <p:grpSpPr>
          <a:xfrm>
            <a:off x="2245624" y="2016480"/>
            <a:ext cx="1454976" cy="592608"/>
            <a:chOff x="2363808" y="2016480"/>
            <a:chExt cx="1454976" cy="592608"/>
          </a:xfrm>
        </p:grpSpPr>
        <p:sp>
          <p:nvSpPr>
            <p:cNvPr id="7" name="Rounded Rectangle 17">
              <a:extLst>
                <a:ext uri="{FF2B5EF4-FFF2-40B4-BE49-F238E27FC236}">
                  <a16:creationId xmlns:a16="http://schemas.microsoft.com/office/drawing/2014/main" id="{0B45B2D7-FE5E-48F3-AA23-A4B982361FF6}"/>
                </a:ext>
              </a:extLst>
            </p:cNvPr>
            <p:cNvSpPr/>
            <p:nvPr/>
          </p:nvSpPr>
          <p:spPr>
            <a:xfrm>
              <a:off x="2363808" y="2016480"/>
              <a:ext cx="1454976" cy="592608"/>
            </a:xfrm>
            <a:prstGeom prst="round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31AD4A6-DA08-E69A-CE16-7BB02B5EF556}"/>
                </a:ext>
              </a:extLst>
            </p:cNvPr>
            <p:cNvSpPr/>
            <p:nvPr/>
          </p:nvSpPr>
          <p:spPr>
            <a:xfrm>
              <a:off x="2399807" y="2052480"/>
              <a:ext cx="180000" cy="18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0AEEF"/>
                  </a:solidFill>
                </a:defRPr>
              </a:pPr>
              <a:r>
                <a:t>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B5672D-1C5E-FBDE-E79D-5BA33BC34140}"/>
                </a:ext>
              </a:extLst>
            </p:cNvPr>
            <p:cNvSpPr txBox="1"/>
            <p:nvPr/>
          </p:nvSpPr>
          <p:spPr>
            <a:xfrm>
              <a:off x="2615808" y="2070480"/>
              <a:ext cx="7518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  <a:r>
                <a:t>영향 분석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A9E9183-1AF8-5DEE-384E-4775C2F7A168}"/>
                </a:ext>
              </a:extLst>
            </p:cNvPr>
            <p:cNvSpPr txBox="1"/>
            <p:nvPr/>
          </p:nvSpPr>
          <p:spPr>
            <a:xfrm>
              <a:off x="2417808" y="2214480"/>
              <a:ext cx="1059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r>
                <a:rPr dirty="0" err="1"/>
                <a:t>종속</a:t>
              </a:r>
              <a:r>
                <a:rPr dirty="0"/>
                <a:t> </a:t>
              </a:r>
              <a:r>
                <a:rPr dirty="0" err="1"/>
                <a:t>테이블</a:t>
              </a:r>
              <a:br>
                <a:rPr dirty="0"/>
              </a:br>
              <a:r>
                <a:rPr dirty="0" err="1"/>
                <a:t>파이프라인</a:t>
              </a:r>
              <a:r>
                <a:rPr dirty="0"/>
                <a:t> </a:t>
              </a:r>
              <a:r>
                <a:rPr dirty="0" err="1"/>
                <a:t>식별</a:t>
              </a:r>
              <a:endParaRPr dirty="0"/>
            </a:p>
          </p:txBody>
        </p:sp>
      </p:grpSp>
      <p:sp>
        <p:nvSpPr>
          <p:cNvPr id="15" name="Right Arrow 21">
            <a:extLst>
              <a:ext uri="{FF2B5EF4-FFF2-40B4-BE49-F238E27FC236}">
                <a16:creationId xmlns:a16="http://schemas.microsoft.com/office/drawing/2014/main" id="{CD0ED965-BA1D-B038-8039-10C3E8CA4C17}"/>
              </a:ext>
            </a:extLst>
          </p:cNvPr>
          <p:cNvSpPr/>
          <p:nvPr/>
        </p:nvSpPr>
        <p:spPr>
          <a:xfrm>
            <a:off x="3925625" y="2214480"/>
            <a:ext cx="72000" cy="108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19F5A5D-530F-0CEE-0E05-1094F4688AE0}"/>
              </a:ext>
            </a:extLst>
          </p:cNvPr>
          <p:cNvGrpSpPr/>
          <p:nvPr/>
        </p:nvGrpSpPr>
        <p:grpSpPr>
          <a:xfrm>
            <a:off x="4222650" y="2016480"/>
            <a:ext cx="1454976" cy="592608"/>
            <a:chOff x="4451808" y="2016480"/>
            <a:chExt cx="1454976" cy="592608"/>
          </a:xfrm>
        </p:grpSpPr>
        <p:sp>
          <p:nvSpPr>
            <p:cNvPr id="16" name="Rounded Rectangle 22">
              <a:extLst>
                <a:ext uri="{FF2B5EF4-FFF2-40B4-BE49-F238E27FC236}">
                  <a16:creationId xmlns:a16="http://schemas.microsoft.com/office/drawing/2014/main" id="{67975D84-B131-02C1-658B-594EF9580D8E}"/>
                </a:ext>
              </a:extLst>
            </p:cNvPr>
            <p:cNvSpPr/>
            <p:nvPr/>
          </p:nvSpPr>
          <p:spPr>
            <a:xfrm>
              <a:off x="4451808" y="2016480"/>
              <a:ext cx="1454976" cy="592608"/>
            </a:xfrm>
            <a:prstGeom prst="roundRect">
              <a:avLst/>
            </a:prstGeom>
            <a:solidFill>
              <a:srgbClr val="00A6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18065DD-8FED-DCE7-1245-D9E63CFDBFC0}"/>
                </a:ext>
              </a:extLst>
            </p:cNvPr>
            <p:cNvSpPr/>
            <p:nvPr/>
          </p:nvSpPr>
          <p:spPr>
            <a:xfrm>
              <a:off x="4487808" y="2052480"/>
              <a:ext cx="180000" cy="18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0A65A"/>
                  </a:solidFill>
                </a:defRPr>
              </a:pPr>
              <a:r>
                <a:t>3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0149168-293C-FD65-8D47-85A4FAB96A26}"/>
                </a:ext>
              </a:extLst>
            </p:cNvPr>
            <p:cNvSpPr txBox="1"/>
            <p:nvPr/>
          </p:nvSpPr>
          <p:spPr>
            <a:xfrm>
              <a:off x="4703808" y="2070480"/>
              <a:ext cx="7518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  <a:r>
                <a:t>자동 판단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BFD1730-6B1D-2F58-577B-43C5D205D0E2}"/>
                </a:ext>
              </a:extLst>
            </p:cNvPr>
            <p:cNvSpPr txBox="1"/>
            <p:nvPr/>
          </p:nvSpPr>
          <p:spPr>
            <a:xfrm>
              <a:off x="4505808" y="2214480"/>
              <a:ext cx="1059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허용 범위</a:t>
              </a:r>
              <a:br/>
              <a:r>
                <a:t>자동/수동 결정</a:t>
              </a:r>
            </a:p>
          </p:txBody>
        </p:sp>
      </p:grpSp>
      <p:sp>
        <p:nvSpPr>
          <p:cNvPr id="20" name="Right Arrow 26">
            <a:extLst>
              <a:ext uri="{FF2B5EF4-FFF2-40B4-BE49-F238E27FC236}">
                <a16:creationId xmlns:a16="http://schemas.microsoft.com/office/drawing/2014/main" id="{969F83E3-68F9-DC31-7895-F1BBF826F76B}"/>
              </a:ext>
            </a:extLst>
          </p:cNvPr>
          <p:cNvSpPr/>
          <p:nvPr/>
        </p:nvSpPr>
        <p:spPr>
          <a:xfrm>
            <a:off x="5902651" y="2214480"/>
            <a:ext cx="72000" cy="108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EAF269B-53ED-E58A-8D08-43C6FAE7E6B4}"/>
              </a:ext>
            </a:extLst>
          </p:cNvPr>
          <p:cNvGrpSpPr/>
          <p:nvPr/>
        </p:nvGrpSpPr>
        <p:grpSpPr>
          <a:xfrm>
            <a:off x="6199676" y="2016480"/>
            <a:ext cx="1454976" cy="592608"/>
            <a:chOff x="6539808" y="2016480"/>
            <a:chExt cx="1454976" cy="592608"/>
          </a:xfrm>
        </p:grpSpPr>
        <p:sp>
          <p:nvSpPr>
            <p:cNvPr id="21" name="Rounded Rectangle 27">
              <a:extLst>
                <a:ext uri="{FF2B5EF4-FFF2-40B4-BE49-F238E27FC236}">
                  <a16:creationId xmlns:a16="http://schemas.microsoft.com/office/drawing/2014/main" id="{8CFD6B2F-CF70-E06A-4688-4E47B02ECEDA}"/>
                </a:ext>
              </a:extLst>
            </p:cNvPr>
            <p:cNvSpPr/>
            <p:nvPr/>
          </p:nvSpPr>
          <p:spPr>
            <a:xfrm>
              <a:off x="6539808" y="2016480"/>
              <a:ext cx="1454976" cy="592608"/>
            </a:xfrm>
            <a:prstGeom prst="round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5EE6EEE-9279-5D6A-81D2-50EC16DC8954}"/>
                </a:ext>
              </a:extLst>
            </p:cNvPr>
            <p:cNvSpPr/>
            <p:nvPr/>
          </p:nvSpPr>
          <p:spPr>
            <a:xfrm>
              <a:off x="6575808" y="2052480"/>
              <a:ext cx="180000" cy="18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FF9900"/>
                  </a:solidFill>
                </a:defRPr>
              </a:pPr>
              <a:r>
                <a:t>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9184247-7C06-D0C7-8FD9-7FB6F93643EB}"/>
                </a:ext>
              </a:extLst>
            </p:cNvPr>
            <p:cNvSpPr txBox="1"/>
            <p:nvPr/>
          </p:nvSpPr>
          <p:spPr>
            <a:xfrm>
              <a:off x="6791807" y="2070480"/>
              <a:ext cx="7518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  <a:r>
                <a:t>처리 실행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0DAAC70-4C79-3237-D1EF-1806A5D5C9C5}"/>
                </a:ext>
              </a:extLst>
            </p:cNvPr>
            <p:cNvSpPr txBox="1"/>
            <p:nvPr/>
          </p:nvSpPr>
          <p:spPr>
            <a:xfrm>
              <a:off x="6593807" y="2214480"/>
              <a:ext cx="1059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ALTER/Migration</a:t>
              </a:r>
              <a:br/>
              <a:r>
                <a:t>로깅/Alert</a:t>
              </a:r>
            </a:p>
          </p:txBody>
        </p:sp>
      </p:grpSp>
      <p:sp>
        <p:nvSpPr>
          <p:cNvPr id="25" name="Right Arrow 31">
            <a:extLst>
              <a:ext uri="{FF2B5EF4-FFF2-40B4-BE49-F238E27FC236}">
                <a16:creationId xmlns:a16="http://schemas.microsoft.com/office/drawing/2014/main" id="{A9140EF5-0485-5B64-DDE6-FDA14E231CB0}"/>
              </a:ext>
            </a:extLst>
          </p:cNvPr>
          <p:cNvSpPr/>
          <p:nvPr/>
        </p:nvSpPr>
        <p:spPr>
          <a:xfrm>
            <a:off x="7879677" y="2214480"/>
            <a:ext cx="72000" cy="108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E922E02-39A9-BC08-3506-2CBD1E399725}"/>
              </a:ext>
            </a:extLst>
          </p:cNvPr>
          <p:cNvGrpSpPr/>
          <p:nvPr/>
        </p:nvGrpSpPr>
        <p:grpSpPr>
          <a:xfrm>
            <a:off x="8176704" y="2016480"/>
            <a:ext cx="1454976" cy="592608"/>
            <a:chOff x="8176704" y="2016480"/>
            <a:chExt cx="1454976" cy="592608"/>
          </a:xfrm>
        </p:grpSpPr>
        <p:sp>
          <p:nvSpPr>
            <p:cNvPr id="26" name="Rounded Rectangle 32">
              <a:extLst>
                <a:ext uri="{FF2B5EF4-FFF2-40B4-BE49-F238E27FC236}">
                  <a16:creationId xmlns:a16="http://schemas.microsoft.com/office/drawing/2014/main" id="{B9FB0ACB-AC76-90F7-5D95-B01C0B4481DC}"/>
                </a:ext>
              </a:extLst>
            </p:cNvPr>
            <p:cNvSpPr/>
            <p:nvPr/>
          </p:nvSpPr>
          <p:spPr>
            <a:xfrm>
              <a:off x="8176704" y="2016480"/>
              <a:ext cx="1454976" cy="592608"/>
            </a:xfrm>
            <a:prstGeom prst="roundRect">
              <a:avLst/>
            </a:prstGeom>
            <a:solidFill>
              <a:srgbClr val="7B68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E5C711F-1B32-CD39-2AC9-55E411289678}"/>
                </a:ext>
              </a:extLst>
            </p:cNvPr>
            <p:cNvSpPr/>
            <p:nvPr/>
          </p:nvSpPr>
          <p:spPr>
            <a:xfrm>
              <a:off x="8212704" y="2052480"/>
              <a:ext cx="180000" cy="18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7B68EE"/>
                  </a:solidFill>
                </a:defRPr>
              </a:pPr>
              <a:r>
                <a:t>5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0D4E483-C054-C3D6-1682-0487379D0229}"/>
                </a:ext>
              </a:extLst>
            </p:cNvPr>
            <p:cNvSpPr txBox="1"/>
            <p:nvPr/>
          </p:nvSpPr>
          <p:spPr>
            <a:xfrm>
              <a:off x="8428704" y="2070480"/>
              <a:ext cx="75187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  <a:r>
                <a:t>검증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89E6D96-C838-3B7E-E1C0-D66EA0482E04}"/>
                </a:ext>
              </a:extLst>
            </p:cNvPr>
            <p:cNvSpPr txBox="1"/>
            <p:nvPr/>
          </p:nvSpPr>
          <p:spPr>
            <a:xfrm>
              <a:off x="8230704" y="2214480"/>
              <a:ext cx="10596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데이터 정합성</a:t>
              </a:r>
              <a:br/>
              <a:r>
                <a:t>품질 체크</a:t>
              </a:r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656DDDF3-4A92-4824-BF05-984310678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685819"/>
              </p:ext>
            </p:extLst>
          </p:nvPr>
        </p:nvGraphicFramePr>
        <p:xfrm>
          <a:off x="5311439" y="2764993"/>
          <a:ext cx="434183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9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5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8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변경 유형</a:t>
                      </a:r>
                    </a:p>
                  </a:txBody>
                  <a:tcPr anchor="ctr"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자동 처리</a:t>
                      </a:r>
                    </a:p>
                  </a:txBody>
                  <a:tcPr anchor="ctr"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수동 승인</a:t>
                      </a:r>
                    </a:p>
                  </a:txBody>
                  <a:tcPr anchor="ctr">
                    <a:solidFill>
                      <a:srgbClr val="005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컬럼 추가</a:t>
                      </a:r>
                    </a:p>
                  </a:txBody>
                  <a:tcPr anchor="ctr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○ 허용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호환 타입 변경</a:t>
                      </a:r>
                    </a:p>
                  </a:txBody>
                  <a:tcPr anchor="ctr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○ 허용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DML 변경</a:t>
                      </a:r>
                    </a:p>
                  </a:txBody>
                  <a:tcPr anchor="ctr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○ 허용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컬럼 삭제</a:t>
                      </a:r>
                    </a:p>
                  </a:txBody>
                  <a:tcPr anchor="ctr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● 필요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비호환 타입</a:t>
                      </a:r>
                    </a:p>
                  </a:txBody>
                  <a:tcPr anchor="ctr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● 필요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00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</a:defRPr>
                      </a:pPr>
                      <a:r>
                        <a:t>PK 변경</a:t>
                      </a:r>
                    </a:p>
                  </a:txBody>
                  <a:tcPr anchor="ctr"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4D4D4D"/>
                          </a:solidFill>
                        </a:defRPr>
                      </a:pPr>
                      <a:r>
                        <a:rPr dirty="0"/>
                        <a:t>● 필요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" name="Rectangle 30">
            <a:extLst>
              <a:ext uri="{FF2B5EF4-FFF2-40B4-BE49-F238E27FC236}">
                <a16:creationId xmlns:a16="http://schemas.microsoft.com/office/drawing/2014/main" id="{1FFE6459-60A0-67CA-CADF-A0ECD3976B8B}"/>
              </a:ext>
            </a:extLst>
          </p:cNvPr>
          <p:cNvSpPr/>
          <p:nvPr/>
        </p:nvSpPr>
        <p:spPr>
          <a:xfrm>
            <a:off x="5311440" y="4669488"/>
            <a:ext cx="1892107" cy="180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  CDC 자동 처리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A97D0C-1FF7-1980-9C32-CAFF0CBC5304}"/>
              </a:ext>
            </a:extLst>
          </p:cNvPr>
          <p:cNvSpPr/>
          <p:nvPr/>
        </p:nvSpPr>
        <p:spPr>
          <a:xfrm>
            <a:off x="5311440" y="4849488"/>
            <a:ext cx="1892107" cy="64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UPDATE/DELETE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반영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SCD Type 2 </a:t>
            </a:r>
            <a:r>
              <a:rPr dirty="0" err="1"/>
              <a:t>히스토리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Before/After Image </a:t>
            </a:r>
            <a:r>
              <a:rPr dirty="0" err="1"/>
              <a:t>저장</a:t>
            </a:r>
            <a:endParaRPr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6C57ED-12DC-41F9-C57B-4ED007823029}"/>
              </a:ext>
            </a:extLst>
          </p:cNvPr>
          <p:cNvSpPr/>
          <p:nvPr/>
        </p:nvSpPr>
        <p:spPr>
          <a:xfrm>
            <a:off x="5311440" y="5641488"/>
            <a:ext cx="1892107" cy="180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  변경 모니터링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83E5DD-0932-A6B1-423E-85F67E08A149}"/>
              </a:ext>
            </a:extLst>
          </p:cNvPr>
          <p:cNvSpPr/>
          <p:nvPr/>
        </p:nvSpPr>
        <p:spPr>
          <a:xfrm>
            <a:off x="5311440" y="5821488"/>
            <a:ext cx="1892107" cy="64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스키마</a:t>
            </a:r>
            <a:r>
              <a:rPr dirty="0"/>
              <a:t> </a:t>
            </a:r>
            <a:r>
              <a:rPr dirty="0" err="1"/>
              <a:t>변화</a:t>
            </a:r>
            <a:r>
              <a:rPr dirty="0"/>
              <a:t> Logging</a:t>
            </a:r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영향</a:t>
            </a:r>
            <a:r>
              <a:rPr dirty="0"/>
              <a:t> </a:t>
            </a:r>
            <a:r>
              <a:rPr dirty="0" err="1"/>
              <a:t>파이프라인</a:t>
            </a:r>
            <a:r>
              <a:rPr dirty="0"/>
              <a:t> 자동 </a:t>
            </a:r>
            <a:r>
              <a:rPr dirty="0" err="1"/>
              <a:t>식별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Slack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알림</a:t>
            </a:r>
            <a:endParaRPr dirty="0"/>
          </a:p>
        </p:txBody>
      </p:sp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4948789"/>
              </p:ext>
            </p:extLst>
          </p:nvPr>
        </p:nvGraphicFramePr>
        <p:xfrm>
          <a:off x="268598" y="2796971"/>
          <a:ext cx="4885924" cy="3672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4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6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4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276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변경 유형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탐지 방법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자동 대응 방안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수동 개입 기준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8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컬럼 추가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Debezium DDL Event</a:t>
                      </a:r>
                    </a:p>
                    <a:p>
                      <a:r>
                        <a:rPr sz="1000"/>
                        <a:t>Schema Registry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- 신규 컬럼 자동 추가</a:t>
                      </a:r>
                    </a:p>
                    <a:p>
                      <a:r>
                        <a:rPr sz="1000"/>
                        <a:t>- Nullable 기본값 설정</a:t>
                      </a:r>
                    </a:p>
                    <a:p>
                      <a:r>
                        <a:rPr sz="1000"/>
                        <a:t>- 타겟 테이블 ALTER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없음 (자동 허용)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8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컬럼 삭제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Schema Diff 비교</a:t>
                      </a:r>
                    </a:p>
                    <a:p>
                      <a:r>
                        <a:rPr sz="1000"/>
                        <a:t>Alert 발생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- Soft Delete 처리</a:t>
                      </a:r>
                    </a:p>
                    <a:p>
                      <a:r>
                        <a:rPr sz="1000"/>
                        <a:t>- 히스토리 테이블 보관</a:t>
                      </a:r>
                    </a:p>
                    <a:p>
                      <a:r>
                        <a:rPr sz="1000"/>
                        <a:t>- 파이프라인 일시 중지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영향 분석 후</a:t>
                      </a:r>
                    </a:p>
                    <a:p>
                      <a:r>
                        <a:rPr sz="1000"/>
                        <a:t>수동 승인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8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컬럼 타입 변경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Type Mismatch 감지</a:t>
                      </a:r>
                    </a:p>
                    <a:p>
                      <a:r>
                        <a:rPr sz="1000"/>
                        <a:t>호환성 검사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- 호환 가능 시 자동 변환</a:t>
                      </a:r>
                    </a:p>
                    <a:p>
                      <a:r>
                        <a:rPr sz="1000"/>
                        <a:t>  (int→bigint 등)</a:t>
                      </a:r>
                    </a:p>
                    <a:p>
                      <a:r>
                        <a:rPr sz="1000"/>
                        <a:t>- 비호환 시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비호환 변경 시</a:t>
                      </a:r>
                    </a:p>
                    <a:p>
                      <a:r>
                        <a:rPr sz="1000"/>
                        <a:t>마이그레이션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8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테이블 구조 변경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DDL Trigger 모니터링</a:t>
                      </a:r>
                    </a:p>
                    <a:p>
                      <a:r>
                        <a:rPr sz="1000"/>
                        <a:t>CDC Log 분석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- 변경 이벤트 로깅</a:t>
                      </a:r>
                    </a:p>
                    <a:p>
                      <a:r>
                        <a:rPr sz="1000"/>
                        <a:t>- 영향 파이프라인 식별</a:t>
                      </a:r>
                    </a:p>
                    <a:p>
                      <a:r>
                        <a:rPr sz="1000"/>
                        <a:t>- Slack 알림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구조 변경 시</a:t>
                      </a:r>
                    </a:p>
                    <a:p>
                      <a:r>
                        <a:rPr sz="1000"/>
                        <a:t>재설계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848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DML 변경</a:t>
                      </a:r>
                    </a:p>
                    <a:p>
                      <a:r>
                        <a:rPr sz="1000"/>
                        <a:t>(UPDATE/DELETE)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CDC Log Capture</a:t>
                      </a:r>
                    </a:p>
                    <a:p>
                      <a:r>
                        <a:rPr sz="1000"/>
                        <a:t>Before/After Image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- Merge 로직 자동 실행</a:t>
                      </a:r>
                    </a:p>
                    <a:p>
                      <a:r>
                        <a:rPr sz="1000"/>
                        <a:t>- SCD Type 2 처리</a:t>
                      </a:r>
                    </a:p>
                    <a:p>
                      <a:r>
                        <a:rPr sz="1000"/>
                        <a:t>- 변경 이력 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없음</a:t>
                      </a:r>
                      <a:r>
                        <a:rPr sz="1000" dirty="0"/>
                        <a:t> (자동 </a:t>
                      </a:r>
                      <a:r>
                        <a:rPr sz="1000" dirty="0" err="1"/>
                        <a:t>처리</a:t>
                      </a:r>
                      <a:r>
                        <a:rPr sz="1000" dirty="0"/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7" name="Rectangle 46">
            <a:extLst>
              <a:ext uri="{FF2B5EF4-FFF2-40B4-BE49-F238E27FC236}">
                <a16:creationId xmlns:a16="http://schemas.microsoft.com/office/drawing/2014/main" id="{2AC77E56-1DFD-D41F-21EF-70C9E2FBB2A5}"/>
              </a:ext>
            </a:extLst>
          </p:cNvPr>
          <p:cNvSpPr/>
          <p:nvPr/>
        </p:nvSpPr>
        <p:spPr>
          <a:xfrm>
            <a:off x="7360465" y="4669488"/>
            <a:ext cx="2271215" cy="180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lang="ko-KR" altLang="en-US" dirty="0"/>
              <a:t>자동 반영 허용 범위 기준 </a:t>
            </a:r>
            <a:endParaRPr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1E233CC-9F7E-C6D9-4C57-57635BFDE43A}"/>
              </a:ext>
            </a:extLst>
          </p:cNvPr>
          <p:cNvSpPr/>
          <p:nvPr/>
        </p:nvSpPr>
        <p:spPr>
          <a:xfrm>
            <a:off x="7360465" y="4849488"/>
            <a:ext cx="2271215" cy="16199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lang="en-US" altLang="ko-KR" dirty="0"/>
              <a:t>• </a:t>
            </a:r>
            <a:r>
              <a:rPr lang="ko-KR" altLang="en-US" dirty="0"/>
              <a:t>허용</a:t>
            </a:r>
            <a:r>
              <a:rPr lang="en-US" altLang="ko-KR" dirty="0"/>
              <a:t>: </a:t>
            </a:r>
            <a:r>
              <a:rPr lang="ko-KR" altLang="en-US" dirty="0"/>
              <a:t>컬럼 추가</a:t>
            </a:r>
            <a:r>
              <a:rPr lang="en-US" altLang="ko-KR" dirty="0"/>
              <a:t>, </a:t>
            </a:r>
            <a:r>
              <a:rPr lang="ko-KR" altLang="en-US" dirty="0"/>
              <a:t>호환 가능 타입 변경</a:t>
            </a:r>
            <a:r>
              <a:rPr lang="en-US" altLang="ko-KR" dirty="0"/>
              <a:t>, DML </a:t>
            </a:r>
            <a:r>
              <a:rPr lang="ko-KR" altLang="en-US" dirty="0"/>
              <a:t>변경 </a:t>
            </a:r>
            <a:r>
              <a:rPr lang="en-US" altLang="ko-KR" dirty="0"/>
              <a:t>(UPDATE/DELETE)</a:t>
            </a:r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lang="en-US" altLang="ko-KR" dirty="0"/>
              <a:t>• </a:t>
            </a:r>
            <a:r>
              <a:rPr lang="ko-KR" altLang="en-US" dirty="0"/>
              <a:t>승인 필요</a:t>
            </a:r>
            <a:r>
              <a:rPr lang="en-US" altLang="ko-KR" dirty="0"/>
              <a:t>: </a:t>
            </a:r>
            <a:r>
              <a:rPr lang="ko-KR" altLang="en-US" dirty="0"/>
              <a:t>컬럼 삭제</a:t>
            </a:r>
            <a:r>
              <a:rPr lang="en-US" altLang="ko-KR" dirty="0"/>
              <a:t>, </a:t>
            </a:r>
            <a:r>
              <a:rPr lang="ko-KR" altLang="en-US" dirty="0" err="1"/>
              <a:t>비호환</a:t>
            </a:r>
            <a:r>
              <a:rPr lang="ko-KR" altLang="en-US" dirty="0"/>
              <a:t> 타입 변경</a:t>
            </a:r>
            <a:r>
              <a:rPr lang="en-US" altLang="ko-KR" dirty="0"/>
              <a:t>, PK </a:t>
            </a:r>
            <a:r>
              <a:rPr lang="ko-KR" altLang="en-US" dirty="0"/>
              <a:t>변경</a:t>
            </a:r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lang="en-US" altLang="ko-KR" dirty="0"/>
              <a:t>• </a:t>
            </a:r>
            <a:r>
              <a:rPr lang="ko-KR" altLang="en-US" dirty="0"/>
              <a:t>거부</a:t>
            </a:r>
            <a:r>
              <a:rPr lang="en-US" altLang="ko-KR" dirty="0"/>
              <a:t>: </a:t>
            </a:r>
            <a:r>
              <a:rPr lang="ko-KR" altLang="en-US" dirty="0"/>
              <a:t>테이블 삭제</a:t>
            </a:r>
            <a:r>
              <a:rPr lang="en-US" altLang="ko-KR" dirty="0"/>
              <a:t>, </a:t>
            </a:r>
            <a:r>
              <a:rPr lang="ko-KR" altLang="en-US" dirty="0"/>
              <a:t>중요 컬럼 제거 → 수동 마이그레이션 필수</a:t>
            </a:r>
          </a:p>
        </p:txBody>
      </p:sp>
    </p:spTree>
    <p:extLst>
      <p:ext uri="{BB962C8B-B14F-4D97-AF65-F5344CB8AC3E}">
        <p14:creationId xmlns:p14="http://schemas.microsoft.com/office/powerpoint/2010/main" val="1830084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E933F-BFA4-EF7A-48E1-069A9D83A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89FFCB2-CE15-EBEA-DF8E-1E5CC76F65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4.4 </a:t>
            </a:r>
            <a:r>
              <a:rPr lang="ko-KR" altLang="en-US" dirty="0"/>
              <a:t>성능 </a:t>
            </a:r>
            <a:r>
              <a:rPr lang="en-US" altLang="ko-KR" dirty="0"/>
              <a:t>vs </a:t>
            </a:r>
            <a:r>
              <a:rPr lang="ko-KR" altLang="en-US" dirty="0"/>
              <a:t>비용 효율성에 대한 탄력적 운영 방안 수립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0982327-34F2-2D60-5EC4-8DF61D296D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1139" y="145620"/>
            <a:ext cx="5400000" cy="217304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취득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25A1BAB-2C9F-0407-2B3E-3D8FEB426A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실시간 스트리밍과 배치 프로세스 간 자동 전환 메커니즘을 구현하여</a:t>
            </a:r>
            <a:r>
              <a:rPr lang="en-US" altLang="ko-KR" dirty="0"/>
              <a:t>, </a:t>
            </a:r>
            <a:r>
              <a:rPr lang="ko-KR" altLang="en-US" dirty="0"/>
              <a:t>대량 데이터 </a:t>
            </a:r>
            <a:r>
              <a:rPr lang="en-US" altLang="ko-KR" dirty="0"/>
              <a:t>Upload </a:t>
            </a:r>
            <a:r>
              <a:rPr lang="ko-KR" altLang="en-US" dirty="0"/>
              <a:t>상황에서 즉시 배치 모드로 전환하고</a:t>
            </a:r>
            <a:r>
              <a:rPr lang="en-US" altLang="ko-KR" dirty="0"/>
              <a:t>, </a:t>
            </a:r>
            <a:r>
              <a:rPr lang="ko-KR" altLang="en-US" dirty="0"/>
              <a:t>데이터 객체별 취득 비용을 추적하고</a:t>
            </a:r>
            <a:r>
              <a:rPr lang="en-US" altLang="ko-KR" dirty="0"/>
              <a:t>, </a:t>
            </a:r>
            <a:r>
              <a:rPr lang="ko-KR" altLang="en-US" dirty="0"/>
              <a:t>자원 사용량 기반 비용 리포트를 제공하겠습니다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669AE9A3-56B8-555F-96F0-5C028E797B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탄력적 운영 시나리오</a:t>
            </a:r>
          </a:p>
        </p:txBody>
      </p:sp>
      <p:grpSp>
        <p:nvGrpSpPr>
          <p:cNvPr id="83" name="그룹 151">
            <a:extLst>
              <a:ext uri="{FF2B5EF4-FFF2-40B4-BE49-F238E27FC236}">
                <a16:creationId xmlns:a16="http://schemas.microsoft.com/office/drawing/2014/main" id="{662C272E-1864-D75D-5C1E-554FE7C397AC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84" name="모서리가 둥근 직사각형 20">
              <a:extLst>
                <a:ext uri="{FF2B5EF4-FFF2-40B4-BE49-F238E27FC236}">
                  <a16:creationId xmlns:a16="http://schemas.microsoft.com/office/drawing/2014/main" id="{FF44552C-DB67-EB9B-BC49-AE986AAAD176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5" name="직사각형 153">
              <a:extLst>
                <a:ext uri="{FF2B5EF4-FFF2-40B4-BE49-F238E27FC236}">
                  <a16:creationId xmlns:a16="http://schemas.microsoft.com/office/drawing/2014/main" id="{86884308-097C-0590-6346-B1283D72E6A4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DIR-00</a:t>
              </a: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４</a:t>
              </a:r>
              <a:endPara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oPub돋움체 Bold"/>
                <a:ea typeface="KoPub돋움체 Bold"/>
              </a:endParaRPr>
            </a:p>
          </p:txBody>
        </p:sp>
        <p:sp>
          <p:nvSpPr>
            <p:cNvPr id="86" name="직사각형 154">
              <a:extLst>
                <a:ext uri="{FF2B5EF4-FFF2-40B4-BE49-F238E27FC236}">
                  <a16:creationId xmlns:a16="http://schemas.microsoft.com/office/drawing/2014/main" id="{CFDD39E5-8AB3-380A-FDBD-3FBAB5D056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87" name="직선 연결선 155">
              <a:extLst>
                <a:ext uri="{FF2B5EF4-FFF2-40B4-BE49-F238E27FC236}">
                  <a16:creationId xmlns:a16="http://schemas.microsoft.com/office/drawing/2014/main" id="{B68204F0-D762-E7B1-E1B9-CA7BB8552A67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 15">
            <a:extLst>
              <a:ext uri="{FF2B5EF4-FFF2-40B4-BE49-F238E27FC236}">
                <a16:creationId xmlns:a16="http://schemas.microsoft.com/office/drawing/2014/main" id="{B182EE76-DB0A-3DF7-3B9B-7B1447D054F8}"/>
              </a:ext>
            </a:extLst>
          </p:cNvPr>
          <p:cNvSpPr/>
          <p:nvPr/>
        </p:nvSpPr>
        <p:spPr>
          <a:xfrm>
            <a:off x="-3023555" y="4483174"/>
            <a:ext cx="1737680" cy="93345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8471902B-4D4D-B744-A066-1A801592C21D}"/>
              </a:ext>
            </a:extLst>
          </p:cNvPr>
          <p:cNvSpPr/>
          <p:nvPr/>
        </p:nvSpPr>
        <p:spPr>
          <a:xfrm>
            <a:off x="-3023555" y="5616649"/>
            <a:ext cx="1737680" cy="93345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endParaRPr lang="en-US" sz="1000" dirty="0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2CCA629A-9BE2-E747-2C92-D2C89154BBD8}"/>
              </a:ext>
            </a:extLst>
          </p:cNvPr>
          <p:cNvGrpSpPr/>
          <p:nvPr/>
        </p:nvGrpSpPr>
        <p:grpSpPr>
          <a:xfrm>
            <a:off x="275808" y="2053056"/>
            <a:ext cx="1205040" cy="536554"/>
            <a:chOff x="275808" y="2053056"/>
            <a:chExt cx="1205040" cy="536554"/>
          </a:xfrm>
        </p:grpSpPr>
        <p:sp>
          <p:nvSpPr>
            <p:cNvPr id="13" name="Rounded Rectangle 12"/>
            <p:cNvSpPr/>
            <p:nvPr/>
          </p:nvSpPr>
          <p:spPr>
            <a:xfrm>
              <a:off x="275808" y="2053056"/>
              <a:ext cx="1205040" cy="503999"/>
            </a:xfrm>
            <a:prstGeom prst="roundRect">
              <a:avLst/>
            </a:prstGeom>
            <a:solidFill>
              <a:srgbClr val="005BA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Oval 13"/>
            <p:cNvSpPr/>
            <p:nvPr/>
          </p:nvSpPr>
          <p:spPr>
            <a:xfrm>
              <a:off x="311808" y="2089056"/>
              <a:ext cx="180000" cy="18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05BAC"/>
                  </a:solidFill>
                </a:defRPr>
              </a:pPr>
              <a:r>
                <a:t>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7808" y="2107056"/>
              <a:ext cx="68505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  <a:r>
                <a:t>일반 운영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9808" y="2251056"/>
              <a:ext cx="90105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r>
                <a:rPr dirty="0" err="1"/>
                <a:t>실시간</a:t>
              </a:r>
              <a:r>
                <a:rPr dirty="0"/>
                <a:t> </a:t>
              </a:r>
              <a:r>
                <a:rPr dirty="0" err="1"/>
                <a:t>모드</a:t>
              </a:r>
              <a:br>
                <a:rPr dirty="0"/>
              </a:br>
              <a:r>
                <a:rPr dirty="0"/>
                <a:t>&lt; 1,000 TPS</a:t>
              </a:r>
            </a:p>
          </p:txBody>
        </p:sp>
      </p:grpSp>
      <p:sp>
        <p:nvSpPr>
          <p:cNvPr id="17" name="Right Arrow 16"/>
          <p:cNvSpPr/>
          <p:nvPr/>
        </p:nvSpPr>
        <p:spPr>
          <a:xfrm>
            <a:off x="1861944" y="2251056"/>
            <a:ext cx="72000" cy="108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A701874C-7AEB-7A63-75A3-2BB5DEBE57B8}"/>
              </a:ext>
            </a:extLst>
          </p:cNvPr>
          <p:cNvGrpSpPr/>
          <p:nvPr/>
        </p:nvGrpSpPr>
        <p:grpSpPr>
          <a:xfrm>
            <a:off x="2315040" y="2053056"/>
            <a:ext cx="1205040" cy="536554"/>
            <a:chOff x="2363808" y="2053056"/>
            <a:chExt cx="1205040" cy="536554"/>
          </a:xfrm>
        </p:grpSpPr>
        <p:sp>
          <p:nvSpPr>
            <p:cNvPr id="18" name="Rounded Rectangle 17"/>
            <p:cNvSpPr/>
            <p:nvPr/>
          </p:nvSpPr>
          <p:spPr>
            <a:xfrm>
              <a:off x="2363808" y="2053056"/>
              <a:ext cx="1205040" cy="503999"/>
            </a:xfrm>
            <a:prstGeom prst="round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Oval 18"/>
            <p:cNvSpPr/>
            <p:nvPr/>
          </p:nvSpPr>
          <p:spPr>
            <a:xfrm>
              <a:off x="2399807" y="2089056"/>
              <a:ext cx="180000" cy="18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0AEEF"/>
                  </a:solidFill>
                </a:defRPr>
              </a:pPr>
              <a:r>
                <a:t>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615808" y="2107056"/>
              <a:ext cx="68505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  <a:r>
                <a:t>대량 적재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417808" y="2251056"/>
              <a:ext cx="90105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r>
                <a:rPr dirty="0" err="1"/>
                <a:t>배치</a:t>
              </a:r>
              <a:r>
                <a:rPr dirty="0"/>
                <a:t> </a:t>
              </a:r>
              <a:r>
                <a:rPr dirty="0" err="1"/>
                <a:t>전환</a:t>
              </a:r>
              <a:br>
                <a:rPr dirty="0"/>
              </a:br>
              <a:r>
                <a:rPr dirty="0"/>
                <a:t>&gt; 10,000 TPS</a:t>
              </a:r>
            </a:p>
          </p:txBody>
        </p:sp>
      </p:grpSp>
      <p:sp>
        <p:nvSpPr>
          <p:cNvPr id="22" name="Right Arrow 21"/>
          <p:cNvSpPr/>
          <p:nvPr/>
        </p:nvSpPr>
        <p:spPr>
          <a:xfrm>
            <a:off x="3901176" y="2251056"/>
            <a:ext cx="72000" cy="108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02E496D-6D56-22AE-F1B1-0D6AA22B26D6}"/>
              </a:ext>
            </a:extLst>
          </p:cNvPr>
          <p:cNvGrpSpPr/>
          <p:nvPr/>
        </p:nvGrpSpPr>
        <p:grpSpPr>
          <a:xfrm>
            <a:off x="4354272" y="2053056"/>
            <a:ext cx="1205040" cy="536554"/>
            <a:chOff x="4451808" y="2053056"/>
            <a:chExt cx="1205040" cy="536554"/>
          </a:xfrm>
        </p:grpSpPr>
        <p:sp>
          <p:nvSpPr>
            <p:cNvPr id="23" name="Rounded Rectangle 22"/>
            <p:cNvSpPr/>
            <p:nvPr/>
          </p:nvSpPr>
          <p:spPr>
            <a:xfrm>
              <a:off x="4451808" y="2053056"/>
              <a:ext cx="1205040" cy="503999"/>
            </a:xfrm>
            <a:prstGeom prst="roundRect">
              <a:avLst/>
            </a:prstGeom>
            <a:solidFill>
              <a:srgbClr val="00A6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Oval 23"/>
            <p:cNvSpPr/>
            <p:nvPr/>
          </p:nvSpPr>
          <p:spPr>
            <a:xfrm>
              <a:off x="4487808" y="2089056"/>
              <a:ext cx="180000" cy="18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0A65A"/>
                  </a:solidFill>
                </a:defRPr>
              </a:pPr>
              <a:r>
                <a:t>3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03808" y="2107056"/>
              <a:ext cx="68505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  <a:r>
                <a:t>피크 타임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505808" y="2251056"/>
              <a:ext cx="90105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스케일 아웃</a:t>
              </a:r>
              <a:br/>
              <a:r>
                <a:t>CPU &gt; 80%</a:t>
              </a:r>
            </a:p>
          </p:txBody>
        </p:sp>
      </p:grpSp>
      <p:sp>
        <p:nvSpPr>
          <p:cNvPr id="27" name="Right Arrow 26"/>
          <p:cNvSpPr/>
          <p:nvPr/>
        </p:nvSpPr>
        <p:spPr>
          <a:xfrm>
            <a:off x="5940408" y="2251056"/>
            <a:ext cx="72000" cy="108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8BDB929-BD15-1BE9-55D0-8C2602B23A85}"/>
              </a:ext>
            </a:extLst>
          </p:cNvPr>
          <p:cNvGrpSpPr/>
          <p:nvPr/>
        </p:nvGrpSpPr>
        <p:grpSpPr>
          <a:xfrm>
            <a:off x="6393504" y="2053056"/>
            <a:ext cx="1205040" cy="536554"/>
            <a:chOff x="6539808" y="2053056"/>
            <a:chExt cx="1205040" cy="536554"/>
          </a:xfrm>
        </p:grpSpPr>
        <p:sp>
          <p:nvSpPr>
            <p:cNvPr id="28" name="Rounded Rectangle 27"/>
            <p:cNvSpPr/>
            <p:nvPr/>
          </p:nvSpPr>
          <p:spPr>
            <a:xfrm>
              <a:off x="6539808" y="2053056"/>
              <a:ext cx="1205040" cy="503999"/>
            </a:xfrm>
            <a:prstGeom prst="round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Oval 28"/>
            <p:cNvSpPr/>
            <p:nvPr/>
          </p:nvSpPr>
          <p:spPr>
            <a:xfrm>
              <a:off x="6575808" y="2089056"/>
              <a:ext cx="180000" cy="18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FF9900"/>
                  </a:solidFill>
                </a:defRPr>
              </a:pPr>
              <a:r>
                <a:t>4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791807" y="2107056"/>
              <a:ext cx="68505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  <a:r>
                <a:t>유휴 시간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593807" y="2251056"/>
              <a:ext cx="90105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스케일 인</a:t>
              </a:r>
              <a:br/>
              <a:r>
                <a:t>비용 절감</a:t>
              </a:r>
            </a:p>
          </p:txBody>
        </p:sp>
      </p:grpSp>
      <p:sp>
        <p:nvSpPr>
          <p:cNvPr id="32" name="Right Arrow 31"/>
          <p:cNvSpPr/>
          <p:nvPr/>
        </p:nvSpPr>
        <p:spPr>
          <a:xfrm>
            <a:off x="7979640" y="2251056"/>
            <a:ext cx="72000" cy="108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BE9BABD-4474-34E2-D0CE-2343CFC5D6A6}"/>
              </a:ext>
            </a:extLst>
          </p:cNvPr>
          <p:cNvGrpSpPr/>
          <p:nvPr/>
        </p:nvGrpSpPr>
        <p:grpSpPr>
          <a:xfrm>
            <a:off x="8432736" y="2053056"/>
            <a:ext cx="1205040" cy="536554"/>
            <a:chOff x="8627808" y="2053056"/>
            <a:chExt cx="1205040" cy="536554"/>
          </a:xfrm>
        </p:grpSpPr>
        <p:sp>
          <p:nvSpPr>
            <p:cNvPr id="33" name="Rounded Rectangle 32"/>
            <p:cNvSpPr/>
            <p:nvPr/>
          </p:nvSpPr>
          <p:spPr>
            <a:xfrm>
              <a:off x="8627808" y="2053056"/>
              <a:ext cx="1205040" cy="503999"/>
            </a:xfrm>
            <a:prstGeom prst="roundRect">
              <a:avLst/>
            </a:prstGeom>
            <a:solidFill>
              <a:srgbClr val="7B68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>
            <a:xfrm>
              <a:off x="8663808" y="2089056"/>
              <a:ext cx="180000" cy="18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7B68EE"/>
                  </a:solidFill>
                </a:defRPr>
              </a:pPr>
              <a:r>
                <a:t>5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879808" y="2107056"/>
              <a:ext cx="68505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  <a:r>
                <a:t>장애 복구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8681808" y="2251056"/>
              <a:ext cx="90105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자동 Failover</a:t>
              </a:r>
              <a:br/>
              <a:r>
                <a:t>4시간 내 복구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6041136" y="3255216"/>
            <a:ext cx="11086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4D4D4D"/>
                </a:solidFill>
              </a:defRPr>
            </a:pPr>
            <a:r>
              <a:t>스팟 인스턴스 활용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29744" y="3255216"/>
            <a:ext cx="1360419" cy="216000"/>
          </a:xfrm>
          <a:prstGeom prst="round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96444" y="3255216"/>
            <a:ext cx="5886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A65A"/>
                </a:solidFill>
              </a:defRPr>
            </a:pPr>
            <a:r>
              <a:t>70%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41136" y="3687216"/>
            <a:ext cx="11086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4D4D4D"/>
                </a:solidFill>
              </a:defRPr>
            </a:pPr>
            <a:r>
              <a:t>Off-peak 실행</a:t>
            </a:r>
          </a:p>
        </p:txBody>
      </p:sp>
      <p:sp>
        <p:nvSpPr>
          <p:cNvPr id="2" name="Rounded Rectangle 40"/>
          <p:cNvSpPr/>
          <p:nvPr/>
        </p:nvSpPr>
        <p:spPr>
          <a:xfrm>
            <a:off x="7329744" y="3687216"/>
            <a:ext cx="1651937" cy="21600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982044" y="3687216"/>
            <a:ext cx="5886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AEEF"/>
                </a:solidFill>
              </a:defRPr>
            </a:pPr>
            <a:r>
              <a:rPr dirty="0"/>
              <a:t>85%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41136" y="4119215"/>
            <a:ext cx="11086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4D4D4D"/>
                </a:solidFill>
              </a:defRPr>
            </a:pPr>
            <a:r>
              <a:t>Auto-scaling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29744" y="4119215"/>
            <a:ext cx="1166073" cy="216000"/>
          </a:xfrm>
          <a:prstGeom prst="round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28903" y="4119215"/>
            <a:ext cx="5886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5BAC"/>
                </a:solidFill>
              </a:defRPr>
            </a:pPr>
            <a:r>
              <a:t>60%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41136" y="4551215"/>
            <a:ext cx="110860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4D4D4D"/>
                </a:solidFill>
              </a:defRPr>
            </a:pPr>
            <a:r>
              <a:t>유휴 노드 종료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29744" y="4551215"/>
            <a:ext cx="1749110" cy="216000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084864" y="4551215"/>
            <a:ext cx="58867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9900"/>
                </a:solidFill>
              </a:defRPr>
            </a:pPr>
            <a:r>
              <a:rPr dirty="0"/>
              <a:t>90%</a:t>
            </a:r>
          </a:p>
        </p:txBody>
      </p:sp>
      <p:sp>
        <p:nvSpPr>
          <p:cNvPr id="4" name="Rectangle 3"/>
          <p:cNvSpPr/>
          <p:nvPr/>
        </p:nvSpPr>
        <p:spPr>
          <a:xfrm>
            <a:off x="253407" y="5666755"/>
            <a:ext cx="4339072" cy="180000"/>
          </a:xfrm>
          <a:prstGeom prst="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  비용 리포트 항목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B3EF0B-A09A-730C-98A5-E42D43BC13E8}"/>
              </a:ext>
            </a:extLst>
          </p:cNvPr>
          <p:cNvSpPr/>
          <p:nvPr/>
        </p:nvSpPr>
        <p:spPr>
          <a:xfrm>
            <a:off x="253407" y="5822249"/>
            <a:ext cx="4320000" cy="64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lang="en-US" altLang="ko-KR" dirty="0"/>
              <a:t>• </a:t>
            </a:r>
            <a:r>
              <a:rPr lang="ko-KR" altLang="en-US" dirty="0"/>
              <a:t>데이터 객체별 취득 비용</a:t>
            </a:r>
            <a:r>
              <a:rPr lang="en-US" altLang="ko-KR" dirty="0"/>
              <a:t>: </a:t>
            </a:r>
            <a:r>
              <a:rPr lang="ko-KR" altLang="en-US" dirty="0"/>
              <a:t>스토리지</a:t>
            </a:r>
            <a:r>
              <a:rPr lang="en-US" altLang="ko-KR" dirty="0"/>
              <a:t>, </a:t>
            </a:r>
            <a:r>
              <a:rPr lang="ko-KR" altLang="en-US" dirty="0"/>
              <a:t>컴퓨팅</a:t>
            </a:r>
            <a:r>
              <a:rPr lang="en-US" altLang="ko-KR" dirty="0"/>
              <a:t>, </a:t>
            </a:r>
            <a:r>
              <a:rPr lang="ko-KR" altLang="en-US" dirty="0"/>
              <a:t>네트워크 사용량</a:t>
            </a:r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lang="en-US" altLang="ko-KR" dirty="0"/>
              <a:t>• </a:t>
            </a:r>
            <a:r>
              <a:rPr lang="ko-KR" altLang="en-US" dirty="0"/>
              <a:t>일별</a:t>
            </a:r>
            <a:r>
              <a:rPr lang="en-US" altLang="ko-KR" dirty="0"/>
              <a:t>/</a:t>
            </a:r>
            <a:r>
              <a:rPr lang="ko-KR" altLang="en-US" dirty="0"/>
              <a:t>주별</a:t>
            </a:r>
            <a:r>
              <a:rPr lang="en-US" altLang="ko-KR" dirty="0"/>
              <a:t>/</a:t>
            </a:r>
            <a:r>
              <a:rPr lang="ko-KR" altLang="en-US" dirty="0"/>
              <a:t>월별 비용 트렌드 분석 대시보드 </a:t>
            </a:r>
            <a:r>
              <a:rPr lang="en-US" altLang="ko-KR" dirty="0"/>
              <a:t>(Grafana)</a:t>
            </a:r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lang="en-US" altLang="ko-KR" dirty="0"/>
              <a:t>• </a:t>
            </a:r>
            <a:r>
              <a:rPr lang="ko-KR" altLang="en-US" dirty="0"/>
              <a:t>비용 이상 탐지 및 자동 </a:t>
            </a:r>
            <a:r>
              <a:rPr lang="en-US" altLang="ko-KR" dirty="0"/>
              <a:t>Alert (</a:t>
            </a:r>
            <a:r>
              <a:rPr lang="ko-KR" altLang="en-US" dirty="0"/>
              <a:t>예산 </a:t>
            </a:r>
            <a:r>
              <a:rPr lang="en-US" altLang="ko-KR" dirty="0"/>
              <a:t>80% </a:t>
            </a:r>
            <a:r>
              <a:rPr lang="ko-KR" altLang="en-US" dirty="0"/>
              <a:t>도달 시 알림</a:t>
            </a:r>
            <a:r>
              <a:rPr lang="en-US" altLang="ko-KR" dirty="0"/>
              <a:t>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FA89428-703D-E51F-ABAC-2E561956CDCE}"/>
              </a:ext>
            </a:extLst>
          </p:cNvPr>
          <p:cNvSpPr/>
          <p:nvPr/>
        </p:nvSpPr>
        <p:spPr>
          <a:xfrm>
            <a:off x="5313522" y="5642249"/>
            <a:ext cx="4320000" cy="180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  자동 전환 기준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A547F3-8ABC-386A-A070-0D3B13B84A4C}"/>
              </a:ext>
            </a:extLst>
          </p:cNvPr>
          <p:cNvSpPr/>
          <p:nvPr/>
        </p:nvSpPr>
        <p:spPr>
          <a:xfrm>
            <a:off x="5313522" y="5822249"/>
            <a:ext cx="4320000" cy="64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트래픽</a:t>
            </a:r>
            <a:r>
              <a:rPr dirty="0"/>
              <a:t> </a:t>
            </a:r>
            <a:r>
              <a:rPr dirty="0" err="1"/>
              <a:t>급증</a:t>
            </a:r>
            <a:r>
              <a:rPr dirty="0"/>
              <a:t> 시 </a:t>
            </a:r>
            <a:r>
              <a:rPr dirty="0" err="1"/>
              <a:t>배치</a:t>
            </a:r>
            <a:r>
              <a:rPr dirty="0"/>
              <a:t> </a:t>
            </a:r>
            <a:r>
              <a:rPr dirty="0" err="1"/>
              <a:t>모드</a:t>
            </a:r>
            <a:r>
              <a:rPr dirty="0"/>
              <a:t> </a:t>
            </a:r>
            <a:r>
              <a:rPr dirty="0" err="1"/>
              <a:t>전환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K8s HPA/VPA 기반 </a:t>
            </a:r>
            <a:r>
              <a:rPr dirty="0" err="1"/>
              <a:t>오토스케일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Circuit Breaker </a:t>
            </a:r>
            <a:r>
              <a:rPr dirty="0" err="1"/>
              <a:t>장애</a:t>
            </a:r>
            <a:r>
              <a:rPr dirty="0"/>
              <a:t> </a:t>
            </a:r>
            <a:r>
              <a:rPr dirty="0" err="1"/>
              <a:t>격리</a:t>
            </a:r>
            <a:endParaRPr dirty="0"/>
          </a:p>
        </p:txBody>
      </p:sp>
      <p:graphicFrame>
        <p:nvGraphicFramePr>
          <p:cNvPr id="88" name="Table 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801650"/>
              </p:ext>
            </p:extLst>
          </p:nvPr>
        </p:nvGraphicFramePr>
        <p:xfrm>
          <a:off x="272482" y="2881261"/>
          <a:ext cx="5729761" cy="237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8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2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운영 시나리오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dirty="0"/>
                        <a:t>자동 </a:t>
                      </a:r>
                      <a:r>
                        <a:rPr sz="1000" dirty="0" err="1"/>
                        <a:t>전환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조건</a:t>
                      </a:r>
                      <a:endParaRPr sz="1000" dirty="0"/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dirty="0" err="1"/>
                        <a:t>적용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기술</a:t>
                      </a:r>
                      <a:endParaRPr sz="1000" dirty="0"/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 dirty="0" err="1"/>
                        <a:t>비용</a:t>
                      </a:r>
                      <a:r>
                        <a:rPr sz="1000" dirty="0"/>
                        <a:t> 최적화 </a:t>
                      </a:r>
                      <a:r>
                        <a:rPr sz="1000" dirty="0" err="1"/>
                        <a:t>방안</a:t>
                      </a:r>
                      <a:endParaRPr sz="1000" dirty="0"/>
                    </a:p>
                  </a:txBody>
                  <a:tcPr>
                    <a:solidFill>
                      <a:srgbClr val="005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일반 운영</a:t>
                      </a:r>
                    </a:p>
                    <a:p>
                      <a:r>
                        <a:rPr sz="1000"/>
                        <a:t>(실시간 모드)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트랜잭션</a:t>
                      </a:r>
                      <a:r>
                        <a:rPr sz="1000" dirty="0"/>
                        <a:t> &lt; 1,000/min</a:t>
                      </a:r>
                    </a:p>
                    <a:p>
                      <a:r>
                        <a:rPr sz="1000" dirty="0" err="1"/>
                        <a:t>지연</a:t>
                      </a:r>
                      <a:r>
                        <a:rPr sz="1000" dirty="0"/>
                        <a:t> &lt; 5초 </a:t>
                      </a:r>
                      <a:r>
                        <a:rPr sz="1000" dirty="0" err="1"/>
                        <a:t>유지</a:t>
                      </a:r>
                      <a:endParaRPr sz="1000" dirty="0"/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Kafka Streams</a:t>
                      </a:r>
                    </a:p>
                    <a:p>
                      <a:r>
                        <a:rPr sz="1000" dirty="0"/>
                        <a:t>Flink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- 최소 리소스 할당</a:t>
                      </a:r>
                    </a:p>
                    <a:p>
                      <a:r>
                        <a:rPr sz="1000"/>
                        <a:t>- Auto-scaling 비활성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대량 적재</a:t>
                      </a:r>
                    </a:p>
                    <a:p>
                      <a:r>
                        <a:rPr sz="1000"/>
                        <a:t>(배치 전환)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트랜잭션</a:t>
                      </a:r>
                      <a:r>
                        <a:rPr sz="1000" dirty="0"/>
                        <a:t> &gt; 10,000/min</a:t>
                      </a:r>
                    </a:p>
                    <a:p>
                      <a:r>
                        <a:rPr sz="1000" dirty="0" err="1"/>
                        <a:t>또는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재집계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요청</a:t>
                      </a:r>
                      <a:endParaRPr sz="1000" dirty="0"/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Spark Batch</a:t>
                      </a:r>
                    </a:p>
                    <a:p>
                      <a:r>
                        <a:rPr sz="1000"/>
                        <a:t>Delta Lake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</a:t>
                      </a:r>
                      <a:r>
                        <a:rPr sz="1000" dirty="0" err="1"/>
                        <a:t>스팟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인스턴스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활용</a:t>
                      </a:r>
                      <a:endParaRPr sz="1000" dirty="0"/>
                    </a:p>
                    <a:p>
                      <a:r>
                        <a:rPr sz="1000" dirty="0"/>
                        <a:t>- Off-peak 시간 </a:t>
                      </a:r>
                      <a:r>
                        <a:rPr sz="1000" dirty="0" err="1"/>
                        <a:t>실행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피크 타임</a:t>
                      </a:r>
                    </a:p>
                    <a:p>
                      <a:r>
                        <a:rPr sz="1000"/>
                        <a:t>(스케일 아웃)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CPU &gt; 80% </a:t>
                      </a:r>
                      <a:r>
                        <a:rPr sz="1000" dirty="0" err="1"/>
                        <a:t>지속</a:t>
                      </a:r>
                      <a:endParaRPr sz="1000" dirty="0"/>
                    </a:p>
                    <a:p>
                      <a:r>
                        <a:rPr sz="1000" dirty="0"/>
                        <a:t>Queue </a:t>
                      </a:r>
                      <a:r>
                        <a:rPr sz="1000" dirty="0" err="1"/>
                        <a:t>적체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발생</a:t>
                      </a:r>
                      <a:endParaRPr sz="1000" dirty="0"/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K8s HPA</a:t>
                      </a:r>
                    </a:p>
                    <a:p>
                      <a:r>
                        <a:rPr sz="1000" dirty="0"/>
                        <a:t>KEDA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- 예측 기반 사전 스케일</a:t>
                      </a:r>
                    </a:p>
                    <a:p>
                      <a:r>
                        <a:rPr sz="1000"/>
                        <a:t>- 사용량 기반 과금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유휴 시간</a:t>
                      </a:r>
                    </a:p>
                    <a:p>
                      <a:r>
                        <a:rPr sz="1000"/>
                        <a:t>(스케일 인)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 err="1"/>
                        <a:t>트래픽</a:t>
                      </a:r>
                      <a:r>
                        <a:rPr sz="1000" dirty="0"/>
                        <a:t> &lt; 100/min</a:t>
                      </a:r>
                    </a:p>
                    <a:p>
                      <a:r>
                        <a:rPr sz="1000" dirty="0"/>
                        <a:t>30분 </a:t>
                      </a:r>
                      <a:r>
                        <a:rPr sz="1000" dirty="0" err="1"/>
                        <a:t>이상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유지</a:t>
                      </a:r>
                      <a:endParaRPr sz="1000" dirty="0"/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K8s VPA</a:t>
                      </a:r>
                    </a:p>
                    <a:p>
                      <a:r>
                        <a:rPr sz="1000" dirty="0"/>
                        <a:t>Cluster </a:t>
                      </a:r>
                      <a:r>
                        <a:rPr sz="1000" dirty="0" err="1"/>
                        <a:t>Autoscaler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최소 Pod </a:t>
                      </a:r>
                      <a:r>
                        <a:rPr sz="1000" dirty="0" err="1"/>
                        <a:t>유지</a:t>
                      </a:r>
                      <a:endParaRPr sz="1000" dirty="0"/>
                    </a:p>
                    <a:p>
                      <a:r>
                        <a:rPr sz="1000" dirty="0"/>
                        <a:t>- </a:t>
                      </a:r>
                      <a:r>
                        <a:rPr sz="1000" dirty="0" err="1"/>
                        <a:t>유휴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노드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종료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장애 복구</a:t>
                      </a:r>
                    </a:p>
                    <a:p>
                      <a:r>
                        <a:rPr sz="1000"/>
                        <a:t>(Failover)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Health Check </a:t>
                      </a:r>
                      <a:r>
                        <a:rPr sz="1000" dirty="0" err="1"/>
                        <a:t>실패</a:t>
                      </a:r>
                      <a:endParaRPr sz="1000" dirty="0"/>
                    </a:p>
                    <a:p>
                      <a:r>
                        <a:rPr sz="1000" dirty="0"/>
                        <a:t>연속 3회 </a:t>
                      </a:r>
                      <a:r>
                        <a:rPr sz="1000" dirty="0" err="1"/>
                        <a:t>이상</a:t>
                      </a:r>
                      <a:endParaRPr sz="1000" dirty="0"/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K8s Self-healing</a:t>
                      </a:r>
                    </a:p>
                    <a:p>
                      <a:r>
                        <a:rPr sz="1000" dirty="0"/>
                        <a:t>Circuit Breaker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자동 </a:t>
                      </a:r>
                      <a:r>
                        <a:rPr sz="1000" dirty="0" err="1"/>
                        <a:t>재시작</a:t>
                      </a:r>
                      <a:endParaRPr sz="1000" dirty="0"/>
                    </a:p>
                    <a:p>
                      <a:r>
                        <a:rPr sz="1000" dirty="0"/>
                        <a:t>- Fallback </a:t>
                      </a:r>
                      <a:r>
                        <a:rPr sz="1000" dirty="0" err="1"/>
                        <a:t>처리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679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12C92-F235-4555-1718-1F8189926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7574653-30E3-1680-A56A-99052BB0C4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데이터 </a:t>
            </a:r>
            <a:r>
              <a:rPr lang="en-US" altLang="ko-KR" dirty="0"/>
              <a:t>Pipeline </a:t>
            </a:r>
            <a:r>
              <a:rPr lang="ko-KR" altLang="en-US" dirty="0"/>
              <a:t>구축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6BBCD46-9A06-042E-383F-985EE88F92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1139" y="145620"/>
            <a:ext cx="5400000" cy="217304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취득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22274ECC-4F7D-737B-0FDA-6E5DE1C1BB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기존 지표 기반 리포트를 데이터 마트로 전환하고</a:t>
            </a:r>
            <a:r>
              <a:rPr lang="en-US" altLang="ko-KR" dirty="0"/>
              <a:t>, CDC </a:t>
            </a:r>
            <a:r>
              <a:rPr lang="ko-KR" altLang="en-US" dirty="0"/>
              <a:t>단계 후 </a:t>
            </a:r>
            <a:r>
              <a:rPr lang="en-US" altLang="ko-KR" dirty="0"/>
              <a:t>Landing Zone</a:t>
            </a:r>
            <a:r>
              <a:rPr lang="ko-KR" altLang="en-US" dirty="0"/>
              <a:t>으로의 자동 취득 방안을 수립하며</a:t>
            </a:r>
            <a:r>
              <a:rPr lang="en-US" altLang="ko-KR" dirty="0"/>
              <a:t>, CDM, PMS, ACROD, </a:t>
            </a:r>
            <a:r>
              <a:rPr lang="en-US" altLang="ko-KR" dirty="0" err="1"/>
              <a:t>REDCap</a:t>
            </a:r>
            <a:r>
              <a:rPr lang="en-US" altLang="ko-KR" dirty="0"/>
              <a:t> </a:t>
            </a:r>
            <a:r>
              <a:rPr lang="ko-KR" altLang="en-US" dirty="0"/>
              <a:t>등 유관 시스템에 데이터 이관용 </a:t>
            </a:r>
            <a:r>
              <a:rPr lang="en-US" altLang="ko-KR" dirty="0"/>
              <a:t>Pipeline</a:t>
            </a:r>
            <a:r>
              <a:rPr lang="ko-KR" altLang="en-US" dirty="0"/>
              <a:t>을 구축하여 통합 데이터 서비스를 실현하겠습니다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92367159-C84D-D21F-B6D4-AF4880FF11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통합 데이터 </a:t>
            </a:r>
            <a:r>
              <a:rPr lang="en-US" altLang="ko-KR" dirty="0"/>
              <a:t>Pipeline </a:t>
            </a:r>
            <a:r>
              <a:rPr lang="ko-KR" altLang="en-US" dirty="0"/>
              <a:t>아키텍처</a:t>
            </a:r>
          </a:p>
        </p:txBody>
      </p:sp>
      <p:grpSp>
        <p:nvGrpSpPr>
          <p:cNvPr id="83" name="그룹 151">
            <a:extLst>
              <a:ext uri="{FF2B5EF4-FFF2-40B4-BE49-F238E27FC236}">
                <a16:creationId xmlns:a16="http://schemas.microsoft.com/office/drawing/2014/main" id="{9C22A921-54CF-D8B4-C24A-945A65267EBE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84" name="모서리가 둥근 직사각형 20">
              <a:extLst>
                <a:ext uri="{FF2B5EF4-FFF2-40B4-BE49-F238E27FC236}">
                  <a16:creationId xmlns:a16="http://schemas.microsoft.com/office/drawing/2014/main" id="{BF5B7ECD-64CF-F140-4AAE-7A40074E925C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5" name="직사각형 153">
              <a:extLst>
                <a:ext uri="{FF2B5EF4-FFF2-40B4-BE49-F238E27FC236}">
                  <a16:creationId xmlns:a16="http://schemas.microsoft.com/office/drawing/2014/main" id="{4FA5ACA3-0B1F-2D72-326C-6F16C0E5D33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DIR-00</a:t>
              </a: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５</a:t>
              </a:r>
              <a:endPara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oPub돋움체 Bold"/>
                <a:ea typeface="KoPub돋움체 Bold"/>
              </a:endParaRPr>
            </a:p>
          </p:txBody>
        </p:sp>
        <p:sp>
          <p:nvSpPr>
            <p:cNvPr id="86" name="직사각형 154">
              <a:extLst>
                <a:ext uri="{FF2B5EF4-FFF2-40B4-BE49-F238E27FC236}">
                  <a16:creationId xmlns:a16="http://schemas.microsoft.com/office/drawing/2014/main" id="{2C663861-2F0F-0816-7E50-05FA2264C57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87" name="직선 연결선 155">
              <a:extLst>
                <a:ext uri="{FF2B5EF4-FFF2-40B4-BE49-F238E27FC236}">
                  <a16:creationId xmlns:a16="http://schemas.microsoft.com/office/drawing/2014/main" id="{179C290C-4F50-0B1D-28DC-A6FF15D4C431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 15">
            <a:extLst>
              <a:ext uri="{FF2B5EF4-FFF2-40B4-BE49-F238E27FC236}">
                <a16:creationId xmlns:a16="http://schemas.microsoft.com/office/drawing/2014/main" id="{0CBD060D-1D0D-D759-76AF-E810D979FA8F}"/>
              </a:ext>
            </a:extLst>
          </p:cNvPr>
          <p:cNvSpPr/>
          <p:nvPr/>
        </p:nvSpPr>
        <p:spPr>
          <a:xfrm>
            <a:off x="-3023555" y="4483174"/>
            <a:ext cx="1737680" cy="93345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10B21C6F-9AC7-2229-B262-C97A46E62301}"/>
              </a:ext>
            </a:extLst>
          </p:cNvPr>
          <p:cNvSpPr/>
          <p:nvPr/>
        </p:nvSpPr>
        <p:spPr>
          <a:xfrm>
            <a:off x="-3023555" y="5616649"/>
            <a:ext cx="1737680" cy="93345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endParaRPr lang="en-US" sz="1000" dirty="0"/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49930EF-8A70-49C2-CFE6-B0AB8D5D16D9}"/>
              </a:ext>
            </a:extLst>
          </p:cNvPr>
          <p:cNvGrpSpPr/>
          <p:nvPr/>
        </p:nvGrpSpPr>
        <p:grpSpPr>
          <a:xfrm>
            <a:off x="277536" y="1949424"/>
            <a:ext cx="1732227" cy="518554"/>
            <a:chOff x="277536" y="2028672"/>
            <a:chExt cx="1732227" cy="518554"/>
          </a:xfrm>
        </p:grpSpPr>
        <p:sp>
          <p:nvSpPr>
            <p:cNvPr id="13" name="Oval 12"/>
            <p:cNvSpPr/>
            <p:nvPr/>
          </p:nvSpPr>
          <p:spPr>
            <a:xfrm>
              <a:off x="277536" y="2028672"/>
              <a:ext cx="324000" cy="324000"/>
            </a:xfrm>
            <a:prstGeom prst="ellipse">
              <a:avLst/>
            </a:prstGeom>
            <a:solidFill>
              <a:srgbClr val="005BA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FFFFFF"/>
                  </a:solidFill>
                </a:defRPr>
              </a:pPr>
              <a:r>
                <a:t>🔄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73536" y="2028672"/>
              <a:ext cx="106051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005BAC"/>
                  </a:solidFill>
                </a:defRPr>
              </a:pPr>
              <a:r>
                <a:rPr dirty="0"/>
                <a:t>Landing Zone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73537" y="2208672"/>
              <a:ext cx="133622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4D4D4D"/>
                  </a:solidFill>
                </a:defRPr>
              </a:pPr>
              <a:r>
                <a:rPr dirty="0" err="1"/>
                <a:t>Debezium</a:t>
              </a:r>
              <a:r>
                <a:rPr dirty="0"/>
                <a:t> CDC</a:t>
              </a:r>
              <a:br>
                <a:rPr dirty="0"/>
              </a:br>
              <a:r>
                <a:rPr dirty="0"/>
                <a:t>대상 </a:t>
              </a:r>
              <a:r>
                <a:rPr dirty="0" err="1"/>
                <a:t>설정만으로</a:t>
              </a:r>
              <a:r>
                <a:rPr dirty="0"/>
                <a:t> 자동 </a:t>
              </a:r>
              <a:r>
                <a:rPr dirty="0" err="1"/>
                <a:t>취득</a:t>
              </a:r>
              <a:endParaRPr dirty="0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8D5EF9F1-65D7-8CBE-4277-06AF601DD174}"/>
              </a:ext>
            </a:extLst>
          </p:cNvPr>
          <p:cNvGrpSpPr/>
          <p:nvPr/>
        </p:nvGrpSpPr>
        <p:grpSpPr>
          <a:xfrm>
            <a:off x="2366737" y="1949424"/>
            <a:ext cx="1503605" cy="518554"/>
            <a:chOff x="2078208" y="2028672"/>
            <a:chExt cx="1503605" cy="518554"/>
          </a:xfrm>
        </p:grpSpPr>
        <p:sp>
          <p:nvSpPr>
            <p:cNvPr id="16" name="Oval 15"/>
            <p:cNvSpPr/>
            <p:nvPr/>
          </p:nvSpPr>
          <p:spPr>
            <a:xfrm>
              <a:off x="2078208" y="2028672"/>
              <a:ext cx="324000" cy="324000"/>
            </a:xfrm>
            <a:prstGeom prst="ellipse">
              <a:avLst/>
            </a:prstGeom>
            <a:solidFill>
              <a:srgbClr val="00AE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FFFFFF"/>
                  </a:solidFill>
                </a:defRPr>
              </a:pPr>
              <a:r>
                <a:t>📊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474208" y="2028672"/>
              <a:ext cx="92265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00AEEF"/>
                  </a:solidFill>
                </a:defRPr>
              </a:pPr>
              <a:r>
                <a:rPr dirty="0" err="1"/>
                <a:t>마트</a:t>
              </a:r>
              <a:r>
                <a:rPr dirty="0"/>
                <a:t> </a:t>
              </a:r>
              <a:r>
                <a:rPr dirty="0" err="1"/>
                <a:t>전환</a:t>
              </a:r>
              <a:endParaRPr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474209" y="2208672"/>
              <a:ext cx="110760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4D4D4D"/>
                  </a:solidFill>
                </a:defRPr>
              </a:pPr>
              <a:r>
                <a:rPr dirty="0"/>
                <a:t>Spark + DBT</a:t>
              </a:r>
              <a:br>
                <a:rPr dirty="0"/>
              </a:br>
              <a:r>
                <a:rPr dirty="0" err="1"/>
                <a:t>지표→마트</a:t>
              </a:r>
              <a:r>
                <a:rPr dirty="0"/>
                <a:t> 자동 </a:t>
              </a:r>
              <a:r>
                <a:rPr dirty="0" err="1"/>
                <a:t>변환</a:t>
              </a:r>
              <a:endParaRPr dirty="0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AAFA742-8DA5-68FD-AF9B-24DB37C24392}"/>
              </a:ext>
            </a:extLst>
          </p:cNvPr>
          <p:cNvGrpSpPr/>
          <p:nvPr/>
        </p:nvGrpSpPr>
        <p:grpSpPr>
          <a:xfrm>
            <a:off x="4227316" y="1949424"/>
            <a:ext cx="1783489" cy="518554"/>
            <a:chOff x="3683808" y="2028672"/>
            <a:chExt cx="1783489" cy="518554"/>
          </a:xfrm>
        </p:grpSpPr>
        <p:sp>
          <p:nvSpPr>
            <p:cNvPr id="19" name="Oval 18"/>
            <p:cNvSpPr/>
            <p:nvPr/>
          </p:nvSpPr>
          <p:spPr>
            <a:xfrm>
              <a:off x="3683808" y="2028672"/>
              <a:ext cx="324000" cy="324000"/>
            </a:xfrm>
            <a:prstGeom prst="ellipse">
              <a:avLst/>
            </a:prstGeom>
            <a:solidFill>
              <a:srgbClr val="00A6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FFFFFF"/>
                  </a:solidFill>
                </a:defRPr>
              </a:pPr>
              <a:r>
                <a:t>🔗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079808" y="2028672"/>
              <a:ext cx="92265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00A65A"/>
                  </a:solidFill>
                </a:defRPr>
              </a:pPr>
              <a:r>
                <a:t>시스템 연계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079808" y="2208672"/>
              <a:ext cx="1387489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4D4D4D"/>
                  </a:solidFill>
                </a:defRPr>
              </a:pPr>
              <a:r>
                <a:rPr dirty="0"/>
                <a:t>Airflow + API</a:t>
              </a:r>
              <a:br>
                <a:rPr dirty="0"/>
              </a:br>
              <a:r>
                <a:rPr dirty="0"/>
                <a:t>CDM/PMS/</a:t>
              </a:r>
              <a:r>
                <a:rPr dirty="0" err="1"/>
                <a:t>REDCap</a:t>
              </a:r>
              <a:r>
                <a:rPr dirty="0"/>
                <a:t> </a:t>
              </a:r>
              <a:r>
                <a:rPr dirty="0" err="1"/>
                <a:t>연동</a:t>
              </a:r>
              <a:endParaRPr dirty="0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1B5D792-A6FC-EB0D-9380-6ECD72CBFE2F}"/>
              </a:ext>
            </a:extLst>
          </p:cNvPr>
          <p:cNvGrpSpPr/>
          <p:nvPr/>
        </p:nvGrpSpPr>
        <p:grpSpPr>
          <a:xfrm>
            <a:off x="6367779" y="1949424"/>
            <a:ext cx="1456512" cy="518554"/>
            <a:chOff x="6203808" y="2028672"/>
            <a:chExt cx="1456512" cy="518554"/>
          </a:xfrm>
        </p:grpSpPr>
        <p:sp>
          <p:nvSpPr>
            <p:cNvPr id="22" name="Oval 21"/>
            <p:cNvSpPr/>
            <p:nvPr/>
          </p:nvSpPr>
          <p:spPr>
            <a:xfrm>
              <a:off x="6203808" y="2028672"/>
              <a:ext cx="324000" cy="324000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FFFFFF"/>
                  </a:solidFill>
                </a:defRPr>
              </a:pPr>
              <a:r>
                <a:t>⚡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599807" y="2028672"/>
              <a:ext cx="92265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FF9900"/>
                  </a:solidFill>
                </a:defRPr>
              </a:pPr>
              <a:r>
                <a:t>실시간 서빙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599807" y="2208672"/>
              <a:ext cx="1060513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4D4D4D"/>
                  </a:solidFill>
                </a:defRPr>
              </a:pPr>
              <a:r>
                <a:rPr dirty="0"/>
                <a:t>Kafka Streams</a:t>
              </a:r>
              <a:br>
                <a:rPr dirty="0"/>
              </a:br>
              <a:r>
                <a:rPr dirty="0"/>
                <a:t>Materialized View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C7EE4AAB-525F-9F91-D564-D43E156349AF}"/>
              </a:ext>
            </a:extLst>
          </p:cNvPr>
          <p:cNvGrpSpPr/>
          <p:nvPr/>
        </p:nvGrpSpPr>
        <p:grpSpPr>
          <a:xfrm>
            <a:off x="8181264" y="1949424"/>
            <a:ext cx="1456513" cy="518554"/>
            <a:chOff x="8181264" y="2028672"/>
            <a:chExt cx="1456513" cy="518554"/>
          </a:xfrm>
        </p:grpSpPr>
        <p:sp>
          <p:nvSpPr>
            <p:cNvPr id="25" name="Oval 24"/>
            <p:cNvSpPr/>
            <p:nvPr/>
          </p:nvSpPr>
          <p:spPr>
            <a:xfrm>
              <a:off x="8181264" y="2028672"/>
              <a:ext cx="324000" cy="324000"/>
            </a:xfrm>
            <a:prstGeom prst="ellipse">
              <a:avLst/>
            </a:prstGeom>
            <a:solidFill>
              <a:srgbClr val="7B68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100" b="1">
                  <a:solidFill>
                    <a:srgbClr val="FFFFFF"/>
                  </a:solidFill>
                </a:defRPr>
              </a:pPr>
              <a:r>
                <a:t>🤖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577264" y="2028672"/>
              <a:ext cx="92265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7B68EE"/>
                  </a:solidFill>
                </a:defRPr>
              </a:pPr>
              <a:r>
                <a:t>AI/ML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8577265" y="2208672"/>
              <a:ext cx="106051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4D4D4D"/>
                  </a:solidFill>
                </a:defRPr>
              </a:pPr>
              <a:r>
                <a:t>Feast + MLflow</a:t>
              </a:r>
              <a:br/>
              <a:r>
                <a:t>Feature Store 연계</a:t>
              </a:r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197330ED-B479-C757-407F-D30B9E06C311}"/>
              </a:ext>
            </a:extLst>
          </p:cNvPr>
          <p:cNvGrpSpPr/>
          <p:nvPr/>
        </p:nvGrpSpPr>
        <p:grpSpPr>
          <a:xfrm>
            <a:off x="385536" y="4866624"/>
            <a:ext cx="1161604" cy="536554"/>
            <a:chOff x="385536" y="2964672"/>
            <a:chExt cx="1161604" cy="536554"/>
          </a:xfrm>
        </p:grpSpPr>
        <p:sp>
          <p:nvSpPr>
            <p:cNvPr id="28" name="Rounded Rectangle 27"/>
            <p:cNvSpPr/>
            <p:nvPr/>
          </p:nvSpPr>
          <p:spPr>
            <a:xfrm>
              <a:off x="385536" y="2964672"/>
              <a:ext cx="1107604" cy="536554"/>
            </a:xfrm>
            <a:prstGeom prst="roundRect">
              <a:avLst/>
            </a:prstGeom>
            <a:solidFill>
              <a:srgbClr val="005BA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Oval 28"/>
            <p:cNvSpPr/>
            <p:nvPr/>
          </p:nvSpPr>
          <p:spPr>
            <a:xfrm>
              <a:off x="421536" y="3000672"/>
              <a:ext cx="180000" cy="18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05BAC"/>
                  </a:solidFill>
                </a:defRPr>
              </a:pPr>
              <a: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37536" y="3018672"/>
              <a:ext cx="909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  <a:r>
                <a:rPr dirty="0" err="1"/>
                <a:t>테이블</a:t>
              </a:r>
              <a:r>
                <a:rPr dirty="0"/>
                <a:t> </a:t>
              </a:r>
              <a:r>
                <a:rPr dirty="0" err="1"/>
                <a:t>선택</a:t>
              </a:r>
              <a:endParaRPr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39536" y="3162672"/>
              <a:ext cx="110760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Debezium UI</a:t>
              </a:r>
              <a:br/>
              <a:r>
                <a:t>원천 테이블 설정</a:t>
              </a:r>
            </a:p>
          </p:txBody>
        </p:sp>
      </p:grpSp>
      <p:sp>
        <p:nvSpPr>
          <p:cNvPr id="32" name="Right Arrow 31"/>
          <p:cNvSpPr/>
          <p:nvPr/>
        </p:nvSpPr>
        <p:spPr>
          <a:xfrm>
            <a:off x="1937762" y="5046624"/>
            <a:ext cx="72000" cy="108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88C15AF-2CB3-4744-CF6E-9518DF93EF99}"/>
              </a:ext>
            </a:extLst>
          </p:cNvPr>
          <p:cNvGrpSpPr/>
          <p:nvPr/>
        </p:nvGrpSpPr>
        <p:grpSpPr>
          <a:xfrm>
            <a:off x="2400384" y="4866624"/>
            <a:ext cx="1161604" cy="536554"/>
            <a:chOff x="2473536" y="2964672"/>
            <a:chExt cx="1161604" cy="536554"/>
          </a:xfrm>
        </p:grpSpPr>
        <p:sp>
          <p:nvSpPr>
            <p:cNvPr id="33" name="Rounded Rectangle 32"/>
            <p:cNvSpPr/>
            <p:nvPr/>
          </p:nvSpPr>
          <p:spPr>
            <a:xfrm>
              <a:off x="2473536" y="2964672"/>
              <a:ext cx="1107604" cy="536554"/>
            </a:xfrm>
            <a:prstGeom prst="roundRect">
              <a:avLst/>
            </a:prstGeom>
            <a:solidFill>
              <a:srgbClr val="00AE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Oval 33"/>
            <p:cNvSpPr/>
            <p:nvPr/>
          </p:nvSpPr>
          <p:spPr>
            <a:xfrm>
              <a:off x="2509535" y="3000672"/>
              <a:ext cx="180000" cy="18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0AEEF"/>
                  </a:solidFill>
                </a:defRPr>
              </a:pPr>
              <a:r>
                <a:t>2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725536" y="3018672"/>
              <a:ext cx="909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  <a:r>
                <a:rPr dirty="0" err="1"/>
                <a:t>커넥터</a:t>
              </a:r>
              <a:r>
                <a:rPr dirty="0"/>
                <a:t> </a:t>
              </a:r>
              <a:r>
                <a:rPr dirty="0" err="1"/>
                <a:t>생성</a:t>
              </a:r>
              <a:endParaRPr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527536" y="3162672"/>
              <a:ext cx="110760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CDC Connector</a:t>
              </a:r>
              <a:br/>
              <a:r>
                <a:t>자동 생성</a:t>
              </a:r>
            </a:p>
          </p:txBody>
        </p:sp>
      </p:grpSp>
      <p:sp>
        <p:nvSpPr>
          <p:cNvPr id="37" name="Right Arrow 36"/>
          <p:cNvSpPr/>
          <p:nvPr/>
        </p:nvSpPr>
        <p:spPr>
          <a:xfrm>
            <a:off x="3952610" y="5046624"/>
            <a:ext cx="72000" cy="108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19E5CB3-1388-7E30-360B-26376C83C722}"/>
              </a:ext>
            </a:extLst>
          </p:cNvPr>
          <p:cNvGrpSpPr/>
          <p:nvPr/>
        </p:nvGrpSpPr>
        <p:grpSpPr>
          <a:xfrm>
            <a:off x="4415232" y="4866624"/>
            <a:ext cx="1161604" cy="536554"/>
            <a:chOff x="4561536" y="2964672"/>
            <a:chExt cx="1161604" cy="536554"/>
          </a:xfrm>
        </p:grpSpPr>
        <p:sp>
          <p:nvSpPr>
            <p:cNvPr id="38" name="Rounded Rectangle 37"/>
            <p:cNvSpPr/>
            <p:nvPr/>
          </p:nvSpPr>
          <p:spPr>
            <a:xfrm>
              <a:off x="4561536" y="2964672"/>
              <a:ext cx="1107604" cy="536554"/>
            </a:xfrm>
            <a:prstGeom prst="roundRect">
              <a:avLst/>
            </a:prstGeom>
            <a:solidFill>
              <a:srgbClr val="00A65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Oval 38"/>
            <p:cNvSpPr/>
            <p:nvPr/>
          </p:nvSpPr>
          <p:spPr>
            <a:xfrm>
              <a:off x="4597536" y="3000672"/>
              <a:ext cx="180000" cy="18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00A65A"/>
                  </a:solidFill>
                </a:defRPr>
              </a:pPr>
              <a:r>
                <a:t>3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813536" y="3018672"/>
              <a:ext cx="909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  <a:r>
                <a:t>스키마 등록</a:t>
              </a: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4615536" y="3162672"/>
              <a:ext cx="110760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Schema Registry</a:t>
              </a:r>
              <a:br/>
              <a:r>
                <a:t>버전 관리</a:t>
              </a:r>
            </a:p>
          </p:txBody>
        </p:sp>
      </p:grpSp>
      <p:sp>
        <p:nvSpPr>
          <p:cNvPr id="42" name="Right Arrow 41"/>
          <p:cNvSpPr/>
          <p:nvPr/>
        </p:nvSpPr>
        <p:spPr>
          <a:xfrm>
            <a:off x="5967458" y="5046624"/>
            <a:ext cx="72000" cy="108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7AF102F-EAC0-2D7D-8DCF-B4A9DAC06498}"/>
              </a:ext>
            </a:extLst>
          </p:cNvPr>
          <p:cNvGrpSpPr/>
          <p:nvPr/>
        </p:nvGrpSpPr>
        <p:grpSpPr>
          <a:xfrm>
            <a:off x="6430080" y="4866624"/>
            <a:ext cx="1161603" cy="536554"/>
            <a:chOff x="6649536" y="2964672"/>
            <a:chExt cx="1161603" cy="536554"/>
          </a:xfrm>
        </p:grpSpPr>
        <p:sp>
          <p:nvSpPr>
            <p:cNvPr id="43" name="Rounded Rectangle 42"/>
            <p:cNvSpPr/>
            <p:nvPr/>
          </p:nvSpPr>
          <p:spPr>
            <a:xfrm>
              <a:off x="6649536" y="2964672"/>
              <a:ext cx="1107604" cy="536554"/>
            </a:xfrm>
            <a:prstGeom prst="roundRect">
              <a:avLst/>
            </a:prstGeom>
            <a:solidFill>
              <a:srgbClr val="FF99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Oval 43"/>
            <p:cNvSpPr/>
            <p:nvPr/>
          </p:nvSpPr>
          <p:spPr>
            <a:xfrm>
              <a:off x="6685536" y="3000672"/>
              <a:ext cx="180000" cy="18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FF9900"/>
                  </a:solidFill>
                </a:defRPr>
              </a:pPr>
              <a:r>
                <a:t>4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901535" y="3018672"/>
              <a:ext cx="909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  <a:r>
                <a:t>품질 검증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703535" y="3162672"/>
              <a:ext cx="110760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Great Expectations</a:t>
              </a:r>
              <a:br/>
              <a:r>
                <a:t>자동 검증</a:t>
              </a:r>
            </a:p>
          </p:txBody>
        </p:sp>
      </p:grpSp>
      <p:sp>
        <p:nvSpPr>
          <p:cNvPr id="47" name="Right Arrow 46"/>
          <p:cNvSpPr/>
          <p:nvPr/>
        </p:nvSpPr>
        <p:spPr>
          <a:xfrm>
            <a:off x="7982305" y="5046624"/>
            <a:ext cx="72000" cy="108000"/>
          </a:xfrm>
          <a:prstGeom prst="rightArrow">
            <a:avLst/>
          </a:prstGeom>
          <a:solidFill>
            <a:srgbClr val="B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E2BE4F75-A0A3-9FF7-06FB-49D0FF16F210}"/>
              </a:ext>
            </a:extLst>
          </p:cNvPr>
          <p:cNvGrpSpPr/>
          <p:nvPr/>
        </p:nvGrpSpPr>
        <p:grpSpPr>
          <a:xfrm>
            <a:off x="8444928" y="4866624"/>
            <a:ext cx="1161604" cy="536554"/>
            <a:chOff x="8737536" y="2964672"/>
            <a:chExt cx="1161604" cy="536554"/>
          </a:xfrm>
        </p:grpSpPr>
        <p:sp>
          <p:nvSpPr>
            <p:cNvPr id="3" name="Rounded Rectangle 47"/>
            <p:cNvSpPr/>
            <p:nvPr/>
          </p:nvSpPr>
          <p:spPr>
            <a:xfrm>
              <a:off x="8737536" y="2964672"/>
              <a:ext cx="1107604" cy="536554"/>
            </a:xfrm>
            <a:prstGeom prst="roundRect">
              <a:avLst/>
            </a:prstGeom>
            <a:solidFill>
              <a:srgbClr val="7B68E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Oval 3"/>
            <p:cNvSpPr/>
            <p:nvPr/>
          </p:nvSpPr>
          <p:spPr>
            <a:xfrm>
              <a:off x="8773536" y="3000672"/>
              <a:ext cx="180000" cy="1800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900" b="1">
                  <a:solidFill>
                    <a:srgbClr val="7B68EE"/>
                  </a:solidFill>
                </a:defRPr>
              </a:pPr>
              <a:r>
                <a:t>5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989536" y="3018672"/>
              <a:ext cx="90960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  <a:r>
                <a:t>적재 완료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8791536" y="3162672"/>
              <a:ext cx="110760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800">
                  <a:solidFill>
                    <a:srgbClr val="FFFFFF"/>
                  </a:solidFill>
                </a:defRPr>
              </a:pPr>
              <a:r>
                <a:t>Landing Zone</a:t>
              </a:r>
              <a:br/>
              <a:r>
                <a:t>Parquet 저장</a:t>
              </a:r>
            </a:p>
          </p:txBody>
        </p:sp>
      </p:grpSp>
      <p:sp>
        <p:nvSpPr>
          <p:cNvPr id="52" name="Rectangle 51"/>
          <p:cNvSpPr/>
          <p:nvPr/>
        </p:nvSpPr>
        <p:spPr>
          <a:xfrm>
            <a:off x="4309872" y="5637551"/>
            <a:ext cx="2767583" cy="180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  유관 시스템 연계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09872" y="5817551"/>
            <a:ext cx="2767583" cy="64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CDM: OMOP 매핑 </a:t>
            </a:r>
            <a:r>
              <a:rPr dirty="0" err="1"/>
              <a:t>변환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PMS: </a:t>
            </a:r>
            <a:r>
              <a:rPr dirty="0" err="1"/>
              <a:t>정밀의료</a:t>
            </a:r>
            <a:r>
              <a:rPr dirty="0"/>
              <a:t>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연계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REDCap</a:t>
            </a:r>
            <a:r>
              <a:rPr dirty="0"/>
              <a:t>: e-CRF API </a:t>
            </a:r>
            <a:r>
              <a:rPr dirty="0" err="1"/>
              <a:t>연동</a:t>
            </a:r>
            <a:endParaRPr dirty="0"/>
          </a:p>
        </p:txBody>
      </p:sp>
      <p:sp>
        <p:nvSpPr>
          <p:cNvPr id="54" name="Rectangle 53"/>
          <p:cNvSpPr/>
          <p:nvPr/>
        </p:nvSpPr>
        <p:spPr>
          <a:xfrm>
            <a:off x="7394448" y="5637551"/>
            <a:ext cx="2247928" cy="180000"/>
          </a:xfrm>
          <a:prstGeom prst="rect">
            <a:avLst/>
          </a:prstGeom>
          <a:solidFill>
            <a:srgbClr val="00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 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품질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94448" y="5817551"/>
            <a:ext cx="2247928" cy="64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A6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Great Expectations 자동 </a:t>
            </a:r>
            <a:r>
              <a:rPr dirty="0" err="1"/>
              <a:t>검증</a:t>
            </a:r>
            <a:endParaRPr dirty="0"/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데이터</a:t>
            </a:r>
            <a:r>
              <a:rPr dirty="0"/>
              <a:t> </a:t>
            </a:r>
            <a:r>
              <a:rPr dirty="0" err="1"/>
              <a:t>리니지</a:t>
            </a:r>
            <a:r>
              <a:rPr dirty="0"/>
              <a:t> 추적</a:t>
            </a:r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dirty="0"/>
              <a:t>• </a:t>
            </a:r>
            <a:r>
              <a:rPr dirty="0" err="1"/>
              <a:t>품질</a:t>
            </a:r>
            <a:r>
              <a:rPr dirty="0"/>
              <a:t> </a:t>
            </a:r>
            <a:r>
              <a:rPr dirty="0" err="1"/>
              <a:t>대시보드</a:t>
            </a:r>
            <a:r>
              <a:rPr dirty="0"/>
              <a:t> </a:t>
            </a:r>
            <a:r>
              <a:rPr dirty="0" err="1"/>
              <a:t>제공</a:t>
            </a:r>
            <a:endParaRPr dirty="0"/>
          </a:p>
        </p:txBody>
      </p:sp>
      <p:pic>
        <p:nvPicPr>
          <p:cNvPr id="3074" name="Picture 2" descr="Debezium MySQL CDC Source Connector (2) - connect 생성 sink 연계">
            <a:extLst>
              <a:ext uri="{FF2B5EF4-FFF2-40B4-BE49-F238E27FC236}">
                <a16:creationId xmlns:a16="http://schemas.microsoft.com/office/drawing/2014/main" id="{94D0E678-29E7-8BAA-372C-B9C097F53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161" y="2569859"/>
            <a:ext cx="1585599" cy="646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การใช้ dbt กับ Apache Spark. dbt ❤️ Spark | by Kan Ouivirach | odds.team |  Medium">
            <a:extLst>
              <a:ext uri="{FF2B5EF4-FFF2-40B4-BE49-F238E27FC236}">
                <a16:creationId xmlns:a16="http://schemas.microsoft.com/office/drawing/2014/main" id="{152E3643-4147-FD90-9C9F-D1E3F84B1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522" y="2604312"/>
            <a:ext cx="2079794" cy="57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C325EF35-BDD8-7740-66F5-9625FCD8B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1811" y="2582670"/>
            <a:ext cx="1226876" cy="520588"/>
          </a:xfrm>
          <a:prstGeom prst="rect">
            <a:avLst/>
          </a:prstGeom>
        </p:spPr>
      </p:pic>
      <p:pic>
        <p:nvPicPr>
          <p:cNvPr id="3080" name="Picture 8" descr="REDCap [College of Public Health]">
            <a:extLst>
              <a:ext uri="{FF2B5EF4-FFF2-40B4-BE49-F238E27FC236}">
                <a16:creationId xmlns:a16="http://schemas.microsoft.com/office/drawing/2014/main" id="{2B80B3EB-F6C5-E8B7-684B-FF197EDE9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1232" y="3089906"/>
            <a:ext cx="1226877" cy="425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6C5789E3-3A8F-97C5-C789-A8DA663B02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3066" y="2556778"/>
            <a:ext cx="1471225" cy="426424"/>
          </a:xfrm>
          <a:prstGeom prst="rect">
            <a:avLst/>
          </a:prstGeom>
        </p:spPr>
      </p:pic>
      <p:pic>
        <p:nvPicPr>
          <p:cNvPr id="3084" name="Picture 12" descr="Logo">
            <a:extLst>
              <a:ext uri="{FF2B5EF4-FFF2-40B4-BE49-F238E27FC236}">
                <a16:creationId xmlns:a16="http://schemas.microsoft.com/office/drawing/2014/main" id="{1505AF38-8124-7B45-4140-1FB420749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2561" y="2604312"/>
            <a:ext cx="1130066" cy="278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A simple introduction to MLFlow. Some of you might have heard a… | by  Hitoruna | Medium">
            <a:extLst>
              <a:ext uri="{FF2B5EF4-FFF2-40B4-BE49-F238E27FC236}">
                <a16:creationId xmlns:a16="http://schemas.microsoft.com/office/drawing/2014/main" id="{A61B2B40-9F3B-1A23-6563-40DD606B7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0928" y="2974014"/>
            <a:ext cx="908472" cy="351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8" name="Rectangle 97">
            <a:extLst>
              <a:ext uri="{FF2B5EF4-FFF2-40B4-BE49-F238E27FC236}">
                <a16:creationId xmlns:a16="http://schemas.microsoft.com/office/drawing/2014/main" id="{3AEA9067-A97C-D09E-61AB-938202B46763}"/>
              </a:ext>
            </a:extLst>
          </p:cNvPr>
          <p:cNvSpPr/>
          <p:nvPr/>
        </p:nvSpPr>
        <p:spPr>
          <a:xfrm>
            <a:off x="277162" y="5637551"/>
            <a:ext cx="3747448" cy="180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lang="en-US" altLang="ko-KR" dirty="0"/>
              <a:t>Landing Zone </a:t>
            </a:r>
            <a:r>
              <a:rPr lang="ko-KR" altLang="en-US" dirty="0"/>
              <a:t>자동 취득 방안</a:t>
            </a:r>
            <a:endParaRPr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FD6A9D5-32F5-7A20-1716-CF84D0294644}"/>
              </a:ext>
            </a:extLst>
          </p:cNvPr>
          <p:cNvSpPr/>
          <p:nvPr/>
        </p:nvSpPr>
        <p:spPr>
          <a:xfrm>
            <a:off x="277162" y="5817551"/>
            <a:ext cx="3747448" cy="647999"/>
          </a:xfrm>
          <a:prstGeom prst="rect">
            <a:avLst/>
          </a:prstGeom>
          <a:solidFill>
            <a:srgbClr val="FFFFFF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lang="en-US" altLang="ko-KR" dirty="0"/>
              <a:t>• </a:t>
            </a:r>
            <a:r>
              <a:rPr lang="en-US" altLang="ko-KR" dirty="0" err="1"/>
              <a:t>Debezium</a:t>
            </a:r>
            <a:r>
              <a:rPr lang="en-US" altLang="ko-KR" dirty="0"/>
              <a:t> UI </a:t>
            </a:r>
            <a:r>
              <a:rPr lang="ko-KR" altLang="en-US" dirty="0"/>
              <a:t>기반 원천 테이블 선택 → 자동 </a:t>
            </a:r>
            <a:r>
              <a:rPr lang="en-US" altLang="ko-KR" dirty="0"/>
              <a:t>CDC </a:t>
            </a:r>
            <a:r>
              <a:rPr lang="ko-KR" altLang="en-US" dirty="0"/>
              <a:t>커넥터 생성</a:t>
            </a:r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lang="en-US" altLang="ko-KR" dirty="0"/>
              <a:t>• Schema Registry </a:t>
            </a:r>
            <a:r>
              <a:rPr lang="ko-KR" altLang="en-US" dirty="0"/>
              <a:t>연동으로 스키마 자동 등록 및 버전 관리</a:t>
            </a:r>
          </a:p>
          <a:p>
            <a:pPr>
              <a:spcAft>
                <a:spcPts val="200"/>
              </a:spcAft>
              <a:defRPr sz="900">
                <a:solidFill>
                  <a:srgbClr val="4D4D4D"/>
                </a:solidFill>
              </a:defRPr>
            </a:pPr>
            <a:r>
              <a:rPr lang="en-US" altLang="ko-KR" dirty="0"/>
              <a:t>• </a:t>
            </a:r>
            <a:r>
              <a:rPr lang="ko-KR" altLang="en-US" dirty="0"/>
              <a:t>데이터 품질 검증 </a:t>
            </a:r>
            <a:r>
              <a:rPr lang="en-US" altLang="ko-KR" dirty="0"/>
              <a:t>(Great Expectations) </a:t>
            </a:r>
            <a:r>
              <a:rPr lang="ko-KR" altLang="en-US" dirty="0"/>
              <a:t>자동 실행 후 </a:t>
            </a:r>
            <a:r>
              <a:rPr lang="en-US" altLang="ko-KR" dirty="0"/>
              <a:t>Landing Zone </a:t>
            </a:r>
            <a:r>
              <a:rPr lang="ko-KR" altLang="en-US" dirty="0"/>
              <a:t>적재</a:t>
            </a:r>
          </a:p>
        </p:txBody>
      </p:sp>
    </p:spTree>
    <p:extLst>
      <p:ext uri="{BB962C8B-B14F-4D97-AF65-F5344CB8AC3E}">
        <p14:creationId xmlns:p14="http://schemas.microsoft.com/office/powerpoint/2010/main" val="4165745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90389-C1AF-9F19-266C-C08832FF8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AE062BBB-80BA-D555-F0A5-B9B963AE83E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4.5 </a:t>
            </a:r>
            <a:r>
              <a:rPr lang="ko-KR" altLang="en-US" dirty="0"/>
              <a:t>데이터 </a:t>
            </a:r>
            <a:r>
              <a:rPr lang="en-US" altLang="ko-KR" dirty="0"/>
              <a:t>Pipeline </a:t>
            </a:r>
            <a:r>
              <a:rPr lang="ko-KR" altLang="en-US" dirty="0"/>
              <a:t>구축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C538B37-457D-70C4-09D7-63DAA0434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1139" y="145620"/>
            <a:ext cx="5400000" cy="217304"/>
          </a:xfrm>
        </p:spPr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데이터 취득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8153BC2-9E1D-8EE7-5F19-C55F23D55E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기존 지표 기반 리포트를 데이터 마트로 전환하고</a:t>
            </a:r>
            <a:r>
              <a:rPr lang="en-US" altLang="ko-KR" dirty="0"/>
              <a:t>, CDC </a:t>
            </a:r>
            <a:r>
              <a:rPr lang="ko-KR" altLang="en-US" dirty="0"/>
              <a:t>단계 후 </a:t>
            </a:r>
            <a:r>
              <a:rPr lang="en-US" altLang="ko-KR" dirty="0"/>
              <a:t>Landing Zone</a:t>
            </a:r>
            <a:r>
              <a:rPr lang="ko-KR" altLang="en-US" dirty="0"/>
              <a:t>으로의 자동 취득 방안을 수립하며</a:t>
            </a:r>
            <a:r>
              <a:rPr lang="en-US" altLang="ko-KR" dirty="0"/>
              <a:t>, CDM, PMS, ACROD, </a:t>
            </a:r>
            <a:r>
              <a:rPr lang="en-US" altLang="ko-KR" dirty="0" err="1"/>
              <a:t>REDCap</a:t>
            </a:r>
            <a:r>
              <a:rPr lang="en-US" altLang="ko-KR" dirty="0"/>
              <a:t> </a:t>
            </a:r>
            <a:r>
              <a:rPr lang="ko-KR" altLang="en-US" dirty="0"/>
              <a:t>등 유관 시스템에 데이터 이관용 </a:t>
            </a:r>
            <a:r>
              <a:rPr lang="en-US" altLang="ko-KR" dirty="0"/>
              <a:t>Pipeline</a:t>
            </a:r>
            <a:r>
              <a:rPr lang="ko-KR" altLang="en-US" dirty="0"/>
              <a:t>을 구축하여 통합 데이터 서비스를 실현하겠습니다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384A7EF4-0362-BB48-DC9C-A4E44F63F1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통합 데이터 </a:t>
            </a:r>
            <a:r>
              <a:rPr lang="en-US" altLang="ko-KR" dirty="0"/>
              <a:t>Pipeline </a:t>
            </a:r>
            <a:r>
              <a:rPr lang="ko-KR" altLang="en-US" dirty="0"/>
              <a:t>아키텍처</a:t>
            </a:r>
          </a:p>
        </p:txBody>
      </p:sp>
      <p:grpSp>
        <p:nvGrpSpPr>
          <p:cNvPr id="83" name="그룹 151">
            <a:extLst>
              <a:ext uri="{FF2B5EF4-FFF2-40B4-BE49-F238E27FC236}">
                <a16:creationId xmlns:a16="http://schemas.microsoft.com/office/drawing/2014/main" id="{0F76F5E0-C7D3-B43B-1055-DE83793C61D0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84" name="모서리가 둥근 직사각형 20">
              <a:extLst>
                <a:ext uri="{FF2B5EF4-FFF2-40B4-BE49-F238E27FC236}">
                  <a16:creationId xmlns:a16="http://schemas.microsoft.com/office/drawing/2014/main" id="{4D079ADE-4396-0A52-1802-128B7ACFD43C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5" name="직사각형 153">
              <a:extLst>
                <a:ext uri="{FF2B5EF4-FFF2-40B4-BE49-F238E27FC236}">
                  <a16:creationId xmlns:a16="http://schemas.microsoft.com/office/drawing/2014/main" id="{7175F4D4-CC04-791A-356C-34046D59E4CD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DIR-00</a:t>
              </a: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５</a:t>
              </a:r>
              <a:endParaRPr kumimoji="1" lang="en-US" altLang="ko-KR" sz="800" b="0" i="0" u="none" strike="noStrike" kern="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KoPub돋움체 Bold"/>
                <a:ea typeface="KoPub돋움체 Bold"/>
              </a:endParaRPr>
            </a:p>
          </p:txBody>
        </p:sp>
        <p:sp>
          <p:nvSpPr>
            <p:cNvPr id="86" name="직사각형 154">
              <a:extLst>
                <a:ext uri="{FF2B5EF4-FFF2-40B4-BE49-F238E27FC236}">
                  <a16:creationId xmlns:a16="http://schemas.microsoft.com/office/drawing/2014/main" id="{DC2BD397-573B-6A41-3866-58DB2E3A34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87" name="직선 연결선 155">
              <a:extLst>
                <a:ext uri="{FF2B5EF4-FFF2-40B4-BE49-F238E27FC236}">
                  <a16:creationId xmlns:a16="http://schemas.microsoft.com/office/drawing/2014/main" id="{6A8461A5-7199-95C6-F72A-CAC0E648E969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 15">
            <a:extLst>
              <a:ext uri="{FF2B5EF4-FFF2-40B4-BE49-F238E27FC236}">
                <a16:creationId xmlns:a16="http://schemas.microsoft.com/office/drawing/2014/main" id="{8B264273-4458-C3A2-8239-8812DA91BDBF}"/>
              </a:ext>
            </a:extLst>
          </p:cNvPr>
          <p:cNvSpPr/>
          <p:nvPr/>
        </p:nvSpPr>
        <p:spPr>
          <a:xfrm>
            <a:off x="-3023555" y="4483174"/>
            <a:ext cx="1737680" cy="93345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58B8956E-0FE3-7436-7EE2-9A7E3EF855D2}"/>
              </a:ext>
            </a:extLst>
          </p:cNvPr>
          <p:cNvSpPr/>
          <p:nvPr/>
        </p:nvSpPr>
        <p:spPr>
          <a:xfrm>
            <a:off x="-3023555" y="5616649"/>
            <a:ext cx="1737680" cy="933450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marL="66675" indent="-66675" algn="l">
              <a:lnSpc>
                <a:spcPts val="2100"/>
              </a:lnSpc>
              <a:spcAft>
                <a:spcPts val="75"/>
              </a:spcAft>
              <a:buSzPct val="100000"/>
              <a:buChar char="•"/>
            </a:pPr>
            <a:endParaRPr lang="en-US" sz="1000" dirty="0"/>
          </a:p>
        </p:txBody>
      </p:sp>
      <p:graphicFrame>
        <p:nvGraphicFramePr>
          <p:cNvPr id="100" name="Table 99">
            <a:extLst>
              <a:ext uri="{FF2B5EF4-FFF2-40B4-BE49-F238E27FC236}">
                <a16:creationId xmlns:a16="http://schemas.microsoft.com/office/drawing/2014/main" id="{70D4BDC3-F6B9-3D64-2231-BB20C3A6B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51151"/>
              </p:ext>
            </p:extLst>
          </p:nvPr>
        </p:nvGraphicFramePr>
        <p:xfrm>
          <a:off x="272482" y="1888200"/>
          <a:ext cx="9361040" cy="457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1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40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480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69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Pipeline 유형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대상 시스템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구현 기술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구현 방안</a:t>
                      </a:r>
                    </a:p>
                  </a:txBody>
                  <a:tcPr>
                    <a:solidFill>
                      <a:srgbClr val="005B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932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Landing Zone</a:t>
                      </a:r>
                    </a:p>
                    <a:p>
                      <a:r>
                        <a:rPr sz="1000"/>
                        <a:t>취득 Pipeline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원천 DB → Staging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Debezium CDC</a:t>
                      </a:r>
                    </a:p>
                    <a:p>
                      <a:r>
                        <a:rPr sz="1000"/>
                        <a:t>Kafka Connect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- 대상 데이터 설정만으로 취득</a:t>
                      </a:r>
                    </a:p>
                    <a:p>
                      <a:r>
                        <a:rPr sz="1000"/>
                        <a:t>- Auto Schema Detection</a:t>
                      </a:r>
                    </a:p>
                    <a:p>
                      <a:r>
                        <a:rPr sz="1000"/>
                        <a:t>- Avro/Parquet 변환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932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마트 전환</a:t>
                      </a:r>
                    </a:p>
                    <a:p>
                      <a:r>
                        <a:rPr sz="1000"/>
                        <a:t>Pipeline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Staging → DW/DM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Apache Spark</a:t>
                      </a:r>
                    </a:p>
                    <a:p>
                      <a:r>
                        <a:rPr sz="1000"/>
                        <a:t>DBT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- 지표 리포트 → 마트 전환</a:t>
                      </a:r>
                    </a:p>
                    <a:p>
                      <a:r>
                        <a:rPr sz="1000"/>
                        <a:t>- CDW 조회 이력 분석 반영</a:t>
                      </a:r>
                    </a:p>
                    <a:p>
                      <a:r>
                        <a:rPr sz="1000"/>
                        <a:t>- Incremental 처리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932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시스템 연계</a:t>
                      </a:r>
                    </a:p>
                    <a:p>
                      <a:r>
                        <a:rPr sz="1000"/>
                        <a:t>Pipeline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DM → CDM/PMS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Apache Airflow</a:t>
                      </a:r>
                    </a:p>
                    <a:p>
                      <a:r>
                        <a:rPr sz="1000"/>
                        <a:t>Great Expectations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- OMOP CDM 매핑 변환</a:t>
                      </a:r>
                    </a:p>
                    <a:p>
                      <a:r>
                        <a:rPr sz="1000"/>
                        <a:t>- REDCap API 연동</a:t>
                      </a:r>
                    </a:p>
                    <a:p>
                      <a:r>
                        <a:rPr sz="1000"/>
                        <a:t>- 품질 검증 자동화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932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실시간 서비스</a:t>
                      </a:r>
                    </a:p>
                    <a:p>
                      <a:r>
                        <a:rPr sz="1000"/>
                        <a:t>Pipeline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DM → API/BI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Kafka Streams</a:t>
                      </a:r>
                    </a:p>
                    <a:p>
                      <a:r>
                        <a:rPr sz="1000"/>
                        <a:t>Materialized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- 실시간 집계 뷰 제공</a:t>
                      </a:r>
                    </a:p>
                    <a:p>
                      <a:r>
                        <a:rPr sz="1000"/>
                        <a:t>- GraphQL API 노출</a:t>
                      </a:r>
                    </a:p>
                    <a:p>
                      <a:r>
                        <a:rPr sz="1000"/>
                        <a:t>- 캐싱 전략 (Redis)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932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AI/ML</a:t>
                      </a:r>
                    </a:p>
                    <a:p>
                      <a:r>
                        <a:rPr sz="1000"/>
                        <a:t>Pipeline</a:t>
                      </a:r>
                    </a:p>
                  </a:txBody>
                  <a:tcPr>
                    <a:solidFill>
                      <a:srgbClr val="E6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DM → Feature Store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/>
                        <a:t>Feast, Hopsworks</a:t>
                      </a:r>
                    </a:p>
                    <a:p>
                      <a:r>
                        <a:rPr sz="1000"/>
                        <a:t>MLflow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sz="1000" dirty="0"/>
                        <a:t>- </a:t>
                      </a:r>
                      <a:r>
                        <a:rPr sz="1000" dirty="0" err="1"/>
                        <a:t>피처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엔지니어링</a:t>
                      </a:r>
                      <a:endParaRPr sz="1000" dirty="0"/>
                    </a:p>
                    <a:p>
                      <a:r>
                        <a:rPr sz="1000" dirty="0"/>
                        <a:t>- </a:t>
                      </a:r>
                      <a:r>
                        <a:rPr sz="1000" dirty="0" err="1"/>
                        <a:t>학습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데이터셋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생성</a:t>
                      </a:r>
                      <a:endParaRPr sz="1000" dirty="0"/>
                    </a:p>
                    <a:p>
                      <a:r>
                        <a:rPr sz="1000" dirty="0"/>
                        <a:t>- </a:t>
                      </a:r>
                      <a:r>
                        <a:rPr sz="1000" dirty="0" err="1"/>
                        <a:t>모델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서빙</a:t>
                      </a:r>
                      <a:r>
                        <a:rPr sz="1000" dirty="0"/>
                        <a:t> </a:t>
                      </a:r>
                      <a:r>
                        <a:rPr sz="1000" dirty="0" err="1"/>
                        <a:t>연계</a:t>
                      </a:r>
                      <a:endParaRPr sz="10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424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D0B5E-F8A0-815D-18EC-D7E59B3BC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17A6D5B-3DBD-DF81-21F2-ABF04B10B15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8.1 AI </a:t>
            </a:r>
            <a:r>
              <a:rPr lang="ko-KR" altLang="en-US" dirty="0"/>
              <a:t>활용을 위한 설계 </a:t>
            </a:r>
            <a:r>
              <a:rPr lang="en-US" altLang="ko-KR" dirty="0"/>
              <a:t>(1/5)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A83BE6B8-7F58-68E6-3D1C-735EE37618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8. AI </a:t>
            </a:r>
            <a:r>
              <a:rPr lang="ko-KR" altLang="en-US" dirty="0"/>
              <a:t>적용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E9D86B3-3605-446A-DBFA-D0B52577C1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Docker + NGINX + </a:t>
            </a:r>
            <a:r>
              <a:rPr lang="en-US" altLang="ko-KR" dirty="0" err="1"/>
              <a:t>MLflow</a:t>
            </a:r>
            <a:r>
              <a:rPr lang="ko-KR" altLang="en-US" dirty="0"/>
              <a:t>를 연결하여 </a:t>
            </a:r>
            <a:r>
              <a:rPr lang="ko-KR" altLang="en-US" dirty="0" err="1"/>
              <a:t>마이크로서비스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플랫폼을 구축하고</a:t>
            </a:r>
            <a:r>
              <a:rPr lang="en-US" altLang="ko-KR" dirty="0"/>
              <a:t>, GPU </a:t>
            </a:r>
            <a:r>
              <a:rPr lang="ko-KR" altLang="en-US" dirty="0"/>
              <a:t>클러스터 </a:t>
            </a:r>
            <a:r>
              <a:rPr lang="en-US" altLang="ko-KR" dirty="0"/>
              <a:t>+ Seldon Core</a:t>
            </a:r>
            <a:r>
              <a:rPr lang="ko-KR" altLang="en-US" dirty="0"/>
              <a:t>로 상용 서비스를 배포하는 실행 방안을 마련하겠습니다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B34B2AB0-809B-9E1B-EAA6-2319128C6F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기반 통합 데이터 플랫폼 아키텍처</a:t>
            </a:r>
          </a:p>
        </p:txBody>
      </p:sp>
      <p:pic>
        <p:nvPicPr>
          <p:cNvPr id="73" name="Picture 72" descr="A diagram of a flowchart&#10;&#10;AI-generated content may be incorrect.">
            <a:extLst>
              <a:ext uri="{FF2B5EF4-FFF2-40B4-BE49-F238E27FC236}">
                <a16:creationId xmlns:a16="http://schemas.microsoft.com/office/drawing/2014/main" id="{936A8831-2AFA-9A95-4A32-A7F89495E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18" y="1911574"/>
            <a:ext cx="5094256" cy="4541375"/>
          </a:xfrm>
          <a:prstGeom prst="rect">
            <a:avLst/>
          </a:prstGeom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04F5CA54-C088-E60D-ED67-A151EF70316F}"/>
              </a:ext>
            </a:extLst>
          </p:cNvPr>
          <p:cNvGrpSpPr/>
          <p:nvPr/>
        </p:nvGrpSpPr>
        <p:grpSpPr>
          <a:xfrm>
            <a:off x="6256529" y="2031841"/>
            <a:ext cx="3297045" cy="4421108"/>
            <a:chOff x="4336125" y="1908975"/>
            <a:chExt cx="3130609" cy="4421108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C26CE8A-7269-76AB-F696-909BE3249593}"/>
                </a:ext>
              </a:extLst>
            </p:cNvPr>
            <p:cNvSpPr txBox="1"/>
            <p:nvPr/>
          </p:nvSpPr>
          <p:spPr>
            <a:xfrm>
              <a:off x="4336125" y="1908975"/>
              <a:ext cx="31306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005BAC"/>
                  </a:solidFill>
                </a:defRPr>
              </a:pPr>
              <a:r>
                <a:rPr dirty="0"/>
                <a:t>🔧 </a:t>
              </a:r>
              <a:r>
                <a:rPr dirty="0" err="1"/>
                <a:t>개발</a:t>
              </a:r>
              <a:r>
                <a:rPr dirty="0"/>
                <a:t>/</a:t>
              </a:r>
              <a:r>
                <a:rPr dirty="0" err="1"/>
                <a:t>배포</a:t>
              </a:r>
              <a:r>
                <a:rPr dirty="0"/>
                <a:t> </a:t>
              </a:r>
              <a:r>
                <a:rPr dirty="0" err="1"/>
                <a:t>환경</a:t>
              </a:r>
              <a:r>
                <a:rPr dirty="0"/>
                <a:t> 구축 (3-4개월)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3BE4388E-D14F-184F-4240-C1803AB70B16}"/>
                </a:ext>
              </a:extLst>
            </p:cNvPr>
            <p:cNvSpPr txBox="1"/>
            <p:nvPr/>
          </p:nvSpPr>
          <p:spPr>
            <a:xfrm>
              <a:off x="4518810" y="2196974"/>
              <a:ext cx="2947924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00"/>
                </a:spcAft>
                <a:defRPr sz="1100" b="0">
                  <a:solidFill>
                    <a:srgbClr val="333333"/>
                  </a:solidFill>
                </a:defRPr>
              </a:pPr>
              <a:r>
                <a:rPr sz="1050" dirty="0"/>
                <a:t>• Kubernetes </a:t>
              </a:r>
              <a:r>
                <a:rPr sz="1050" dirty="0" err="1"/>
                <a:t>클러스터</a:t>
              </a:r>
              <a:r>
                <a:rPr sz="1050" dirty="0"/>
                <a:t>: 3 Master + 5 Worker </a:t>
              </a:r>
              <a:r>
                <a:rPr sz="1050" dirty="0" err="1"/>
                <a:t>노드</a:t>
              </a:r>
              <a:endParaRPr sz="1050" dirty="0"/>
            </a:p>
            <a:p>
              <a:pPr algn="l">
                <a:spcAft>
                  <a:spcPts val="300"/>
                </a:spcAft>
                <a:defRPr sz="1100" b="0">
                  <a:solidFill>
                    <a:srgbClr val="333333"/>
                  </a:solidFill>
                </a:defRPr>
              </a:pPr>
              <a:r>
                <a:rPr sz="1050" dirty="0"/>
                <a:t>• </a:t>
              </a:r>
              <a:r>
                <a:rPr sz="1050" dirty="0" err="1"/>
                <a:t>GitOps</a:t>
              </a:r>
              <a:r>
                <a:rPr sz="1050" dirty="0"/>
                <a:t> 기반 CI/CD: </a:t>
              </a:r>
              <a:r>
                <a:rPr sz="1050" dirty="0" err="1"/>
                <a:t>ArgoCD</a:t>
              </a:r>
              <a:r>
                <a:rPr sz="1050" dirty="0"/>
                <a:t> + </a:t>
              </a:r>
              <a:r>
                <a:rPr sz="1050" dirty="0" err="1"/>
                <a:t>Tekton</a:t>
              </a:r>
              <a:r>
                <a:rPr sz="1050" dirty="0"/>
                <a:t> Pipeline</a:t>
              </a:r>
            </a:p>
            <a:p>
              <a:pPr algn="l">
                <a:spcAft>
                  <a:spcPts val="300"/>
                </a:spcAft>
                <a:defRPr sz="1100" b="0">
                  <a:solidFill>
                    <a:srgbClr val="333333"/>
                  </a:solidFill>
                </a:defRPr>
              </a:pPr>
              <a:r>
                <a:rPr sz="1050" dirty="0"/>
                <a:t>• </a:t>
              </a:r>
              <a:r>
                <a:rPr sz="1050" dirty="0" err="1"/>
                <a:t>모니터링</a:t>
              </a:r>
              <a:r>
                <a:rPr sz="1050" dirty="0"/>
                <a:t>: Prometheus + Grafana + ELK Stack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AF25DB51-8620-9327-CEF5-5701037B08D9}"/>
                </a:ext>
              </a:extLst>
            </p:cNvPr>
            <p:cNvSpPr txBox="1"/>
            <p:nvPr/>
          </p:nvSpPr>
          <p:spPr>
            <a:xfrm>
              <a:off x="4336125" y="3060975"/>
              <a:ext cx="31306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005BAC"/>
                  </a:solidFill>
                </a:defRPr>
              </a:pPr>
              <a:r>
                <a:t>🤖 AI 모델 서빙 플랫폼 (6-8개월)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80E4A32-FE66-3297-91B0-89E504FABF79}"/>
                </a:ext>
              </a:extLst>
            </p:cNvPr>
            <p:cNvSpPr txBox="1"/>
            <p:nvPr/>
          </p:nvSpPr>
          <p:spPr>
            <a:xfrm>
              <a:off x="4518810" y="3348975"/>
              <a:ext cx="2947924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00"/>
                </a:spcAft>
                <a:defRPr sz="1100" b="0">
                  <a:solidFill>
                    <a:srgbClr val="333333"/>
                  </a:solidFill>
                </a:defRPr>
              </a:pPr>
              <a:r>
                <a:rPr sz="1050" dirty="0"/>
                <a:t>• Seldon Core: A/B </a:t>
              </a:r>
              <a:r>
                <a:rPr sz="1050" dirty="0" err="1"/>
                <a:t>테스트</a:t>
              </a:r>
              <a:r>
                <a:rPr sz="1050" dirty="0"/>
                <a:t> 및 </a:t>
              </a:r>
              <a:r>
                <a:rPr sz="1050" dirty="0" err="1"/>
                <a:t>카나리</a:t>
              </a:r>
              <a:r>
                <a:rPr sz="1050" dirty="0"/>
                <a:t> </a:t>
              </a:r>
              <a:r>
                <a:rPr sz="1050" dirty="0" err="1"/>
                <a:t>배포</a:t>
              </a:r>
              <a:endParaRPr sz="1050" dirty="0"/>
            </a:p>
            <a:p>
              <a:pPr algn="l">
                <a:spcAft>
                  <a:spcPts val="300"/>
                </a:spcAft>
                <a:defRPr sz="1100" b="0">
                  <a:solidFill>
                    <a:srgbClr val="333333"/>
                  </a:solidFill>
                </a:defRPr>
              </a:pPr>
              <a:r>
                <a:rPr sz="1050" dirty="0"/>
                <a:t>• ONNX Runtime: </a:t>
              </a:r>
              <a:r>
                <a:rPr sz="1050" dirty="0" err="1"/>
                <a:t>모델</a:t>
              </a:r>
              <a:r>
                <a:rPr sz="1050" dirty="0"/>
                <a:t> 최적화 및 </a:t>
              </a:r>
              <a:r>
                <a:rPr sz="1050" dirty="0" err="1"/>
                <a:t>추론</a:t>
              </a:r>
              <a:r>
                <a:rPr sz="1050" dirty="0"/>
                <a:t> </a:t>
              </a:r>
              <a:r>
                <a:rPr sz="1050" dirty="0" err="1"/>
                <a:t>가속</a:t>
              </a:r>
              <a:endParaRPr sz="1050" dirty="0"/>
            </a:p>
            <a:p>
              <a:pPr algn="l">
                <a:spcAft>
                  <a:spcPts val="300"/>
                </a:spcAft>
                <a:defRPr sz="1100" b="0">
                  <a:solidFill>
                    <a:srgbClr val="333333"/>
                  </a:solidFill>
                </a:defRPr>
              </a:pPr>
              <a:r>
                <a:rPr sz="1050" dirty="0"/>
                <a:t>• Triton Inference Server: GPU </a:t>
              </a:r>
              <a:r>
                <a:rPr sz="1050" dirty="0" err="1"/>
                <a:t>배치</a:t>
              </a:r>
              <a:r>
                <a:rPr sz="1050" dirty="0"/>
                <a:t> </a:t>
              </a:r>
              <a:r>
                <a:rPr sz="1050" dirty="0" err="1"/>
                <a:t>추론</a:t>
              </a:r>
              <a:endParaRPr sz="1050" dirty="0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753FAE95-AB2A-7FB2-C8F0-D46238BF3466}"/>
                </a:ext>
              </a:extLst>
            </p:cNvPr>
            <p:cNvSpPr txBox="1"/>
            <p:nvPr/>
          </p:nvSpPr>
          <p:spPr>
            <a:xfrm>
              <a:off x="4336125" y="4212974"/>
              <a:ext cx="31306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005BAC"/>
                  </a:solidFill>
                </a:defRPr>
              </a:pPr>
              <a:r>
                <a:t>📊 데이터 파이프라인 통합 (3-4개월)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76E85C0F-A890-DA0D-6789-1A6B0D6FF259}"/>
                </a:ext>
              </a:extLst>
            </p:cNvPr>
            <p:cNvSpPr txBox="1"/>
            <p:nvPr/>
          </p:nvSpPr>
          <p:spPr>
            <a:xfrm>
              <a:off x="4558795" y="4500975"/>
              <a:ext cx="2907939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00"/>
                </a:spcAft>
                <a:defRPr sz="1100" b="0">
                  <a:solidFill>
                    <a:srgbClr val="333333"/>
                  </a:solidFill>
                </a:defRPr>
              </a:pPr>
              <a:r>
                <a:rPr sz="1050" dirty="0"/>
                <a:t>• Apache Airflow: </a:t>
              </a:r>
              <a:r>
                <a:rPr sz="1050" dirty="0" err="1"/>
                <a:t>워크플로우</a:t>
              </a:r>
              <a:r>
                <a:rPr sz="1050" dirty="0"/>
                <a:t> </a:t>
              </a:r>
              <a:r>
                <a:rPr sz="1050" dirty="0" err="1"/>
                <a:t>오케스트레이션</a:t>
              </a:r>
              <a:endParaRPr sz="1050" dirty="0"/>
            </a:p>
            <a:p>
              <a:pPr algn="l">
                <a:spcAft>
                  <a:spcPts val="300"/>
                </a:spcAft>
                <a:defRPr sz="1100" b="0">
                  <a:solidFill>
                    <a:srgbClr val="333333"/>
                  </a:solidFill>
                </a:defRPr>
              </a:pPr>
              <a:r>
                <a:rPr sz="1050" dirty="0"/>
                <a:t>• Feature Store: Feast 기반 </a:t>
              </a:r>
              <a:r>
                <a:rPr sz="1050" dirty="0" err="1"/>
                <a:t>피처</a:t>
              </a:r>
              <a:r>
                <a:rPr sz="1050" dirty="0"/>
                <a:t> </a:t>
              </a:r>
              <a:r>
                <a:rPr sz="1050" dirty="0" err="1"/>
                <a:t>관리</a:t>
              </a:r>
              <a:endParaRPr sz="1050" dirty="0"/>
            </a:p>
            <a:p>
              <a:pPr algn="l">
                <a:spcAft>
                  <a:spcPts val="300"/>
                </a:spcAft>
                <a:defRPr sz="1100" b="0">
                  <a:solidFill>
                    <a:srgbClr val="333333"/>
                  </a:solidFill>
                </a:defRPr>
              </a:pPr>
              <a:r>
                <a:rPr sz="1050" dirty="0"/>
                <a:t>• Data Lineage: Apache Atlas </a:t>
              </a:r>
              <a:r>
                <a:rPr sz="1050" dirty="0" err="1"/>
                <a:t>메타데이터</a:t>
              </a:r>
              <a:r>
                <a:rPr sz="1050" dirty="0"/>
                <a:t> 추적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F697E66-688B-5B8B-AFFD-2314DDDAE310}"/>
                </a:ext>
              </a:extLst>
            </p:cNvPr>
            <p:cNvSpPr txBox="1"/>
            <p:nvPr/>
          </p:nvSpPr>
          <p:spPr>
            <a:xfrm>
              <a:off x="4336125" y="5364975"/>
              <a:ext cx="3130609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005BAC"/>
                  </a:solidFill>
                </a:defRPr>
              </a:pPr>
              <a:r>
                <a:t>🔒 보안 구현 방안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4DD42B6-80EB-6EA0-1346-A44BE6297DBB}"/>
                </a:ext>
              </a:extLst>
            </p:cNvPr>
            <p:cNvSpPr txBox="1"/>
            <p:nvPr/>
          </p:nvSpPr>
          <p:spPr>
            <a:xfrm>
              <a:off x="4558795" y="5652975"/>
              <a:ext cx="2907939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00"/>
                </a:spcAft>
                <a:defRPr sz="1100" b="0">
                  <a:solidFill>
                    <a:srgbClr val="333333"/>
                  </a:solidFill>
                </a:defRPr>
              </a:pPr>
              <a:r>
                <a:rPr sz="1050" dirty="0"/>
                <a:t>• RBAC + OPA: Role 기반 </a:t>
              </a:r>
              <a:r>
                <a:rPr sz="1050" dirty="0" err="1"/>
                <a:t>접근</a:t>
              </a:r>
              <a:r>
                <a:rPr sz="1050" dirty="0"/>
                <a:t> </a:t>
              </a:r>
              <a:r>
                <a:rPr sz="1050" dirty="0" err="1"/>
                <a:t>제어</a:t>
              </a:r>
              <a:endParaRPr sz="1050" dirty="0"/>
            </a:p>
            <a:p>
              <a:pPr algn="l">
                <a:spcAft>
                  <a:spcPts val="300"/>
                </a:spcAft>
                <a:defRPr sz="1100" b="0">
                  <a:solidFill>
                    <a:srgbClr val="333333"/>
                  </a:solidFill>
                </a:defRPr>
              </a:pPr>
              <a:r>
                <a:rPr sz="1050" dirty="0"/>
                <a:t>• Vault: </a:t>
              </a:r>
              <a:r>
                <a:rPr sz="1050" dirty="0" err="1"/>
                <a:t>시크릿</a:t>
              </a:r>
              <a:r>
                <a:rPr sz="1050" dirty="0"/>
                <a:t> 및 </a:t>
              </a:r>
              <a:r>
                <a:rPr sz="1050" dirty="0" err="1"/>
                <a:t>인증서</a:t>
              </a:r>
              <a:r>
                <a:rPr sz="1050" dirty="0"/>
                <a:t> </a:t>
              </a:r>
              <a:r>
                <a:rPr sz="1050" dirty="0" err="1"/>
                <a:t>관리</a:t>
              </a:r>
              <a:endParaRPr sz="1050" dirty="0"/>
            </a:p>
            <a:p>
              <a:pPr algn="l">
                <a:spcAft>
                  <a:spcPts val="300"/>
                </a:spcAft>
                <a:defRPr sz="1100" b="0">
                  <a:solidFill>
                    <a:srgbClr val="333333"/>
                  </a:solidFill>
                </a:defRPr>
              </a:pPr>
              <a:r>
                <a:rPr sz="1050" dirty="0"/>
                <a:t>• Istio Service Mesh: </a:t>
              </a:r>
              <a:r>
                <a:rPr sz="1050" dirty="0" err="1"/>
                <a:t>mTLS</a:t>
              </a:r>
              <a:r>
                <a:rPr sz="1050" dirty="0"/>
                <a:t> </a:t>
              </a:r>
              <a:r>
                <a:rPr sz="1050" dirty="0" err="1"/>
                <a:t>통신</a:t>
              </a:r>
              <a:r>
                <a:rPr sz="1050" dirty="0"/>
                <a:t> </a:t>
              </a:r>
              <a:r>
                <a:rPr sz="1050" dirty="0" err="1"/>
                <a:t>암호화</a:t>
              </a:r>
              <a:endParaRPr sz="1050" dirty="0"/>
            </a:p>
          </p:txBody>
        </p:sp>
      </p:grpSp>
      <p:grpSp>
        <p:nvGrpSpPr>
          <p:cNvPr id="83" name="그룹 151">
            <a:extLst>
              <a:ext uri="{FF2B5EF4-FFF2-40B4-BE49-F238E27FC236}">
                <a16:creationId xmlns:a16="http://schemas.microsoft.com/office/drawing/2014/main" id="{F95DF8EC-173F-AFE9-4CE2-2D982C908038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84" name="모서리가 둥근 직사각형 20">
              <a:extLst>
                <a:ext uri="{FF2B5EF4-FFF2-40B4-BE49-F238E27FC236}">
                  <a16:creationId xmlns:a16="http://schemas.microsoft.com/office/drawing/2014/main" id="{91AE91C0-5C66-B07F-A119-9173403A6212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5" name="직사각형 153">
              <a:extLst>
                <a:ext uri="{FF2B5EF4-FFF2-40B4-BE49-F238E27FC236}">
                  <a16:creationId xmlns:a16="http://schemas.microsoft.com/office/drawing/2014/main" id="{3EEADFC5-19AF-129B-AFA0-AF01F1C0849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AAR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-001</a:t>
              </a:r>
            </a:p>
          </p:txBody>
        </p:sp>
        <p:sp>
          <p:nvSpPr>
            <p:cNvPr id="86" name="직사각형 154">
              <a:extLst>
                <a:ext uri="{FF2B5EF4-FFF2-40B4-BE49-F238E27FC236}">
                  <a16:creationId xmlns:a16="http://schemas.microsoft.com/office/drawing/2014/main" id="{1B3D63BE-C63F-B8BB-2A09-89EEEF8BAA1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87" name="직선 연결선 155">
              <a:extLst>
                <a:ext uri="{FF2B5EF4-FFF2-40B4-BE49-F238E27FC236}">
                  <a16:creationId xmlns:a16="http://schemas.microsoft.com/office/drawing/2014/main" id="{20A04C90-8C8E-0F7B-5288-1FAC71C24E61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3965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EB7C3-0010-639B-2ACF-39CFDB165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A7AEC3F8-70D3-1AAA-3494-C13937FE2F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8.1 AI </a:t>
            </a:r>
            <a:r>
              <a:rPr lang="ko-KR" altLang="en-US" dirty="0"/>
              <a:t>활용을 위한 설계 </a:t>
            </a:r>
            <a:r>
              <a:rPr lang="en-US" altLang="ko-KR" dirty="0"/>
              <a:t>(2/5)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8B0D6D19-D99C-63EF-70ED-1CAA17D7599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8. AI </a:t>
            </a:r>
            <a:r>
              <a:rPr lang="ko-KR" altLang="en-US" dirty="0"/>
              <a:t>적용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2F26029-B696-52E8-838C-A751B5858B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Docker + NGINX + </a:t>
            </a:r>
            <a:r>
              <a:rPr lang="en-US" altLang="ko-KR" dirty="0" err="1"/>
              <a:t>MLflow</a:t>
            </a:r>
            <a:r>
              <a:rPr lang="ko-KR" altLang="en-US" dirty="0"/>
              <a:t>를 연결하여 </a:t>
            </a:r>
            <a:r>
              <a:rPr lang="ko-KR" altLang="en-US" dirty="0" err="1"/>
              <a:t>마이크로서비스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플랫폼을 구축하고</a:t>
            </a:r>
            <a:r>
              <a:rPr lang="en-US" altLang="ko-KR" dirty="0"/>
              <a:t>, GPU </a:t>
            </a:r>
            <a:r>
              <a:rPr lang="ko-KR" altLang="en-US" dirty="0"/>
              <a:t>클러스터 </a:t>
            </a:r>
            <a:r>
              <a:rPr lang="en-US" altLang="ko-KR" dirty="0"/>
              <a:t>+ Seldon Core</a:t>
            </a:r>
            <a:r>
              <a:rPr lang="ko-KR" altLang="en-US" dirty="0"/>
              <a:t>로 상용 서비스를 배포하는 실행 방안을 마련하겠습니다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F70A2A3E-EF27-97CA-21AC-18F480C540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기반 통합 데이터 플랫폼 아키텍처</a:t>
            </a: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8D691168-3D7A-B97E-149C-6B6ED5D1E682}"/>
              </a:ext>
            </a:extLst>
          </p:cNvPr>
          <p:cNvSpPr/>
          <p:nvPr/>
        </p:nvSpPr>
        <p:spPr>
          <a:xfrm>
            <a:off x="282407" y="1984676"/>
            <a:ext cx="1757639" cy="689521"/>
          </a:xfrm>
          <a:prstGeom prst="roundRect">
            <a:avLst>
              <a:gd name="adj" fmla="val 11051"/>
            </a:avLst>
          </a:prstGeom>
          <a:solidFill>
            <a:srgbClr val="F5F5F5"/>
          </a:solidFill>
          <a:ln w="19050">
            <a:solidFill>
              <a:srgbClr val="005B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E32D16D-62B7-083C-5057-DBCAB2D90C4A}"/>
              </a:ext>
            </a:extLst>
          </p:cNvPr>
          <p:cNvSpPr/>
          <p:nvPr/>
        </p:nvSpPr>
        <p:spPr>
          <a:xfrm>
            <a:off x="351897" y="2236121"/>
            <a:ext cx="16186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Control Layer</a:t>
            </a:r>
            <a:endParaRPr lang="en-US" sz="105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178D47BE-DA6D-86D7-7FE1-8D3072FACD94}"/>
              </a:ext>
            </a:extLst>
          </p:cNvPr>
          <p:cNvSpPr/>
          <p:nvPr/>
        </p:nvSpPr>
        <p:spPr>
          <a:xfrm>
            <a:off x="264830" y="2826597"/>
            <a:ext cx="17927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050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30517A0-F0B1-5CC0-C170-00792BC77A5A}"/>
              </a:ext>
            </a:extLst>
          </p:cNvPr>
          <p:cNvSpPr/>
          <p:nvPr/>
        </p:nvSpPr>
        <p:spPr>
          <a:xfrm>
            <a:off x="282407" y="3245697"/>
            <a:ext cx="1757639" cy="689521"/>
          </a:xfrm>
          <a:prstGeom prst="roundRect">
            <a:avLst>
              <a:gd name="adj" fmla="val 11051"/>
            </a:avLst>
          </a:prstGeom>
          <a:solidFill>
            <a:srgbClr val="F5F5F5"/>
          </a:solidFill>
          <a:ln w="19050">
            <a:solidFill>
              <a:srgbClr val="005B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C9BC2707-DE99-FD7E-6927-D6BAD32BF7F9}"/>
              </a:ext>
            </a:extLst>
          </p:cNvPr>
          <p:cNvSpPr/>
          <p:nvPr/>
        </p:nvSpPr>
        <p:spPr>
          <a:xfrm>
            <a:off x="351897" y="3417147"/>
            <a:ext cx="16186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Mesh</a:t>
            </a:r>
            <a:endParaRPr lang="en-US" sz="10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B5B1B993-EB3A-83C5-E050-4DF7B7571515}"/>
              </a:ext>
            </a:extLst>
          </p:cNvPr>
          <p:cNvSpPr/>
          <p:nvPr/>
        </p:nvSpPr>
        <p:spPr>
          <a:xfrm>
            <a:off x="351897" y="3603777"/>
            <a:ext cx="16186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모듈형 AI 서비스</a:t>
            </a:r>
            <a:endParaRPr lang="en-US" sz="105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7ABF05D0-5DDE-AC92-B147-CD236E96109D}"/>
              </a:ext>
            </a:extLst>
          </p:cNvPr>
          <p:cNvSpPr/>
          <p:nvPr/>
        </p:nvSpPr>
        <p:spPr>
          <a:xfrm>
            <a:off x="264830" y="4087617"/>
            <a:ext cx="17927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050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7DCF3BA5-74DE-B2F5-5419-ABABDECD1F22}"/>
              </a:ext>
            </a:extLst>
          </p:cNvPr>
          <p:cNvSpPr/>
          <p:nvPr/>
        </p:nvSpPr>
        <p:spPr>
          <a:xfrm>
            <a:off x="282407" y="4506717"/>
            <a:ext cx="1757639" cy="689521"/>
          </a:xfrm>
          <a:prstGeom prst="roundRect">
            <a:avLst>
              <a:gd name="adj" fmla="val 11051"/>
            </a:avLst>
          </a:prstGeom>
          <a:solidFill>
            <a:srgbClr val="F5F5F5"/>
          </a:solidFill>
          <a:ln w="19050">
            <a:solidFill>
              <a:srgbClr val="005B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CAF9F8B2-2268-6B69-F081-78A76E74C2A8}"/>
              </a:ext>
            </a:extLst>
          </p:cNvPr>
          <p:cNvSpPr/>
          <p:nvPr/>
        </p:nvSpPr>
        <p:spPr>
          <a:xfrm>
            <a:off x="351897" y="4678167"/>
            <a:ext cx="16186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 API</a:t>
            </a:r>
            <a:endParaRPr lang="en-US" sz="105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E2D21B12-1348-4DE6-CE02-568804455DD9}"/>
              </a:ext>
            </a:extLst>
          </p:cNvPr>
          <p:cNvSpPr/>
          <p:nvPr/>
        </p:nvSpPr>
        <p:spPr>
          <a:xfrm>
            <a:off x="351897" y="4864798"/>
            <a:ext cx="16186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취득/저장/분석</a:t>
            </a:r>
            <a:endParaRPr lang="en-US" sz="1050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1F73C8CD-865D-A622-17CE-42CEAAFBDCE2}"/>
              </a:ext>
            </a:extLst>
          </p:cNvPr>
          <p:cNvSpPr/>
          <p:nvPr/>
        </p:nvSpPr>
        <p:spPr>
          <a:xfrm>
            <a:off x="264830" y="5348638"/>
            <a:ext cx="17927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050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5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6AF8D9A0-A8C8-F00C-5B47-D1AC2EAA9163}"/>
              </a:ext>
            </a:extLst>
          </p:cNvPr>
          <p:cNvSpPr/>
          <p:nvPr/>
        </p:nvSpPr>
        <p:spPr>
          <a:xfrm>
            <a:off x="282407" y="5767738"/>
            <a:ext cx="1757639" cy="689521"/>
          </a:xfrm>
          <a:prstGeom prst="roundRect">
            <a:avLst>
              <a:gd name="adj" fmla="val 11051"/>
            </a:avLst>
          </a:prstGeom>
          <a:solidFill>
            <a:srgbClr val="F5F5F5"/>
          </a:solidFill>
          <a:ln w="19050">
            <a:solidFill>
              <a:srgbClr val="005BAC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0E64118F-2193-9C7A-BC8E-BE62668BB3EB}"/>
              </a:ext>
            </a:extLst>
          </p:cNvPr>
          <p:cNvSpPr/>
          <p:nvPr/>
        </p:nvSpPr>
        <p:spPr>
          <a:xfrm>
            <a:off x="351897" y="5939188"/>
            <a:ext cx="16186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Resources</a:t>
            </a:r>
            <a:endParaRPr lang="en-US" sz="1050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0D52F742-3889-D6BA-B3A9-2E13B7C4FF4F}"/>
              </a:ext>
            </a:extLst>
          </p:cNvPr>
          <p:cNvSpPr/>
          <p:nvPr/>
        </p:nvSpPr>
        <p:spPr>
          <a:xfrm>
            <a:off x="351897" y="6125819"/>
            <a:ext cx="16186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GPU/고속저장소 클러스터</a:t>
            </a:r>
            <a:endParaRPr lang="en-US" sz="105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54ECC988-D9CE-BDEB-00AC-BBC78E6FBD0B}"/>
              </a:ext>
            </a:extLst>
          </p:cNvPr>
          <p:cNvSpPr/>
          <p:nvPr/>
        </p:nvSpPr>
        <p:spPr>
          <a:xfrm>
            <a:off x="2277538" y="2224885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B092EE01-4F3B-BBF6-AD03-97F97F934DD1}"/>
              </a:ext>
            </a:extLst>
          </p:cNvPr>
          <p:cNvSpPr/>
          <p:nvPr/>
        </p:nvSpPr>
        <p:spPr>
          <a:xfrm>
            <a:off x="2387224" y="2320135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</a:t>
            </a:r>
            <a:endParaRPr lang="en-US" sz="1500" dirty="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72D43D86-9427-C6CF-C176-63FCDC6945AC}"/>
              </a:ext>
            </a:extLst>
          </p:cNvPr>
          <p:cNvSpPr/>
          <p:nvPr/>
        </p:nvSpPr>
        <p:spPr>
          <a:xfrm>
            <a:off x="2887138" y="2224885"/>
            <a:ext cx="292542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마이크로서비스 아키텍처</a:t>
            </a:r>
            <a:endParaRPr lang="en-US" sz="135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7B116C79-FADF-0AEA-23B8-BEB094AE9B1A}"/>
              </a:ext>
            </a:extLst>
          </p:cNvPr>
          <p:cNvSpPr/>
          <p:nvPr/>
        </p:nvSpPr>
        <p:spPr>
          <a:xfrm>
            <a:off x="2887137" y="2506765"/>
            <a:ext cx="3389837" cy="166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기능을 쉽게 추가/개선할 수 있는 </a:t>
            </a:r>
            <a:r>
              <a:rPr lang="en-US" sz="105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모듈형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</a:t>
            </a: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기반</a:t>
            </a:r>
            <a:endParaRPr lang="en-US" sz="1050" dirty="0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8E8906BC-71F3-532D-83BA-6458DB14B04D}"/>
              </a:ext>
            </a:extLst>
          </p:cNvPr>
          <p:cNvSpPr/>
          <p:nvPr/>
        </p:nvSpPr>
        <p:spPr>
          <a:xfrm>
            <a:off x="2277538" y="3261026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647829C3-17A4-D705-CB69-FD5D1570C540}"/>
              </a:ext>
            </a:extLst>
          </p:cNvPr>
          <p:cNvSpPr/>
          <p:nvPr/>
        </p:nvSpPr>
        <p:spPr>
          <a:xfrm>
            <a:off x="2387224" y="3356276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500" dirty="0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32FF9D54-0699-F591-4271-A6946D9DD8D8}"/>
              </a:ext>
            </a:extLst>
          </p:cNvPr>
          <p:cNvSpPr/>
          <p:nvPr/>
        </p:nvSpPr>
        <p:spPr>
          <a:xfrm>
            <a:off x="2887138" y="3261026"/>
            <a:ext cx="262986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가능한 인프라</a:t>
            </a:r>
            <a:endParaRPr lang="en-US" sz="1350" dirty="0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521565F9-F87A-6517-D845-373575A29E12}"/>
              </a:ext>
            </a:extLst>
          </p:cNvPr>
          <p:cNvSpPr/>
          <p:nvPr/>
        </p:nvSpPr>
        <p:spPr>
          <a:xfrm>
            <a:off x="2887138" y="3542906"/>
            <a:ext cx="3007706" cy="186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GPU, 고속 저장소, AI 전용 노드 클러스터링</a:t>
            </a:r>
            <a:endParaRPr lang="en-US" sz="1050" dirty="0"/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697A87D5-E164-9941-430A-9E527FBEDD38}"/>
              </a:ext>
            </a:extLst>
          </p:cNvPr>
          <p:cNvSpPr/>
          <p:nvPr/>
        </p:nvSpPr>
        <p:spPr>
          <a:xfrm>
            <a:off x="2887138" y="3805737"/>
            <a:ext cx="26298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컴퓨팅 자원 동적 확장성 지원</a:t>
            </a:r>
            <a:endParaRPr lang="en-US" sz="1050" dirty="0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50DDAC6B-33E5-6840-3452-8A7729124AB1}"/>
              </a:ext>
            </a:extLst>
          </p:cNvPr>
          <p:cNvSpPr/>
          <p:nvPr/>
        </p:nvSpPr>
        <p:spPr>
          <a:xfrm>
            <a:off x="2277538" y="4297167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93D851D5-2133-09CB-D0CA-3B794F7C61EB}"/>
              </a:ext>
            </a:extLst>
          </p:cNvPr>
          <p:cNvSpPr/>
          <p:nvPr/>
        </p:nvSpPr>
        <p:spPr>
          <a:xfrm>
            <a:off x="2387224" y="4392417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1500" dirty="0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4D4561F9-E6B6-7940-A14E-58E4B52407EE}"/>
              </a:ext>
            </a:extLst>
          </p:cNvPr>
          <p:cNvSpPr/>
          <p:nvPr/>
        </p:nvSpPr>
        <p:spPr>
          <a:xfrm>
            <a:off x="2887138" y="4297167"/>
            <a:ext cx="300770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기반 연결성</a:t>
            </a:r>
            <a:endParaRPr lang="en-US" sz="1350" dirty="0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C8D5C94C-014B-D816-2262-55ABE525EA9D}"/>
              </a:ext>
            </a:extLst>
          </p:cNvPr>
          <p:cNvSpPr/>
          <p:nvPr/>
        </p:nvSpPr>
        <p:spPr>
          <a:xfrm>
            <a:off x="2887138" y="4579047"/>
            <a:ext cx="3294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취득 → 저장 → 분석 → 시각화 계층별 API</a:t>
            </a:r>
            <a:endParaRPr lang="en-US" sz="1050" dirty="0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F5AFA6BA-3D31-04F3-A80A-0F854FC4CAAA}"/>
              </a:ext>
            </a:extLst>
          </p:cNvPr>
          <p:cNvSpPr/>
          <p:nvPr/>
        </p:nvSpPr>
        <p:spPr>
          <a:xfrm>
            <a:off x="2887138" y="4841878"/>
            <a:ext cx="30077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모델 변경/튜닝 지원</a:t>
            </a:r>
            <a:endParaRPr lang="en-US" sz="1050" dirty="0"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1F6794BA-E2AA-A430-F1AD-E10613995690}"/>
              </a:ext>
            </a:extLst>
          </p:cNvPr>
          <p:cNvSpPr/>
          <p:nvPr/>
        </p:nvSpPr>
        <p:spPr>
          <a:xfrm>
            <a:off x="2277538" y="5333309"/>
            <a:ext cx="457200" cy="457200"/>
          </a:xfrm>
          <a:prstGeom prst="roundRect">
            <a:avLst>
              <a:gd name="adj" fmla="val 16667"/>
            </a:avLst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3">
            <a:extLst>
              <a:ext uri="{FF2B5EF4-FFF2-40B4-BE49-F238E27FC236}">
                <a16:creationId xmlns:a16="http://schemas.microsoft.com/office/drawing/2014/main" id="{48CBABEF-8BB1-2E17-3F29-FA83DA3B6433}"/>
              </a:ext>
            </a:extLst>
          </p:cNvPr>
          <p:cNvSpPr/>
          <p:nvPr/>
        </p:nvSpPr>
        <p:spPr>
          <a:xfrm>
            <a:off x="2387224" y="5428559"/>
            <a:ext cx="24258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</a:t>
            </a:r>
            <a:endParaRPr lang="en-US" sz="1500" dirty="0"/>
          </a:p>
        </p:txBody>
      </p:sp>
      <p:sp>
        <p:nvSpPr>
          <p:cNvPr id="43" name="Text 34">
            <a:extLst>
              <a:ext uri="{FF2B5EF4-FFF2-40B4-BE49-F238E27FC236}">
                <a16:creationId xmlns:a16="http://schemas.microsoft.com/office/drawing/2014/main" id="{515B3DC5-7EE3-88EE-713F-A2510F6E3111}"/>
              </a:ext>
            </a:extLst>
          </p:cNvPr>
          <p:cNvSpPr/>
          <p:nvPr/>
        </p:nvSpPr>
        <p:spPr>
          <a:xfrm>
            <a:off x="2887138" y="5333309"/>
            <a:ext cx="191941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보안 및 권한 관리</a:t>
            </a:r>
            <a:endParaRPr lang="en-US" sz="1350" dirty="0"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80C2A041-F798-AB51-282E-88144A5F1AC2}"/>
              </a:ext>
            </a:extLst>
          </p:cNvPr>
          <p:cNvSpPr/>
          <p:nvPr/>
        </p:nvSpPr>
        <p:spPr>
          <a:xfrm>
            <a:off x="2887138" y="5615189"/>
            <a:ext cx="19194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활용 권한별 응답 필터링</a:t>
            </a:r>
            <a:endParaRPr lang="en-US" sz="1050" dirty="0"/>
          </a:p>
        </p:txBody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DFB14ED0-A182-B8A9-824C-3E951F8CF90D}"/>
              </a:ext>
            </a:extLst>
          </p:cNvPr>
          <p:cNvSpPr/>
          <p:nvPr/>
        </p:nvSpPr>
        <p:spPr>
          <a:xfrm>
            <a:off x="2887138" y="5878020"/>
            <a:ext cx="19194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개인정보 보호 정책 반영</a:t>
            </a:r>
            <a:endParaRPr lang="en-US" sz="1050" dirty="0"/>
          </a:p>
        </p:txBody>
      </p:sp>
      <p:sp>
        <p:nvSpPr>
          <p:cNvPr id="46" name="직사각형 132">
            <a:extLst>
              <a:ext uri="{FF2B5EF4-FFF2-40B4-BE49-F238E27FC236}">
                <a16:creationId xmlns:a16="http://schemas.microsoft.com/office/drawing/2014/main" id="{A99B5620-81B5-44EB-6FE6-693A88A7D2CE}"/>
              </a:ext>
            </a:extLst>
          </p:cNvPr>
          <p:cNvSpPr/>
          <p:nvPr/>
        </p:nvSpPr>
        <p:spPr>
          <a:xfrm>
            <a:off x="7448658" y="1900424"/>
            <a:ext cx="2170325" cy="45525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7" name="직사각형 133">
            <a:extLst>
              <a:ext uri="{FF2B5EF4-FFF2-40B4-BE49-F238E27FC236}">
                <a16:creationId xmlns:a16="http://schemas.microsoft.com/office/drawing/2014/main" id="{6F8A10C3-6F11-2012-D765-75B0E8444C0E}"/>
              </a:ext>
            </a:extLst>
          </p:cNvPr>
          <p:cNvSpPr/>
          <p:nvPr/>
        </p:nvSpPr>
        <p:spPr>
          <a:xfrm>
            <a:off x="7448658" y="1908297"/>
            <a:ext cx="2175111" cy="289239"/>
          </a:xfrm>
          <a:prstGeom prst="rect">
            <a:avLst/>
          </a:prstGeom>
          <a:solidFill>
            <a:srgbClr val="0066AC"/>
          </a:solidFill>
          <a:ln w="6350">
            <a:noFill/>
          </a:ln>
        </p:spPr>
        <p:txBody>
          <a:bodyPr vert="horz" wrap="square" lIns="3600" tIns="3600" rIns="3600" bIns="36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실제 구현 아키텍처</a:t>
            </a:r>
          </a:p>
        </p:txBody>
      </p:sp>
      <p:sp>
        <p:nvSpPr>
          <p:cNvPr id="48" name="직사각형 130">
            <a:extLst>
              <a:ext uri="{FF2B5EF4-FFF2-40B4-BE49-F238E27FC236}">
                <a16:creationId xmlns:a16="http://schemas.microsoft.com/office/drawing/2014/main" id="{3A60ACF3-8078-D942-D848-EF1B4C8B73FE}"/>
              </a:ext>
            </a:extLst>
          </p:cNvPr>
          <p:cNvSpPr/>
          <p:nvPr/>
        </p:nvSpPr>
        <p:spPr>
          <a:xfrm>
            <a:off x="7507088" y="2273281"/>
            <a:ext cx="2104566" cy="231310"/>
          </a:xfrm>
          <a:prstGeom prst="rect">
            <a:avLst/>
          </a:prstGeom>
          <a:solidFill>
            <a:srgbClr val="D9D9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defTabSz="964018"/>
            <a:r>
              <a:rPr lang="en-US" altLang="ko-KR" sz="105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AI Control Layer</a:t>
            </a:r>
          </a:p>
        </p:txBody>
      </p:sp>
      <p:sp>
        <p:nvSpPr>
          <p:cNvPr id="49" name="모서리가 둥근 직사각형 137">
            <a:extLst>
              <a:ext uri="{FF2B5EF4-FFF2-40B4-BE49-F238E27FC236}">
                <a16:creationId xmlns:a16="http://schemas.microsoft.com/office/drawing/2014/main" id="{C42946A1-4F44-0378-F094-D67D2AA3CBC0}"/>
              </a:ext>
            </a:extLst>
          </p:cNvPr>
          <p:cNvSpPr/>
          <p:nvPr/>
        </p:nvSpPr>
        <p:spPr>
          <a:xfrm>
            <a:off x="7570297" y="2316625"/>
            <a:ext cx="135326" cy="144623"/>
          </a:xfrm>
          <a:prstGeom prst="roundRect">
            <a:avLst/>
          </a:prstGeom>
          <a:gradFill flip="none" rotWithShape="1">
            <a:gsLst>
              <a:gs pos="48000">
                <a:srgbClr val="2E0900"/>
              </a:gs>
              <a:gs pos="49000">
                <a:srgbClr val="433C37"/>
              </a:gs>
            </a:gsLst>
            <a:lin ang="13500000" scaled="1"/>
            <a:tileRect/>
          </a:gra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_Pro Medium" panose="00000600000000000000" pitchFamily="50" charset="-127"/>
              </a:rPr>
              <a:t>1</a:t>
            </a:r>
            <a:endParaRPr lang="ko-KR" altLang="en-US" sz="900" dirty="0"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0" name="object 77">
            <a:extLst>
              <a:ext uri="{FF2B5EF4-FFF2-40B4-BE49-F238E27FC236}">
                <a16:creationId xmlns:a16="http://schemas.microsoft.com/office/drawing/2014/main" id="{91232340-44BA-3940-2DDC-98638EB8A671}"/>
              </a:ext>
            </a:extLst>
          </p:cNvPr>
          <p:cNvSpPr txBox="1"/>
          <p:nvPr/>
        </p:nvSpPr>
        <p:spPr>
          <a:xfrm>
            <a:off x="7426300" y="2577957"/>
            <a:ext cx="2185353" cy="34624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216000" indent="-108000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302260" algn="l"/>
              </a:tabLst>
            </a:pPr>
            <a:r>
              <a:rPr lang="en-US" altLang="ko-KR" sz="1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MLflow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+ Kubeflow</a:t>
            </a:r>
          </a:p>
          <a:p>
            <a:pPr marL="108000">
              <a:spcAft>
                <a:spcPts val="300"/>
              </a:spcAft>
              <a:buClr>
                <a:schemeClr val="bg1">
                  <a:lumMod val="50000"/>
                </a:schemeClr>
              </a:buClr>
              <a:tabLst>
                <a:tab pos="302260" algn="l"/>
              </a:tabLst>
            </a:pP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 → Model Lifecycle Management</a:t>
            </a:r>
          </a:p>
        </p:txBody>
      </p:sp>
      <p:sp>
        <p:nvSpPr>
          <p:cNvPr id="51" name="직사각형 126">
            <a:extLst>
              <a:ext uri="{FF2B5EF4-FFF2-40B4-BE49-F238E27FC236}">
                <a16:creationId xmlns:a16="http://schemas.microsoft.com/office/drawing/2014/main" id="{E58AABDE-2564-C2DF-6111-CBD58AB8F910}"/>
              </a:ext>
            </a:extLst>
          </p:cNvPr>
          <p:cNvSpPr/>
          <p:nvPr/>
        </p:nvSpPr>
        <p:spPr>
          <a:xfrm>
            <a:off x="7507088" y="3272138"/>
            <a:ext cx="2104566" cy="231310"/>
          </a:xfrm>
          <a:prstGeom prst="rect">
            <a:avLst/>
          </a:prstGeom>
          <a:solidFill>
            <a:srgbClr val="D9D9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defTabSz="964018"/>
            <a:r>
              <a:rPr lang="en-US" altLang="ko-KR" sz="105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Microservices Mesh</a:t>
            </a:r>
          </a:p>
        </p:txBody>
      </p:sp>
      <p:sp>
        <p:nvSpPr>
          <p:cNvPr id="52" name="모서리가 둥근 직사각형 153">
            <a:extLst>
              <a:ext uri="{FF2B5EF4-FFF2-40B4-BE49-F238E27FC236}">
                <a16:creationId xmlns:a16="http://schemas.microsoft.com/office/drawing/2014/main" id="{90756046-329A-4362-F5C4-7AECE49A0C10}"/>
              </a:ext>
            </a:extLst>
          </p:cNvPr>
          <p:cNvSpPr/>
          <p:nvPr/>
        </p:nvSpPr>
        <p:spPr>
          <a:xfrm>
            <a:off x="7570297" y="3315482"/>
            <a:ext cx="135326" cy="144623"/>
          </a:xfrm>
          <a:prstGeom prst="roundRect">
            <a:avLst/>
          </a:prstGeom>
          <a:gradFill flip="none" rotWithShape="1">
            <a:gsLst>
              <a:gs pos="48000">
                <a:srgbClr val="2E0900"/>
              </a:gs>
              <a:gs pos="49000">
                <a:srgbClr val="433C37"/>
              </a:gs>
            </a:gsLst>
            <a:lin ang="13500000" scaled="1"/>
            <a:tileRect/>
          </a:gra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_Pro Medium" panose="00000600000000000000" pitchFamily="50" charset="-127"/>
              </a:rPr>
              <a:t>2</a:t>
            </a:r>
            <a:endParaRPr lang="ko-KR" altLang="en-US" sz="900" dirty="0"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3" name="object 77">
            <a:extLst>
              <a:ext uri="{FF2B5EF4-FFF2-40B4-BE49-F238E27FC236}">
                <a16:creationId xmlns:a16="http://schemas.microsoft.com/office/drawing/2014/main" id="{9F9719ED-E9F5-ED8A-A93B-B303F1283040}"/>
              </a:ext>
            </a:extLst>
          </p:cNvPr>
          <p:cNvSpPr txBox="1"/>
          <p:nvPr/>
        </p:nvSpPr>
        <p:spPr>
          <a:xfrm>
            <a:off x="7426301" y="3567761"/>
            <a:ext cx="2192682" cy="34624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182563" indent="-95250" latinLnBrk="0">
              <a:lnSpc>
                <a:spcPct val="100000"/>
              </a:lnSpc>
              <a:spcBef>
                <a:spcPts val="1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302260" algn="l"/>
              </a:tabLst>
              <a:defRPr sz="900" spc="5"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/>
              </a:defRPr>
            </a:lvl1pPr>
          </a:lstStyle>
          <a:p>
            <a:pPr marL="216000" indent="-108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altLang="ko-KR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Kafka + Redis + </a:t>
            </a:r>
            <a:r>
              <a:rPr lang="en-US" altLang="ko-KR" sz="1000" spc="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MinIO</a:t>
            </a:r>
            <a:endParaRPr lang="en-US" altLang="ko-KR" sz="1000" spc="0" dirty="0">
              <a:solidFill>
                <a:schemeClr val="tx1">
                  <a:lumMod val="85000"/>
                  <a:lumOff val="15000"/>
                </a:schemeClr>
              </a:solidFill>
              <a:cs typeface="+mn-cs"/>
            </a:endParaRPr>
          </a:p>
          <a:p>
            <a:pPr marL="1080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ko-KR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  → Message Queue &amp; Storage</a:t>
            </a:r>
          </a:p>
        </p:txBody>
      </p:sp>
      <p:sp>
        <p:nvSpPr>
          <p:cNvPr id="54" name="직사각형 120">
            <a:extLst>
              <a:ext uri="{FF2B5EF4-FFF2-40B4-BE49-F238E27FC236}">
                <a16:creationId xmlns:a16="http://schemas.microsoft.com/office/drawing/2014/main" id="{6976E426-B69F-0E50-C92D-55DBFFDF5F52}"/>
              </a:ext>
            </a:extLst>
          </p:cNvPr>
          <p:cNvSpPr/>
          <p:nvPr/>
        </p:nvSpPr>
        <p:spPr>
          <a:xfrm>
            <a:off x="7507088" y="4346918"/>
            <a:ext cx="2104566" cy="231310"/>
          </a:xfrm>
          <a:prstGeom prst="rect">
            <a:avLst/>
          </a:prstGeom>
          <a:solidFill>
            <a:srgbClr val="D9D9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defTabSz="964018"/>
            <a:r>
              <a:rPr lang="en-US" altLang="ko-KR" sz="1050" spc="-11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Data Processing API</a:t>
            </a:r>
          </a:p>
        </p:txBody>
      </p:sp>
      <p:sp>
        <p:nvSpPr>
          <p:cNvPr id="55" name="모서리가 둥근 직사각형 158">
            <a:extLst>
              <a:ext uri="{FF2B5EF4-FFF2-40B4-BE49-F238E27FC236}">
                <a16:creationId xmlns:a16="http://schemas.microsoft.com/office/drawing/2014/main" id="{8AF17082-A8F7-7F04-BAC2-E664750F1069}"/>
              </a:ext>
            </a:extLst>
          </p:cNvPr>
          <p:cNvSpPr/>
          <p:nvPr/>
        </p:nvSpPr>
        <p:spPr>
          <a:xfrm>
            <a:off x="7570297" y="4390262"/>
            <a:ext cx="135326" cy="144623"/>
          </a:xfrm>
          <a:prstGeom prst="roundRect">
            <a:avLst/>
          </a:prstGeom>
          <a:gradFill flip="none" rotWithShape="1">
            <a:gsLst>
              <a:gs pos="48000">
                <a:srgbClr val="2E0900"/>
              </a:gs>
              <a:gs pos="49000">
                <a:srgbClr val="433C37"/>
              </a:gs>
            </a:gsLst>
            <a:lin ang="13500000" scaled="1"/>
            <a:tileRect/>
          </a:gra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_Pro Medium" panose="00000600000000000000" pitchFamily="50" charset="-127"/>
              </a:rPr>
              <a:t>3</a:t>
            </a:r>
            <a:endParaRPr lang="ko-KR" altLang="en-US" sz="900" dirty="0"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6" name="object 77">
            <a:extLst>
              <a:ext uri="{FF2B5EF4-FFF2-40B4-BE49-F238E27FC236}">
                <a16:creationId xmlns:a16="http://schemas.microsoft.com/office/drawing/2014/main" id="{08AD2446-4A01-8865-5D9D-78E2CE359633}"/>
              </a:ext>
            </a:extLst>
          </p:cNvPr>
          <p:cNvSpPr txBox="1"/>
          <p:nvPr/>
        </p:nvSpPr>
        <p:spPr>
          <a:xfrm>
            <a:off x="7426301" y="4651594"/>
            <a:ext cx="2159659" cy="34624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182563" indent="-95250" latinLnBrk="0">
              <a:lnSpc>
                <a:spcPct val="100000"/>
              </a:lnSpc>
              <a:spcBef>
                <a:spcPts val="1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302260" algn="l"/>
              </a:tabLst>
              <a:defRPr sz="900" spc="5"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/>
              </a:defRPr>
            </a:lvl1pPr>
          </a:lstStyle>
          <a:p>
            <a:pPr marL="216000" indent="-108000">
              <a:spcBef>
                <a:spcPts val="0"/>
              </a:spcBef>
              <a:spcAft>
                <a:spcPts val="300"/>
              </a:spcAft>
            </a:pPr>
            <a:r>
              <a:rPr lang="en-US" altLang="ko-KR" sz="1000" spc="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FastAPI</a:t>
            </a:r>
            <a:r>
              <a:rPr lang="en-US" altLang="ko-KR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 + NGINX</a:t>
            </a:r>
          </a:p>
          <a:p>
            <a:pPr marL="10800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ko-KR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  → API Gateway &amp; Load Balancer</a:t>
            </a:r>
          </a:p>
        </p:txBody>
      </p:sp>
      <p:sp>
        <p:nvSpPr>
          <p:cNvPr id="57" name="직사각형 120">
            <a:extLst>
              <a:ext uri="{FF2B5EF4-FFF2-40B4-BE49-F238E27FC236}">
                <a16:creationId xmlns:a16="http://schemas.microsoft.com/office/drawing/2014/main" id="{CFF5EE96-D7A3-6ED0-8A34-D894410B3C93}"/>
              </a:ext>
            </a:extLst>
          </p:cNvPr>
          <p:cNvSpPr/>
          <p:nvPr/>
        </p:nvSpPr>
        <p:spPr>
          <a:xfrm>
            <a:off x="7526138" y="5404193"/>
            <a:ext cx="2104566" cy="231310"/>
          </a:xfrm>
          <a:prstGeom prst="rect">
            <a:avLst/>
          </a:prstGeom>
          <a:solidFill>
            <a:srgbClr val="D9D9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defTabSz="964018"/>
            <a:r>
              <a:rPr lang="en-US" altLang="ko-KR" sz="1050" spc="-11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Computing Resources</a:t>
            </a:r>
          </a:p>
        </p:txBody>
      </p:sp>
      <p:sp>
        <p:nvSpPr>
          <p:cNvPr id="58" name="모서리가 둥근 직사각형 158">
            <a:extLst>
              <a:ext uri="{FF2B5EF4-FFF2-40B4-BE49-F238E27FC236}">
                <a16:creationId xmlns:a16="http://schemas.microsoft.com/office/drawing/2014/main" id="{CE84DE74-DEBF-58B5-5C15-AC9AB765FBA0}"/>
              </a:ext>
            </a:extLst>
          </p:cNvPr>
          <p:cNvSpPr/>
          <p:nvPr/>
        </p:nvSpPr>
        <p:spPr>
          <a:xfrm>
            <a:off x="7589347" y="5447537"/>
            <a:ext cx="135326" cy="144623"/>
          </a:xfrm>
          <a:prstGeom prst="roundRect">
            <a:avLst/>
          </a:prstGeom>
          <a:gradFill flip="none" rotWithShape="1">
            <a:gsLst>
              <a:gs pos="48000">
                <a:srgbClr val="2E0900"/>
              </a:gs>
              <a:gs pos="49000">
                <a:srgbClr val="433C37"/>
              </a:gs>
            </a:gsLst>
            <a:lin ang="13500000" scaled="1"/>
            <a:tileRect/>
          </a:gra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_Pro Medium" panose="00000600000000000000" pitchFamily="50" charset="-127"/>
              </a:rPr>
              <a:t>4</a:t>
            </a:r>
            <a:endParaRPr lang="ko-KR" altLang="en-US" sz="900" dirty="0"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9" name="object 77">
            <a:extLst>
              <a:ext uri="{FF2B5EF4-FFF2-40B4-BE49-F238E27FC236}">
                <a16:creationId xmlns:a16="http://schemas.microsoft.com/office/drawing/2014/main" id="{1819F38A-8697-1C9F-61B8-6F3357701F1C}"/>
              </a:ext>
            </a:extLst>
          </p:cNvPr>
          <p:cNvSpPr txBox="1"/>
          <p:nvPr/>
        </p:nvSpPr>
        <p:spPr>
          <a:xfrm>
            <a:off x="7445351" y="5708869"/>
            <a:ext cx="2159659" cy="35907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182563" indent="-95250" latinLnBrk="0">
              <a:lnSpc>
                <a:spcPct val="100000"/>
              </a:lnSpc>
              <a:spcBef>
                <a:spcPts val="1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302260" algn="l"/>
              </a:tabLst>
              <a:defRPr sz="900" spc="5"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/>
              </a:defRPr>
            </a:lvl1pPr>
          </a:lstStyle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</a:defRPr>
            </a:pPr>
            <a:r>
              <a:rPr lang="en-US" altLang="ko-KR" sz="1000" dirty="0"/>
              <a:t>NVIDIA GPU Operator</a:t>
            </a:r>
          </a:p>
          <a:p>
            <a:pPr marL="87313" indent="0">
              <a:spcAft>
                <a:spcPts val="300"/>
              </a:spcAft>
              <a:buNone/>
              <a:defRPr sz="1100" b="0">
                <a:solidFill>
                  <a:srgbClr val="333333"/>
                </a:solidFill>
              </a:defRPr>
            </a:pPr>
            <a:r>
              <a:rPr lang="en-US" altLang="ko-KR" sz="1000" dirty="0"/>
              <a:t>  → GPU Resource Management</a:t>
            </a:r>
          </a:p>
        </p:txBody>
      </p:sp>
      <p:grpSp>
        <p:nvGrpSpPr>
          <p:cNvPr id="4" name="그룹 151">
            <a:extLst>
              <a:ext uri="{FF2B5EF4-FFF2-40B4-BE49-F238E27FC236}">
                <a16:creationId xmlns:a16="http://schemas.microsoft.com/office/drawing/2014/main" id="{1572E513-6B6A-028C-834D-C7199A54E863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6" name="모서리가 둥근 직사각형 20">
              <a:extLst>
                <a:ext uri="{FF2B5EF4-FFF2-40B4-BE49-F238E27FC236}">
                  <a16:creationId xmlns:a16="http://schemas.microsoft.com/office/drawing/2014/main" id="{40939765-8BBD-F40F-DA69-72FFAE6E45A6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7" name="직사각형 153">
              <a:extLst>
                <a:ext uri="{FF2B5EF4-FFF2-40B4-BE49-F238E27FC236}">
                  <a16:creationId xmlns:a16="http://schemas.microsoft.com/office/drawing/2014/main" id="{08D1173A-49C5-4A0C-8E8B-84F959344FAD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AAR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-001</a:t>
              </a:r>
            </a:p>
          </p:txBody>
        </p:sp>
        <p:sp>
          <p:nvSpPr>
            <p:cNvPr id="16" name="직사각형 154">
              <a:extLst>
                <a:ext uri="{FF2B5EF4-FFF2-40B4-BE49-F238E27FC236}">
                  <a16:creationId xmlns:a16="http://schemas.microsoft.com/office/drawing/2014/main" id="{72006D68-EDE2-B1A1-2427-0D6DA471C7B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17" name="직선 연결선 155">
              <a:extLst>
                <a:ext uri="{FF2B5EF4-FFF2-40B4-BE49-F238E27FC236}">
                  <a16:creationId xmlns:a16="http://schemas.microsoft.com/office/drawing/2014/main" id="{917C6308-9AE9-1767-33D2-B22548130FFB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90106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C1876-E5F3-C08C-62E8-709C3F927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CF384E98-58E3-5F6D-57CE-82FAD2054F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8.1 AI </a:t>
            </a:r>
            <a:r>
              <a:rPr lang="ko-KR" altLang="en-US" dirty="0"/>
              <a:t>활용을 위한 설계 </a:t>
            </a:r>
            <a:r>
              <a:rPr lang="en-US" altLang="ko-KR" dirty="0"/>
              <a:t>(3/5)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7E92E17-FB41-E709-85A8-191E1C00DF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8. AI </a:t>
            </a:r>
            <a:r>
              <a:rPr lang="ko-KR" altLang="en-US" dirty="0"/>
              <a:t>적용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968DAA13-B207-7343-39DD-669AECFCB1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오픈소스 기반 </a:t>
            </a:r>
            <a:r>
              <a:rPr lang="ko-KR" altLang="en-US" dirty="0" err="1"/>
              <a:t>엔터프라이즈급</a:t>
            </a:r>
            <a:r>
              <a:rPr lang="ko-KR" altLang="en-US" dirty="0"/>
              <a:t> </a:t>
            </a:r>
            <a:r>
              <a:rPr lang="en-US" altLang="ko-KR" dirty="0"/>
              <a:t>AI </a:t>
            </a:r>
            <a:r>
              <a:rPr lang="ko-KR" altLang="en-US" dirty="0"/>
              <a:t>플랫폼을 </a:t>
            </a:r>
            <a:r>
              <a:rPr lang="en-US" altLang="ko-KR" dirty="0"/>
              <a:t>Kubernetes </a:t>
            </a:r>
            <a:r>
              <a:rPr lang="ko-KR" altLang="en-US" dirty="0"/>
              <a:t>위에 구축하고</a:t>
            </a:r>
            <a:r>
              <a:rPr lang="en-US" altLang="ko-KR" dirty="0"/>
              <a:t>, </a:t>
            </a:r>
            <a:r>
              <a:rPr lang="en-US" altLang="ko-KR" dirty="0" err="1"/>
              <a:t>MLflow</a:t>
            </a:r>
            <a:r>
              <a:rPr lang="en-US" altLang="ko-KR" dirty="0"/>
              <a:t> + Kubeflow + Seldon Core</a:t>
            </a:r>
            <a:r>
              <a:rPr lang="ko-KR" altLang="en-US" dirty="0"/>
              <a:t>를 </a:t>
            </a:r>
            <a:r>
              <a:rPr lang="en-US" altLang="ko-KR" dirty="0"/>
              <a:t>Helm</a:t>
            </a:r>
            <a:r>
              <a:rPr lang="ko-KR" altLang="en-US" dirty="0"/>
              <a:t>과 </a:t>
            </a:r>
            <a:r>
              <a:rPr lang="en-US" altLang="ko-KR" dirty="0" err="1"/>
              <a:t>kustomize</a:t>
            </a:r>
            <a:r>
              <a:rPr lang="ko-KR" altLang="en-US" dirty="0"/>
              <a:t>로 배포하여 완전한 </a:t>
            </a:r>
            <a:r>
              <a:rPr lang="en-US" altLang="ko-KR" dirty="0" err="1"/>
              <a:t>MLOps</a:t>
            </a:r>
            <a:r>
              <a:rPr lang="en-US" altLang="ko-KR" dirty="0"/>
              <a:t> </a:t>
            </a:r>
            <a:r>
              <a:rPr lang="ko-KR" altLang="en-US" dirty="0"/>
              <a:t>환경을 구현하겠습니다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56D8BF74-2042-8A25-C01E-621BD55274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en-US" altLang="ko-KR" dirty="0"/>
              <a:t>Kubernetes </a:t>
            </a:r>
            <a:r>
              <a:rPr lang="ko-KR" altLang="en-US" dirty="0"/>
              <a:t>기반 </a:t>
            </a:r>
            <a:r>
              <a:rPr lang="en-US" altLang="ko-KR" dirty="0"/>
              <a:t>AI </a:t>
            </a:r>
            <a:r>
              <a:rPr lang="ko-KR" altLang="en-US" dirty="0"/>
              <a:t>플랫폼 </a:t>
            </a:r>
            <a:r>
              <a:rPr lang="en-US" altLang="ko-KR" dirty="0"/>
              <a:t>- </a:t>
            </a:r>
            <a:r>
              <a:rPr lang="ko-KR" altLang="en-US" dirty="0"/>
              <a:t>단계별 구축 가이드</a:t>
            </a:r>
          </a:p>
        </p:txBody>
      </p:sp>
      <p:sp>
        <p:nvSpPr>
          <p:cNvPr id="46" name="직사각형 132">
            <a:extLst>
              <a:ext uri="{FF2B5EF4-FFF2-40B4-BE49-F238E27FC236}">
                <a16:creationId xmlns:a16="http://schemas.microsoft.com/office/drawing/2014/main" id="{AB17A123-749A-F290-F2FE-2FDE7ADE9211}"/>
              </a:ext>
            </a:extLst>
          </p:cNvPr>
          <p:cNvSpPr/>
          <p:nvPr/>
        </p:nvSpPr>
        <p:spPr>
          <a:xfrm>
            <a:off x="7448658" y="1900424"/>
            <a:ext cx="2170325" cy="45525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7" name="직사각형 133">
            <a:extLst>
              <a:ext uri="{FF2B5EF4-FFF2-40B4-BE49-F238E27FC236}">
                <a16:creationId xmlns:a16="http://schemas.microsoft.com/office/drawing/2014/main" id="{B097F37B-35F9-19A0-964E-C93F31EB5386}"/>
              </a:ext>
            </a:extLst>
          </p:cNvPr>
          <p:cNvSpPr/>
          <p:nvPr/>
        </p:nvSpPr>
        <p:spPr>
          <a:xfrm>
            <a:off x="7448658" y="1908297"/>
            <a:ext cx="2175111" cy="289239"/>
          </a:xfrm>
          <a:prstGeom prst="rect">
            <a:avLst/>
          </a:prstGeom>
          <a:solidFill>
            <a:srgbClr val="0066AC"/>
          </a:solidFill>
          <a:ln w="6350">
            <a:noFill/>
          </a:ln>
        </p:spPr>
        <p:txBody>
          <a:bodyPr vert="horz" wrap="square" lIns="3600" tIns="3600" rIns="3600" bIns="36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실제 배포 명령어 예시</a:t>
            </a:r>
          </a:p>
        </p:txBody>
      </p:sp>
      <p:sp>
        <p:nvSpPr>
          <p:cNvPr id="48" name="직사각형 130">
            <a:extLst>
              <a:ext uri="{FF2B5EF4-FFF2-40B4-BE49-F238E27FC236}">
                <a16:creationId xmlns:a16="http://schemas.microsoft.com/office/drawing/2014/main" id="{B7D8F6B7-FE81-1E4C-B62E-F53E83F052E8}"/>
              </a:ext>
            </a:extLst>
          </p:cNvPr>
          <p:cNvSpPr/>
          <p:nvPr/>
        </p:nvSpPr>
        <p:spPr>
          <a:xfrm>
            <a:off x="7507088" y="2273281"/>
            <a:ext cx="2104566" cy="231310"/>
          </a:xfrm>
          <a:prstGeom prst="rect">
            <a:avLst/>
          </a:prstGeom>
          <a:solidFill>
            <a:srgbClr val="D9D9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defTabSz="964018"/>
            <a:r>
              <a:rPr lang="en-US" altLang="ko-KR" sz="105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Kubernetes </a:t>
            </a:r>
            <a:r>
              <a:rPr lang="ko-KR" altLang="en-US" sz="105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클러스터 초기화</a:t>
            </a:r>
          </a:p>
        </p:txBody>
      </p:sp>
      <p:sp>
        <p:nvSpPr>
          <p:cNvPr id="49" name="모서리가 둥근 직사각형 137">
            <a:extLst>
              <a:ext uri="{FF2B5EF4-FFF2-40B4-BE49-F238E27FC236}">
                <a16:creationId xmlns:a16="http://schemas.microsoft.com/office/drawing/2014/main" id="{19DD0502-C102-188B-0DF2-0ADBB9D6C49F}"/>
              </a:ext>
            </a:extLst>
          </p:cNvPr>
          <p:cNvSpPr/>
          <p:nvPr/>
        </p:nvSpPr>
        <p:spPr>
          <a:xfrm>
            <a:off x="7570297" y="2316625"/>
            <a:ext cx="135326" cy="144623"/>
          </a:xfrm>
          <a:prstGeom prst="roundRect">
            <a:avLst/>
          </a:prstGeom>
          <a:gradFill flip="none" rotWithShape="1">
            <a:gsLst>
              <a:gs pos="48000">
                <a:srgbClr val="2E0900"/>
              </a:gs>
              <a:gs pos="49000">
                <a:srgbClr val="433C37"/>
              </a:gs>
            </a:gsLst>
            <a:lin ang="13500000" scaled="1"/>
            <a:tileRect/>
          </a:gra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_Pro Medium" panose="00000600000000000000" pitchFamily="50" charset="-127"/>
              </a:rPr>
              <a:t>1</a:t>
            </a:r>
            <a:endParaRPr lang="ko-KR" altLang="en-US" sz="900" dirty="0"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0" name="object 77">
            <a:extLst>
              <a:ext uri="{FF2B5EF4-FFF2-40B4-BE49-F238E27FC236}">
                <a16:creationId xmlns:a16="http://schemas.microsoft.com/office/drawing/2014/main" id="{840CDE8F-C7E0-1DDD-3E52-46052D2796FF}"/>
              </a:ext>
            </a:extLst>
          </p:cNvPr>
          <p:cNvSpPr txBox="1"/>
          <p:nvPr/>
        </p:nvSpPr>
        <p:spPr>
          <a:xfrm>
            <a:off x="7451994" y="2530332"/>
            <a:ext cx="2159659" cy="50013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08000">
              <a:spcAft>
                <a:spcPts val="300"/>
              </a:spcAft>
              <a:buClr>
                <a:schemeClr val="bg1">
                  <a:lumMod val="50000"/>
                </a:schemeClr>
              </a:buClr>
              <a:tabLst>
                <a:tab pos="302260" algn="l"/>
              </a:tabLst>
              <a:defRPr sz="900">
                <a:solidFill>
                  <a:srgbClr val="333333"/>
                </a:solidFill>
                <a:latin typeface="Consolas"/>
              </a:defRPr>
            </a:pPr>
            <a:r>
              <a:rPr lang="en-US" altLang="ko-KR" sz="1000" spc="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kubeadm</a:t>
            </a:r>
            <a:r>
              <a:rPr lang="en-US" altLang="ko-KR" sz="1000" spc="5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000" spc="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init</a:t>
            </a:r>
            <a:r>
              <a:rPr lang="en-US" altLang="ko-KR" sz="1000" spc="5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--pod-network-</a:t>
            </a:r>
            <a:r>
              <a:rPr lang="en-US" altLang="ko-KR" sz="1000" spc="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cidr</a:t>
            </a:r>
            <a:r>
              <a:rPr lang="en-US" altLang="ko-KR" sz="1000" spc="5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=10.244.0.0/16</a:t>
            </a:r>
          </a:p>
          <a:p>
            <a:pPr marL="108000">
              <a:spcAft>
                <a:spcPts val="300"/>
              </a:spcAft>
              <a:buClr>
                <a:schemeClr val="bg1">
                  <a:lumMod val="50000"/>
                </a:schemeClr>
              </a:buClr>
              <a:tabLst>
                <a:tab pos="302260" algn="l"/>
              </a:tabLst>
              <a:defRPr sz="900">
                <a:solidFill>
                  <a:srgbClr val="333333"/>
                </a:solidFill>
                <a:latin typeface="Consolas"/>
              </a:defRPr>
            </a:pPr>
            <a:r>
              <a:rPr lang="en-US" altLang="ko-KR" sz="1000" spc="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kubectl</a:t>
            </a:r>
            <a:r>
              <a:rPr lang="en-US" altLang="ko-KR" sz="1000" spc="5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apply -f </a:t>
            </a:r>
            <a:r>
              <a:rPr lang="en-US" altLang="ko-KR" sz="1000" spc="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calico.yaml</a:t>
            </a:r>
            <a:endParaRPr lang="en-US" altLang="ko-KR" sz="1000" spc="5" dirty="0"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1" name="직사각형 126">
            <a:extLst>
              <a:ext uri="{FF2B5EF4-FFF2-40B4-BE49-F238E27FC236}">
                <a16:creationId xmlns:a16="http://schemas.microsoft.com/office/drawing/2014/main" id="{85523194-B2C3-188D-79A4-C8592D1D1ECC}"/>
              </a:ext>
            </a:extLst>
          </p:cNvPr>
          <p:cNvSpPr/>
          <p:nvPr/>
        </p:nvSpPr>
        <p:spPr>
          <a:xfrm>
            <a:off x="7507088" y="3110213"/>
            <a:ext cx="2104566" cy="231310"/>
          </a:xfrm>
          <a:prstGeom prst="rect">
            <a:avLst/>
          </a:prstGeom>
          <a:solidFill>
            <a:srgbClr val="D9D9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defTabSz="964018"/>
            <a:r>
              <a:rPr lang="en-US" altLang="ko-KR" sz="1050" spc="-8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MLflow</a:t>
            </a:r>
            <a:r>
              <a:rPr lang="en-US" altLang="ko-KR" sz="105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sz="105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설치 </a:t>
            </a:r>
            <a:r>
              <a:rPr lang="en-US" altLang="ko-KR" sz="105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(Helm)</a:t>
            </a:r>
          </a:p>
        </p:txBody>
      </p:sp>
      <p:sp>
        <p:nvSpPr>
          <p:cNvPr id="52" name="모서리가 둥근 직사각형 153">
            <a:extLst>
              <a:ext uri="{FF2B5EF4-FFF2-40B4-BE49-F238E27FC236}">
                <a16:creationId xmlns:a16="http://schemas.microsoft.com/office/drawing/2014/main" id="{AC854E18-8CA5-5FC2-B099-BE109426AF1D}"/>
              </a:ext>
            </a:extLst>
          </p:cNvPr>
          <p:cNvSpPr/>
          <p:nvPr/>
        </p:nvSpPr>
        <p:spPr>
          <a:xfrm>
            <a:off x="7570297" y="3153557"/>
            <a:ext cx="135326" cy="144623"/>
          </a:xfrm>
          <a:prstGeom prst="roundRect">
            <a:avLst/>
          </a:prstGeom>
          <a:gradFill flip="none" rotWithShape="1">
            <a:gsLst>
              <a:gs pos="48000">
                <a:srgbClr val="2E0900"/>
              </a:gs>
              <a:gs pos="49000">
                <a:srgbClr val="433C37"/>
              </a:gs>
            </a:gsLst>
            <a:lin ang="13500000" scaled="1"/>
            <a:tileRect/>
          </a:gra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_Pro Medium" panose="00000600000000000000" pitchFamily="50" charset="-127"/>
              </a:rPr>
              <a:t>2</a:t>
            </a:r>
            <a:endParaRPr lang="ko-KR" altLang="en-US" sz="900" dirty="0"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3" name="object 77">
            <a:extLst>
              <a:ext uri="{FF2B5EF4-FFF2-40B4-BE49-F238E27FC236}">
                <a16:creationId xmlns:a16="http://schemas.microsoft.com/office/drawing/2014/main" id="{1E5BA451-47A4-624E-58EF-8838B5F85260}"/>
              </a:ext>
            </a:extLst>
          </p:cNvPr>
          <p:cNvSpPr txBox="1"/>
          <p:nvPr/>
        </p:nvSpPr>
        <p:spPr>
          <a:xfrm>
            <a:off x="7451994" y="3398066"/>
            <a:ext cx="2133966" cy="96180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182563" indent="-95250" latinLnBrk="0">
              <a:lnSpc>
                <a:spcPct val="100000"/>
              </a:lnSpc>
              <a:spcBef>
                <a:spcPts val="1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302260" algn="l"/>
              </a:tabLst>
              <a:defRPr sz="900" spc="5"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/>
              </a:defRPr>
            </a:lvl1pPr>
          </a:lstStyle>
          <a:p>
            <a:pPr marL="1080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helm repo add community-charts https://community-charts.github.io/helm-charts</a:t>
            </a:r>
          </a:p>
          <a:p>
            <a:pPr marL="1080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helm install </a:t>
            </a:r>
            <a:r>
              <a:rPr lang="en-US" altLang="ko-KR" sz="100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mlflow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 community-charts/</a:t>
            </a:r>
            <a:r>
              <a:rPr lang="en-US" altLang="ko-KR" sz="100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mlflow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 --set </a:t>
            </a:r>
            <a:r>
              <a:rPr lang="en-US" altLang="ko-KR" sz="100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postgresql.enabled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=true</a:t>
            </a:r>
          </a:p>
        </p:txBody>
      </p:sp>
      <p:sp>
        <p:nvSpPr>
          <p:cNvPr id="54" name="직사각형 120">
            <a:extLst>
              <a:ext uri="{FF2B5EF4-FFF2-40B4-BE49-F238E27FC236}">
                <a16:creationId xmlns:a16="http://schemas.microsoft.com/office/drawing/2014/main" id="{34AE6E83-AF0D-9E8D-8273-B6C903CC3FB0}"/>
              </a:ext>
            </a:extLst>
          </p:cNvPr>
          <p:cNvSpPr/>
          <p:nvPr/>
        </p:nvSpPr>
        <p:spPr>
          <a:xfrm>
            <a:off x="7507088" y="4404068"/>
            <a:ext cx="2104566" cy="231310"/>
          </a:xfrm>
          <a:prstGeom prst="rect">
            <a:avLst/>
          </a:prstGeom>
          <a:solidFill>
            <a:srgbClr val="D9D9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defTabSz="964018"/>
            <a:r>
              <a:rPr lang="en-US" altLang="ko-KR" sz="1050" spc="-11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Kubeflow </a:t>
            </a:r>
            <a:r>
              <a:rPr lang="ko-KR" altLang="en-US" sz="1050" spc="-11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설치</a:t>
            </a:r>
          </a:p>
        </p:txBody>
      </p:sp>
      <p:sp>
        <p:nvSpPr>
          <p:cNvPr id="55" name="모서리가 둥근 직사각형 158">
            <a:extLst>
              <a:ext uri="{FF2B5EF4-FFF2-40B4-BE49-F238E27FC236}">
                <a16:creationId xmlns:a16="http://schemas.microsoft.com/office/drawing/2014/main" id="{E57A8B3B-0B4E-C061-21A8-4F984FC96F83}"/>
              </a:ext>
            </a:extLst>
          </p:cNvPr>
          <p:cNvSpPr/>
          <p:nvPr/>
        </p:nvSpPr>
        <p:spPr>
          <a:xfrm>
            <a:off x="7570297" y="4447412"/>
            <a:ext cx="135326" cy="144623"/>
          </a:xfrm>
          <a:prstGeom prst="roundRect">
            <a:avLst/>
          </a:prstGeom>
          <a:gradFill flip="none" rotWithShape="1">
            <a:gsLst>
              <a:gs pos="48000">
                <a:srgbClr val="2E0900"/>
              </a:gs>
              <a:gs pos="49000">
                <a:srgbClr val="433C37"/>
              </a:gs>
            </a:gsLst>
            <a:lin ang="13500000" scaled="1"/>
            <a:tileRect/>
          </a:gra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_Pro Medium" panose="00000600000000000000" pitchFamily="50" charset="-127"/>
              </a:rPr>
              <a:t>3</a:t>
            </a:r>
            <a:endParaRPr lang="ko-KR" altLang="en-US" sz="900" dirty="0"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6" name="object 77">
            <a:extLst>
              <a:ext uri="{FF2B5EF4-FFF2-40B4-BE49-F238E27FC236}">
                <a16:creationId xmlns:a16="http://schemas.microsoft.com/office/drawing/2014/main" id="{D94E5E7F-FE47-0ADD-1DF3-740BAAD87582}"/>
              </a:ext>
            </a:extLst>
          </p:cNvPr>
          <p:cNvSpPr txBox="1"/>
          <p:nvPr/>
        </p:nvSpPr>
        <p:spPr>
          <a:xfrm>
            <a:off x="7426301" y="4651594"/>
            <a:ext cx="2159659" cy="96180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182563" indent="-95250" latinLnBrk="0">
              <a:lnSpc>
                <a:spcPct val="100000"/>
              </a:lnSpc>
              <a:spcBef>
                <a:spcPts val="1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302260" algn="l"/>
              </a:tabLst>
              <a:defRPr sz="900" spc="5"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/>
              </a:defRPr>
            </a:lvl1pPr>
          </a:lstStyle>
          <a:p>
            <a:pPr marL="10800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ko-KR" sz="1000" spc="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wget</a:t>
            </a:r>
            <a:r>
              <a:rPr lang="en-US" altLang="ko-KR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 https://github.com/kubeflow/kfctl/releases/download/v1.8.0/kfctl_linux.tar.gz</a:t>
            </a:r>
          </a:p>
          <a:p>
            <a:pPr marL="10800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ko-KR" sz="1000" spc="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kfctl</a:t>
            </a:r>
            <a:r>
              <a:rPr lang="en-US" altLang="ko-KR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 apply -V -f kfctl_k8s_istio.yaml</a:t>
            </a:r>
          </a:p>
        </p:txBody>
      </p:sp>
      <p:sp>
        <p:nvSpPr>
          <p:cNvPr id="7" name="직사각형 120">
            <a:extLst>
              <a:ext uri="{FF2B5EF4-FFF2-40B4-BE49-F238E27FC236}">
                <a16:creationId xmlns:a16="http://schemas.microsoft.com/office/drawing/2014/main" id="{FFFC7D0E-36F6-B23A-9530-FA93AEE344F0}"/>
              </a:ext>
            </a:extLst>
          </p:cNvPr>
          <p:cNvSpPr/>
          <p:nvPr/>
        </p:nvSpPr>
        <p:spPr>
          <a:xfrm>
            <a:off x="7516613" y="5670893"/>
            <a:ext cx="2104566" cy="231310"/>
          </a:xfrm>
          <a:prstGeom prst="rect">
            <a:avLst/>
          </a:prstGeom>
          <a:solidFill>
            <a:srgbClr val="D9D9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defTabSz="964018"/>
            <a:r>
              <a:rPr lang="en-US" altLang="ko-KR" sz="1050" spc="-11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Seldon Core </a:t>
            </a:r>
            <a:r>
              <a:rPr lang="ko-KR" altLang="en-US" sz="1050" spc="-11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설치</a:t>
            </a:r>
          </a:p>
        </p:txBody>
      </p:sp>
      <p:sp>
        <p:nvSpPr>
          <p:cNvPr id="17" name="object 77">
            <a:extLst>
              <a:ext uri="{FF2B5EF4-FFF2-40B4-BE49-F238E27FC236}">
                <a16:creationId xmlns:a16="http://schemas.microsoft.com/office/drawing/2014/main" id="{ADCEC8D6-6386-BBE2-BB0F-6A7E5083A72C}"/>
              </a:ext>
            </a:extLst>
          </p:cNvPr>
          <p:cNvSpPr txBox="1"/>
          <p:nvPr/>
        </p:nvSpPr>
        <p:spPr>
          <a:xfrm>
            <a:off x="7443872" y="5946642"/>
            <a:ext cx="2159659" cy="46166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182563" indent="-95250" latinLnBrk="0">
              <a:lnSpc>
                <a:spcPct val="100000"/>
              </a:lnSpc>
              <a:spcBef>
                <a:spcPts val="1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302260" algn="l"/>
              </a:tabLst>
              <a:defRPr sz="900" spc="5"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/>
              </a:defRPr>
            </a:lvl1pPr>
          </a:lstStyle>
          <a:p>
            <a:pPr marL="10800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ko-KR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helm install </a:t>
            </a:r>
            <a:r>
              <a:rPr lang="en-US" altLang="ko-KR" sz="1000" spc="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seldon</a:t>
            </a:r>
            <a:r>
              <a:rPr lang="en-US" altLang="ko-KR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-core </a:t>
            </a:r>
            <a:r>
              <a:rPr lang="en-US" altLang="ko-KR" sz="1000" spc="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seldon</a:t>
            </a:r>
            <a:r>
              <a:rPr lang="en-US" altLang="ko-KR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-core-operator --namespace </a:t>
            </a:r>
            <a:r>
              <a:rPr lang="en-US" altLang="ko-KR" sz="1000" spc="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seldon</a:t>
            </a:r>
            <a:r>
              <a:rPr lang="en-US" altLang="ko-KR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-system</a:t>
            </a:r>
          </a:p>
        </p:txBody>
      </p:sp>
      <p:sp>
        <p:nvSpPr>
          <p:cNvPr id="18" name="Rounded Rectangle 5"/>
          <p:cNvSpPr/>
          <p:nvPr/>
        </p:nvSpPr>
        <p:spPr>
          <a:xfrm>
            <a:off x="287017" y="2584171"/>
            <a:ext cx="3026606" cy="1440000"/>
          </a:xfrm>
          <a:prstGeom prst="roundRect">
            <a:avLst/>
          </a:prstGeom>
          <a:solidFill>
            <a:srgbClr val="F0F3F8"/>
          </a:solidFill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95016" y="2656171"/>
            <a:ext cx="288000" cy="288000"/>
          </a:xfrm>
          <a:prstGeom prst="ellipse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95016" y="2656171"/>
            <a:ext cx="288000" cy="28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5017" y="2692170"/>
            <a:ext cx="356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BAC"/>
                </a:solidFill>
              </a:defRPr>
            </a:pPr>
            <a:r>
              <a:t>Kubernetes 클러스터 구축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5016" y="2980171"/>
            <a:ext cx="2890529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50" b="0">
                <a:solidFill>
                  <a:srgbClr val="333333"/>
                </a:solidFill>
              </a:defRPr>
            </a:pPr>
            <a:r>
              <a:rPr dirty="0" err="1"/>
              <a:t>오픈소스</a:t>
            </a:r>
            <a:r>
              <a:rPr dirty="0"/>
              <a:t>: Kubernetes 1.28+ (CNCF)</a:t>
            </a:r>
          </a:p>
          <a:p>
            <a:pPr algn="l">
              <a:spcAft>
                <a:spcPts val="300"/>
              </a:spcAft>
              <a:defRPr sz="1050" b="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kubeadm으로</a:t>
            </a:r>
            <a:r>
              <a:rPr dirty="0"/>
              <a:t> 3 Master + 5 Worker </a:t>
            </a:r>
            <a:r>
              <a:rPr dirty="0" err="1"/>
              <a:t>노드</a:t>
            </a:r>
            <a:r>
              <a:rPr dirty="0"/>
              <a:t> </a:t>
            </a:r>
            <a:r>
              <a:rPr dirty="0" err="1"/>
              <a:t>구성</a:t>
            </a:r>
            <a:endParaRPr dirty="0"/>
          </a:p>
          <a:p>
            <a:pPr algn="l">
              <a:spcAft>
                <a:spcPts val="300"/>
              </a:spcAft>
              <a:defRPr sz="1050" b="0">
                <a:solidFill>
                  <a:srgbClr val="333333"/>
                </a:solidFill>
              </a:defRPr>
            </a:pPr>
            <a:r>
              <a:rPr dirty="0"/>
              <a:t>• CNI: Calico </a:t>
            </a:r>
            <a:r>
              <a:rPr dirty="0" err="1"/>
              <a:t>또는</a:t>
            </a:r>
            <a:r>
              <a:rPr dirty="0"/>
              <a:t> Cilium </a:t>
            </a:r>
            <a:r>
              <a:rPr dirty="0" err="1"/>
              <a:t>설치</a:t>
            </a:r>
            <a:endParaRPr dirty="0"/>
          </a:p>
          <a:p>
            <a:pPr algn="l">
              <a:spcAft>
                <a:spcPts val="300"/>
              </a:spcAft>
              <a:defRPr sz="1050" b="0">
                <a:solidFill>
                  <a:srgbClr val="333333"/>
                </a:solidFill>
              </a:defRPr>
            </a:pPr>
            <a:r>
              <a:rPr dirty="0"/>
              <a:t>• Storage: Rook-</a:t>
            </a:r>
            <a:r>
              <a:rPr dirty="0" err="1"/>
              <a:t>Ceph</a:t>
            </a:r>
            <a:r>
              <a:rPr dirty="0"/>
              <a:t> </a:t>
            </a:r>
            <a:r>
              <a:rPr dirty="0" err="1"/>
              <a:t>분산</a:t>
            </a:r>
            <a:r>
              <a:rPr dirty="0"/>
              <a:t> </a:t>
            </a:r>
            <a:r>
              <a:rPr dirty="0" err="1"/>
              <a:t>스토리지</a:t>
            </a:r>
            <a:endParaRPr dirty="0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155044C7-79C5-3336-DB56-C84661EFDC8F}"/>
              </a:ext>
            </a:extLst>
          </p:cNvPr>
          <p:cNvGrpSpPr/>
          <p:nvPr/>
        </p:nvGrpSpPr>
        <p:grpSpPr>
          <a:xfrm>
            <a:off x="287017" y="4308946"/>
            <a:ext cx="3026606" cy="1368000"/>
            <a:chOff x="287017" y="5089996"/>
            <a:chExt cx="3026606" cy="1368000"/>
          </a:xfrm>
        </p:grpSpPr>
        <p:sp>
          <p:nvSpPr>
            <p:cNvPr id="60" name="Rounded Rectangle 10"/>
            <p:cNvSpPr/>
            <p:nvPr/>
          </p:nvSpPr>
          <p:spPr>
            <a:xfrm>
              <a:off x="287017" y="5089996"/>
              <a:ext cx="3026606" cy="1368000"/>
            </a:xfrm>
            <a:prstGeom prst="roundRect">
              <a:avLst/>
            </a:prstGeom>
            <a:solidFill>
              <a:srgbClr val="F0F3F8"/>
            </a:solidFill>
            <a:ln w="25400">
              <a:solidFill>
                <a:srgbClr val="00A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Oval 60"/>
            <p:cNvSpPr/>
            <p:nvPr/>
          </p:nvSpPr>
          <p:spPr>
            <a:xfrm>
              <a:off x="395016" y="5161996"/>
              <a:ext cx="288000" cy="288000"/>
            </a:xfrm>
            <a:prstGeom prst="ellipse">
              <a:avLst/>
            </a:prstGeom>
            <a:solidFill>
              <a:srgbClr val="00AE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95016" y="5161996"/>
              <a:ext cx="288000" cy="2880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</a:defRPr>
              </a:pPr>
              <a:r>
                <a:t>2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755017" y="5197996"/>
              <a:ext cx="227393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005BAC"/>
                  </a:solidFill>
                </a:defRPr>
              </a:pPr>
              <a:r>
                <a:rPr dirty="0" err="1"/>
                <a:t>MLflow</a:t>
              </a:r>
              <a:r>
                <a:rPr dirty="0"/>
                <a:t> </a:t>
              </a:r>
              <a:r>
                <a:rPr dirty="0" err="1"/>
                <a:t>모델</a:t>
              </a:r>
              <a:r>
                <a:rPr dirty="0"/>
                <a:t> </a:t>
              </a:r>
              <a:r>
                <a:rPr dirty="0" err="1"/>
                <a:t>레지스트리</a:t>
              </a:r>
              <a:r>
                <a:rPr dirty="0"/>
                <a:t> </a:t>
              </a:r>
              <a:r>
                <a:rPr dirty="0" err="1"/>
                <a:t>설치</a:t>
              </a:r>
              <a:endParaRPr dirty="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95016" y="5485996"/>
              <a:ext cx="2890529" cy="854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 err="1"/>
                <a:t>오픈소스</a:t>
              </a:r>
              <a:r>
                <a:rPr dirty="0"/>
                <a:t>: </a:t>
              </a:r>
              <a:r>
                <a:rPr dirty="0" err="1"/>
                <a:t>MLflow</a:t>
              </a:r>
              <a:r>
                <a:rPr dirty="0"/>
                <a:t> 2.9+ (Linux Foundation)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PostgreSQL </a:t>
              </a:r>
              <a:r>
                <a:rPr dirty="0" err="1"/>
                <a:t>백엔드</a:t>
              </a:r>
              <a:r>
                <a:rPr dirty="0"/>
                <a:t> + </a:t>
              </a:r>
              <a:r>
                <a:rPr dirty="0" err="1"/>
                <a:t>MinIO</a:t>
              </a:r>
              <a:r>
                <a:rPr dirty="0"/>
                <a:t> </a:t>
              </a:r>
              <a:r>
                <a:rPr dirty="0" err="1"/>
                <a:t>아티팩트</a:t>
              </a:r>
              <a:r>
                <a:rPr dirty="0"/>
                <a:t> </a:t>
              </a:r>
              <a:r>
                <a:rPr dirty="0" err="1"/>
                <a:t>스토어</a:t>
              </a:r>
              <a:endParaRPr dirty="0"/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Helm </a:t>
              </a:r>
              <a:r>
                <a:rPr dirty="0" err="1"/>
                <a:t>chart로</a:t>
              </a:r>
              <a:r>
                <a:rPr dirty="0"/>
                <a:t> </a:t>
              </a:r>
              <a:r>
                <a:rPr dirty="0" err="1"/>
                <a:t>설치</a:t>
              </a:r>
              <a:endParaRPr dirty="0"/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모델</a:t>
              </a:r>
              <a:r>
                <a:rPr dirty="0"/>
                <a:t> </a:t>
              </a:r>
              <a:r>
                <a:rPr dirty="0" err="1"/>
                <a:t>버전</a:t>
              </a:r>
              <a:r>
                <a:rPr dirty="0"/>
                <a:t> </a:t>
              </a:r>
              <a:r>
                <a:rPr dirty="0" err="1"/>
                <a:t>관리</a:t>
              </a:r>
              <a:r>
                <a:rPr dirty="0"/>
                <a:t> 및 </a:t>
              </a:r>
              <a:r>
                <a:rPr dirty="0" err="1"/>
                <a:t>메타데이터</a:t>
              </a:r>
              <a:r>
                <a:rPr dirty="0"/>
                <a:t> 추적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58E2C1E-45DF-1BD3-B632-F881A9D372BC}"/>
              </a:ext>
            </a:extLst>
          </p:cNvPr>
          <p:cNvGrpSpPr/>
          <p:nvPr/>
        </p:nvGrpSpPr>
        <p:grpSpPr>
          <a:xfrm>
            <a:off x="4317169" y="2584171"/>
            <a:ext cx="3026606" cy="1440000"/>
            <a:chOff x="4317169" y="2212696"/>
            <a:chExt cx="3026606" cy="1440000"/>
          </a:xfrm>
        </p:grpSpPr>
        <p:sp>
          <p:nvSpPr>
            <p:cNvPr id="65" name="Rounded Rectangle 15"/>
            <p:cNvSpPr/>
            <p:nvPr/>
          </p:nvSpPr>
          <p:spPr>
            <a:xfrm>
              <a:off x="4317169" y="2212696"/>
              <a:ext cx="3026606" cy="1440000"/>
            </a:xfrm>
            <a:prstGeom prst="roundRect">
              <a:avLst/>
            </a:prstGeom>
            <a:solidFill>
              <a:srgbClr val="F0F3F8"/>
            </a:solidFill>
            <a:ln w="25400">
              <a:solidFill>
                <a:srgbClr val="00A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Oval 65"/>
            <p:cNvSpPr/>
            <p:nvPr/>
          </p:nvSpPr>
          <p:spPr>
            <a:xfrm>
              <a:off x="4895017" y="2284696"/>
              <a:ext cx="288000" cy="288000"/>
            </a:xfrm>
            <a:prstGeom prst="ellipse">
              <a:avLst/>
            </a:prstGeom>
            <a:solidFill>
              <a:srgbClr val="00AE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895017" y="2284696"/>
              <a:ext cx="288000" cy="2880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</a:defRPr>
              </a:pPr>
              <a:r>
                <a:rPr dirty="0"/>
                <a:t>3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255017" y="2320695"/>
              <a:ext cx="18411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005BAC"/>
                  </a:solidFill>
                </a:defRPr>
              </a:pPr>
              <a:r>
                <a:rPr dirty="0"/>
                <a:t>Kubeflow Pipelines </a:t>
              </a:r>
              <a:r>
                <a:rPr dirty="0" err="1"/>
                <a:t>배포</a:t>
              </a:r>
              <a:endParaRPr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895017" y="2608696"/>
              <a:ext cx="2415736" cy="854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 err="1"/>
                <a:t>오픈소스</a:t>
              </a:r>
              <a:r>
                <a:rPr dirty="0"/>
                <a:t>: Kubeflow 1.8+ (Google </a:t>
              </a:r>
              <a:r>
                <a:rPr dirty="0" err="1"/>
                <a:t>주도</a:t>
              </a:r>
              <a:r>
                <a:rPr dirty="0"/>
                <a:t>)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kustomize로</a:t>
              </a:r>
              <a:r>
                <a:rPr dirty="0"/>
                <a:t> </a:t>
              </a:r>
              <a:r>
                <a:rPr dirty="0" err="1"/>
                <a:t>설치</a:t>
              </a:r>
              <a:r>
                <a:rPr dirty="0"/>
                <a:t>: </a:t>
              </a:r>
              <a:r>
                <a:rPr dirty="0" err="1"/>
                <a:t>kfctl</a:t>
              </a:r>
              <a:r>
                <a:rPr dirty="0"/>
                <a:t> apply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Argo Workflows 기반 </a:t>
              </a:r>
              <a:r>
                <a:rPr dirty="0" err="1"/>
                <a:t>파이프라인</a:t>
              </a:r>
              <a:endParaRPr dirty="0"/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Jupyter</a:t>
              </a:r>
              <a:r>
                <a:rPr dirty="0"/>
                <a:t> Notebook </a:t>
              </a:r>
              <a:r>
                <a:rPr dirty="0" err="1"/>
                <a:t>통합</a:t>
              </a:r>
              <a:r>
                <a:rPr dirty="0"/>
                <a:t> </a:t>
              </a:r>
              <a:r>
                <a:rPr dirty="0" err="1"/>
                <a:t>환경</a:t>
              </a:r>
              <a:r>
                <a:rPr dirty="0"/>
                <a:t> </a:t>
              </a:r>
              <a:r>
                <a:rPr dirty="0" err="1"/>
                <a:t>제공</a:t>
              </a:r>
              <a:endParaRPr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022B3F9-A21C-AADE-74B9-BC68F418C40C}"/>
              </a:ext>
            </a:extLst>
          </p:cNvPr>
          <p:cNvGrpSpPr/>
          <p:nvPr/>
        </p:nvGrpSpPr>
        <p:grpSpPr>
          <a:xfrm>
            <a:off x="4317169" y="4308946"/>
            <a:ext cx="3388454" cy="1558946"/>
            <a:chOff x="4317169" y="5089996"/>
            <a:chExt cx="3388454" cy="1558946"/>
          </a:xfrm>
        </p:grpSpPr>
        <p:sp>
          <p:nvSpPr>
            <p:cNvPr id="16" name="모서리가 둥근 직사각형 158">
              <a:extLst>
                <a:ext uri="{FF2B5EF4-FFF2-40B4-BE49-F238E27FC236}">
                  <a16:creationId xmlns:a16="http://schemas.microsoft.com/office/drawing/2014/main" id="{73F15642-1784-7B46-EE2F-628DD364B8A6}"/>
                </a:ext>
              </a:extLst>
            </p:cNvPr>
            <p:cNvSpPr/>
            <p:nvPr/>
          </p:nvSpPr>
          <p:spPr>
            <a:xfrm>
              <a:off x="7570297" y="6504319"/>
              <a:ext cx="135326" cy="144623"/>
            </a:xfrm>
            <a:prstGeom prst="roundRect">
              <a:avLst/>
            </a:prstGeom>
            <a:gradFill flip="none" rotWithShape="1">
              <a:gsLst>
                <a:gs pos="48000">
                  <a:srgbClr val="2E0900"/>
                </a:gs>
                <a:gs pos="49000">
                  <a:srgbClr val="433C37"/>
                </a:gs>
              </a:gsLst>
              <a:lin ang="13500000" scaled="1"/>
              <a:tileRect/>
            </a:gra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KoPubWorld돋움체_Pro Medium" panose="00000600000000000000" pitchFamily="50" charset="-127"/>
                </a:rPr>
                <a:t>4</a:t>
              </a:r>
              <a:endParaRPr lang="ko-KR" altLang="en-US" sz="900" dirty="0">
                <a:solidFill>
                  <a:schemeClr val="bg1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endParaRPr>
            </a:p>
          </p:txBody>
        </p:sp>
        <p:sp>
          <p:nvSpPr>
            <p:cNvPr id="70" name="Rounded Rectangle 20"/>
            <p:cNvSpPr/>
            <p:nvPr/>
          </p:nvSpPr>
          <p:spPr>
            <a:xfrm>
              <a:off x="4317169" y="5089996"/>
              <a:ext cx="3026606" cy="1368000"/>
            </a:xfrm>
            <a:prstGeom prst="roundRect">
              <a:avLst/>
            </a:prstGeom>
            <a:solidFill>
              <a:srgbClr val="F0F3F8"/>
            </a:solidFill>
            <a:ln w="25400">
              <a:solidFill>
                <a:srgbClr val="00A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Oval 70"/>
            <p:cNvSpPr/>
            <p:nvPr/>
          </p:nvSpPr>
          <p:spPr>
            <a:xfrm>
              <a:off x="4895017" y="5161996"/>
              <a:ext cx="288000" cy="288000"/>
            </a:xfrm>
            <a:prstGeom prst="ellipse">
              <a:avLst/>
            </a:prstGeom>
            <a:solidFill>
              <a:srgbClr val="00AE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895017" y="5161996"/>
              <a:ext cx="288000" cy="288000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</a:defRPr>
              </a:pPr>
              <a:r>
                <a:rPr dirty="0"/>
                <a:t>4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255017" y="5197995"/>
              <a:ext cx="18411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005BAC"/>
                  </a:solidFill>
                </a:defRPr>
              </a:pPr>
              <a:r>
                <a:rPr dirty="0"/>
                <a:t>Seldon Core </a:t>
              </a:r>
              <a:r>
                <a:rPr dirty="0" err="1"/>
                <a:t>모델</a:t>
              </a:r>
              <a:r>
                <a:rPr dirty="0"/>
                <a:t> </a:t>
              </a:r>
              <a:r>
                <a:rPr dirty="0" err="1"/>
                <a:t>서빙</a:t>
              </a:r>
              <a:endParaRPr dirty="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895017" y="5485996"/>
              <a:ext cx="2415736" cy="854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 err="1"/>
                <a:t>오픈소스</a:t>
              </a:r>
              <a:r>
                <a:rPr dirty="0"/>
                <a:t>: Seldon Core 1.17+ (Seldon)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Istio Service Mesh </a:t>
              </a:r>
              <a:r>
                <a:rPr dirty="0" err="1"/>
                <a:t>통합</a:t>
              </a:r>
              <a:endParaRPr dirty="0"/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A/B </a:t>
              </a:r>
              <a:r>
                <a:rPr dirty="0" err="1"/>
                <a:t>테스트</a:t>
              </a:r>
              <a:r>
                <a:rPr dirty="0"/>
                <a:t>, </a:t>
              </a:r>
              <a:r>
                <a:rPr dirty="0" err="1"/>
                <a:t>카나리</a:t>
              </a:r>
              <a:r>
                <a:rPr dirty="0"/>
                <a:t> </a:t>
              </a:r>
              <a:r>
                <a:rPr dirty="0" err="1"/>
                <a:t>배포</a:t>
              </a:r>
              <a:r>
                <a:rPr dirty="0"/>
                <a:t> </a:t>
              </a:r>
              <a:r>
                <a:rPr dirty="0" err="1"/>
                <a:t>지원</a:t>
              </a:r>
              <a:endParaRPr dirty="0"/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REST/</a:t>
              </a:r>
              <a:r>
                <a:rPr dirty="0" err="1"/>
                <a:t>gRPC</a:t>
              </a:r>
              <a:r>
                <a:rPr dirty="0"/>
                <a:t> </a:t>
              </a:r>
              <a:r>
                <a:rPr dirty="0" err="1"/>
                <a:t>엔드포인트</a:t>
              </a:r>
              <a:r>
                <a:rPr dirty="0"/>
                <a:t> 자동 </a:t>
              </a:r>
              <a:r>
                <a:rPr dirty="0" err="1"/>
                <a:t>생성</a:t>
              </a:r>
              <a:endParaRPr dirty="0"/>
            </a:p>
          </p:txBody>
        </p:sp>
      </p:grpSp>
      <p:pic>
        <p:nvPicPr>
          <p:cNvPr id="1028" name="Picture 4">
            <a:extLst>
              <a:ext uri="{FF2B5EF4-FFF2-40B4-BE49-F238E27FC236}">
                <a16:creationId xmlns:a16="http://schemas.microsoft.com/office/drawing/2014/main" id="{98BE2B5C-08FD-CCE5-38B4-657F5FA8D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425" y="5702768"/>
            <a:ext cx="1647825" cy="51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Kubeflow for data scientists logo">
            <a:extLst>
              <a:ext uri="{FF2B5EF4-FFF2-40B4-BE49-F238E27FC236}">
                <a16:creationId xmlns:a16="http://schemas.microsoft.com/office/drawing/2014/main" id="{4787CE3C-5FBD-B688-F07D-88A2A77A54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12" b="28640"/>
          <a:stretch>
            <a:fillRect/>
          </a:stretch>
        </p:blipFill>
        <p:spPr bwMode="auto">
          <a:xfrm>
            <a:off x="4953000" y="2063176"/>
            <a:ext cx="1874435" cy="484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eldon - Take Control of ML and AI Complexity">
            <a:extLst>
              <a:ext uri="{FF2B5EF4-FFF2-40B4-BE49-F238E27FC236}">
                <a16:creationId xmlns:a16="http://schemas.microsoft.com/office/drawing/2014/main" id="{417E66FD-841D-2C7B-9BFC-16EC6A586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017" y="5734091"/>
            <a:ext cx="2002268" cy="510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Kubernetes">
            <a:extLst>
              <a:ext uri="{FF2B5EF4-FFF2-40B4-BE49-F238E27FC236}">
                <a16:creationId xmlns:a16="http://schemas.microsoft.com/office/drawing/2014/main" id="{410E97E6-EAEF-D5E1-4C55-924599900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017" y="2110968"/>
            <a:ext cx="2007233" cy="43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Picture 79" descr="A blue logo with a black background&#10;&#10;AI-generated content may be incorrect.">
            <a:extLst>
              <a:ext uri="{FF2B5EF4-FFF2-40B4-BE49-F238E27FC236}">
                <a16:creationId xmlns:a16="http://schemas.microsoft.com/office/drawing/2014/main" id="{FAD1177B-21E9-0196-6432-A3FFCDC03D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4312" y="3600519"/>
            <a:ext cx="1220366" cy="1270794"/>
          </a:xfrm>
          <a:prstGeom prst="rect">
            <a:avLst/>
          </a:prstGeom>
        </p:spPr>
      </p:pic>
      <p:grpSp>
        <p:nvGrpSpPr>
          <p:cNvPr id="84" name="그룹 151">
            <a:extLst>
              <a:ext uri="{FF2B5EF4-FFF2-40B4-BE49-F238E27FC236}">
                <a16:creationId xmlns:a16="http://schemas.microsoft.com/office/drawing/2014/main" id="{E94EE922-7AFD-B6D3-53E5-BD698EDF4208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85" name="모서리가 둥근 직사각형 20">
              <a:extLst>
                <a:ext uri="{FF2B5EF4-FFF2-40B4-BE49-F238E27FC236}">
                  <a16:creationId xmlns:a16="http://schemas.microsoft.com/office/drawing/2014/main" id="{5AC40E45-9B0B-B7C5-F792-5225AD746DDB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6" name="직사각형 153">
              <a:extLst>
                <a:ext uri="{FF2B5EF4-FFF2-40B4-BE49-F238E27FC236}">
                  <a16:creationId xmlns:a16="http://schemas.microsoft.com/office/drawing/2014/main" id="{1C26243C-0D41-B787-9DC3-E49541413E4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AAR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-001</a:t>
              </a:r>
            </a:p>
          </p:txBody>
        </p:sp>
        <p:sp>
          <p:nvSpPr>
            <p:cNvPr id="87" name="직사각형 154">
              <a:extLst>
                <a:ext uri="{FF2B5EF4-FFF2-40B4-BE49-F238E27FC236}">
                  <a16:creationId xmlns:a16="http://schemas.microsoft.com/office/drawing/2014/main" id="{C7EF2103-DD9C-4C1F-27F8-AFE988192C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88" name="직선 연결선 155">
              <a:extLst>
                <a:ext uri="{FF2B5EF4-FFF2-40B4-BE49-F238E27FC236}">
                  <a16:creationId xmlns:a16="http://schemas.microsoft.com/office/drawing/2014/main" id="{64C2DD7E-F468-D423-62D4-0132238B3F6A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6751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CB067-80C9-B2FB-E7B4-2B43C6BC7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D0F15A3-7537-2C72-A891-1A25520A69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8.1 AI </a:t>
            </a:r>
            <a:r>
              <a:rPr lang="ko-KR" altLang="en-US" dirty="0"/>
              <a:t>활용을 위한 설계 </a:t>
            </a:r>
            <a:r>
              <a:rPr lang="en-US" altLang="ko-KR" dirty="0"/>
              <a:t>(4/5)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53B5FB89-92F4-EAB3-F646-E38BFB83617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8. AI </a:t>
            </a:r>
            <a:r>
              <a:rPr lang="ko-KR" altLang="en-US" dirty="0"/>
              <a:t>적용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8F60B3E0-4613-18AF-E5C6-F136C760703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Neo4j + SNOMED-CT/ICD-10</a:t>
            </a:r>
            <a:r>
              <a:rPr lang="ko-KR" altLang="en-US" dirty="0"/>
              <a:t>으로 의료 지식그래프 구축 → </a:t>
            </a:r>
            <a:r>
              <a:rPr lang="en-US" altLang="ko-KR" dirty="0" err="1"/>
              <a:t>BioBERT</a:t>
            </a:r>
            <a:r>
              <a:rPr lang="en-US" altLang="ko-KR" dirty="0"/>
              <a:t> </a:t>
            </a:r>
            <a:r>
              <a:rPr lang="ko-KR" altLang="en-US" dirty="0"/>
              <a:t>임베딩 → </a:t>
            </a:r>
            <a:r>
              <a:rPr lang="en-US" altLang="ko-KR" dirty="0" err="1"/>
              <a:t>GraphQL</a:t>
            </a:r>
            <a:r>
              <a:rPr lang="en-US" altLang="ko-KR" dirty="0"/>
              <a:t> API</a:t>
            </a:r>
            <a:r>
              <a:rPr lang="ko-KR" altLang="en-US" dirty="0"/>
              <a:t>로 실시간 검색을 진행하고</a:t>
            </a:r>
            <a:r>
              <a:rPr lang="en-US" altLang="ko-KR" dirty="0"/>
              <a:t>, </a:t>
            </a:r>
            <a:r>
              <a:rPr lang="ko-KR" altLang="en-US" dirty="0"/>
              <a:t>환자</a:t>
            </a:r>
            <a:r>
              <a:rPr lang="en-US" altLang="ko-KR" dirty="0"/>
              <a:t>-</a:t>
            </a:r>
            <a:r>
              <a:rPr lang="ko-KR" altLang="en-US" dirty="0"/>
              <a:t>질병</a:t>
            </a:r>
            <a:r>
              <a:rPr lang="en-US" altLang="ko-KR" dirty="0"/>
              <a:t>-</a:t>
            </a:r>
            <a:r>
              <a:rPr lang="ko-KR" altLang="en-US" dirty="0"/>
              <a:t>치료</a:t>
            </a:r>
            <a:r>
              <a:rPr lang="en-US" altLang="ko-KR" dirty="0"/>
              <a:t>-</a:t>
            </a:r>
            <a:r>
              <a:rPr lang="ko-KR" altLang="en-US" dirty="0"/>
              <a:t>약물</a:t>
            </a:r>
            <a:r>
              <a:rPr lang="en-US" altLang="ko-KR" dirty="0"/>
              <a:t>-</a:t>
            </a:r>
            <a:r>
              <a:rPr lang="ko-KR" altLang="en-US" dirty="0"/>
              <a:t>증상 관계를 </a:t>
            </a:r>
            <a:r>
              <a:rPr lang="en-US" altLang="ko-KR" dirty="0"/>
              <a:t>Cypher </a:t>
            </a:r>
            <a:r>
              <a:rPr lang="ko-KR" altLang="en-US" dirty="0"/>
              <a:t>쿼리로 탐색하여 임상 의사결정을 지원하겠습니다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07CECC05-9178-E7A5-5F44-281C86A8A6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지식그래프 기반 </a:t>
            </a:r>
            <a:r>
              <a:rPr lang="ko-KR" altLang="en-US" dirty="0" err="1"/>
              <a:t>시맨틱</a:t>
            </a:r>
            <a:r>
              <a:rPr lang="ko-KR" altLang="en-US" dirty="0"/>
              <a:t> 검색 아키텍처</a:t>
            </a:r>
          </a:p>
        </p:txBody>
      </p:sp>
      <p:grpSp>
        <p:nvGrpSpPr>
          <p:cNvPr id="80" name="그룹 151">
            <a:extLst>
              <a:ext uri="{FF2B5EF4-FFF2-40B4-BE49-F238E27FC236}">
                <a16:creationId xmlns:a16="http://schemas.microsoft.com/office/drawing/2014/main" id="{C2911D9A-01D6-982F-BF06-9A8F1E1C24EF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81" name="모서리가 둥근 직사각형 20">
              <a:extLst>
                <a:ext uri="{FF2B5EF4-FFF2-40B4-BE49-F238E27FC236}">
                  <a16:creationId xmlns:a16="http://schemas.microsoft.com/office/drawing/2014/main" id="{A430AA66-C50C-59D0-0977-1415FD45D594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82" name="직사각형 153">
              <a:extLst>
                <a:ext uri="{FF2B5EF4-FFF2-40B4-BE49-F238E27FC236}">
                  <a16:creationId xmlns:a16="http://schemas.microsoft.com/office/drawing/2014/main" id="{76BBB014-A119-3D2C-7F57-B40EEEE279A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AAR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-001</a:t>
              </a:r>
            </a:p>
          </p:txBody>
        </p:sp>
        <p:sp>
          <p:nvSpPr>
            <p:cNvPr id="83" name="직사각형 154">
              <a:extLst>
                <a:ext uri="{FF2B5EF4-FFF2-40B4-BE49-F238E27FC236}">
                  <a16:creationId xmlns:a16="http://schemas.microsoft.com/office/drawing/2014/main" id="{94A97C42-9538-0A68-5DAA-CF6C700B755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84" name="직선 연결선 155">
              <a:extLst>
                <a:ext uri="{FF2B5EF4-FFF2-40B4-BE49-F238E27FC236}">
                  <a16:creationId xmlns:a16="http://schemas.microsoft.com/office/drawing/2014/main" id="{C311E68E-C905-52D7-82F9-06E00CA2167C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Rounded Rectangle 6">
            <a:extLst>
              <a:ext uri="{FF2B5EF4-FFF2-40B4-BE49-F238E27FC236}">
                <a16:creationId xmlns:a16="http://schemas.microsoft.com/office/drawing/2014/main" id="{BB4075F3-540C-652C-A148-1B0401872674}"/>
              </a:ext>
            </a:extLst>
          </p:cNvPr>
          <p:cNvSpPr/>
          <p:nvPr/>
        </p:nvSpPr>
        <p:spPr>
          <a:xfrm>
            <a:off x="520452" y="2358058"/>
            <a:ext cx="1980000" cy="900000"/>
          </a:xfrm>
          <a:prstGeom prst="roundRect">
            <a:avLst/>
          </a:prstGeom>
          <a:solidFill>
            <a:srgbClr val="E6FAF5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4B835679-AA85-AB0C-1C67-57465C051E31}"/>
              </a:ext>
            </a:extLst>
          </p:cNvPr>
          <p:cNvSpPr/>
          <p:nvPr/>
        </p:nvSpPr>
        <p:spPr>
          <a:xfrm>
            <a:off x="628451" y="2397050"/>
            <a:ext cx="251999" cy="251999"/>
          </a:xfrm>
          <a:prstGeom prst="ellipse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ABDB730-62DF-3387-59E7-2169B35CB8C0}"/>
              </a:ext>
            </a:extLst>
          </p:cNvPr>
          <p:cNvSpPr txBox="1"/>
          <p:nvPr/>
        </p:nvSpPr>
        <p:spPr>
          <a:xfrm>
            <a:off x="628451" y="2397050"/>
            <a:ext cx="251999" cy="251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4BEEB50-AB82-CDFA-9B29-4AEB77FD3428}"/>
              </a:ext>
            </a:extLst>
          </p:cNvPr>
          <p:cNvSpPr txBox="1"/>
          <p:nvPr/>
        </p:nvSpPr>
        <p:spPr>
          <a:xfrm>
            <a:off x="916452" y="2415050"/>
            <a:ext cx="1475999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5BAC"/>
                </a:solidFill>
              </a:defRPr>
            </a:pPr>
            <a:r>
              <a:t>Neo4j 5.14+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41BB15F-428C-DED3-8C7C-1C516420AE6F}"/>
              </a:ext>
            </a:extLst>
          </p:cNvPr>
          <p:cNvSpPr txBox="1"/>
          <p:nvPr/>
        </p:nvSpPr>
        <p:spPr>
          <a:xfrm>
            <a:off x="628451" y="2728180"/>
            <a:ext cx="1764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333333"/>
                </a:solidFill>
              </a:defRPr>
            </a:pPr>
            <a:r>
              <a:rPr dirty="0"/>
              <a:t>• Docker Compose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333333"/>
                </a:solidFill>
              </a:defRPr>
            </a:pPr>
            <a:r>
              <a:rPr dirty="0"/>
              <a:t>• Causal Clustering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333333"/>
                </a:solidFill>
              </a:defRPr>
            </a:pPr>
            <a:r>
              <a:rPr dirty="0"/>
              <a:t>• APOC </a:t>
            </a:r>
            <a:r>
              <a:rPr dirty="0" err="1"/>
              <a:t>플러그인</a:t>
            </a:r>
            <a:endParaRPr dirty="0"/>
          </a:p>
          <a:p>
            <a:pPr algn="l">
              <a:spcAft>
                <a:spcPts val="200"/>
              </a:spcAft>
              <a:defRPr sz="850" b="0">
                <a:solidFill>
                  <a:srgbClr val="333333"/>
                </a:solidFill>
              </a:defRPr>
            </a:pPr>
            <a:r>
              <a:rPr dirty="0"/>
              <a:t>• GDS </a:t>
            </a:r>
            <a:r>
              <a:rPr dirty="0" err="1"/>
              <a:t>라이브러리</a:t>
            </a:r>
            <a:endParaRPr dirty="0"/>
          </a:p>
        </p:txBody>
      </p:sp>
      <p:sp>
        <p:nvSpPr>
          <p:cNvPr id="91" name="Rounded Rectangle 11">
            <a:extLst>
              <a:ext uri="{FF2B5EF4-FFF2-40B4-BE49-F238E27FC236}">
                <a16:creationId xmlns:a16="http://schemas.microsoft.com/office/drawing/2014/main" id="{B47A9BDF-5EC3-6578-2716-69D629007F89}"/>
              </a:ext>
            </a:extLst>
          </p:cNvPr>
          <p:cNvSpPr/>
          <p:nvPr/>
        </p:nvSpPr>
        <p:spPr>
          <a:xfrm>
            <a:off x="2608452" y="2358058"/>
            <a:ext cx="1980000" cy="900000"/>
          </a:xfrm>
          <a:prstGeom prst="roundRect">
            <a:avLst/>
          </a:prstGeom>
          <a:solidFill>
            <a:srgbClr val="F0F5FF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657B675-7154-876D-A783-5F9D7F06E813}"/>
              </a:ext>
            </a:extLst>
          </p:cNvPr>
          <p:cNvSpPr/>
          <p:nvPr/>
        </p:nvSpPr>
        <p:spPr>
          <a:xfrm>
            <a:off x="2716452" y="2397050"/>
            <a:ext cx="251999" cy="251999"/>
          </a:xfrm>
          <a:prstGeom prst="ellipse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0259F52-E899-F706-6902-F9ED8ABA1B2F}"/>
              </a:ext>
            </a:extLst>
          </p:cNvPr>
          <p:cNvSpPr txBox="1"/>
          <p:nvPr/>
        </p:nvSpPr>
        <p:spPr>
          <a:xfrm>
            <a:off x="2716452" y="2397050"/>
            <a:ext cx="251999" cy="251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4031AFC-5B5C-A4C3-0382-3A486FE714A9}"/>
              </a:ext>
            </a:extLst>
          </p:cNvPr>
          <p:cNvSpPr txBox="1"/>
          <p:nvPr/>
        </p:nvSpPr>
        <p:spPr>
          <a:xfrm>
            <a:off x="3004452" y="2415050"/>
            <a:ext cx="1475999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5BAC"/>
                </a:solidFill>
              </a:defRPr>
            </a:pPr>
            <a:r>
              <a:t>의료 표준 온톨로지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CD79D3D-D5C2-D4D8-4303-06263919E4A1}"/>
              </a:ext>
            </a:extLst>
          </p:cNvPr>
          <p:cNvSpPr txBox="1"/>
          <p:nvPr/>
        </p:nvSpPr>
        <p:spPr>
          <a:xfrm>
            <a:off x="2716452" y="2728180"/>
            <a:ext cx="1764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333333"/>
                </a:solidFill>
              </a:defRPr>
            </a:pPr>
            <a:r>
              <a:rPr dirty="0"/>
              <a:t>• SNOMED-CT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333333"/>
                </a:solidFill>
              </a:defRPr>
            </a:pPr>
            <a:r>
              <a:rPr dirty="0"/>
              <a:t>• ICD-10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333333"/>
                </a:solidFill>
              </a:defRPr>
            </a:pPr>
            <a:r>
              <a:rPr dirty="0"/>
              <a:t>• UMLS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RxNorm</a:t>
            </a:r>
            <a:endParaRPr dirty="0"/>
          </a:p>
        </p:txBody>
      </p:sp>
      <p:sp>
        <p:nvSpPr>
          <p:cNvPr id="96" name="Rounded Rectangle 16">
            <a:extLst>
              <a:ext uri="{FF2B5EF4-FFF2-40B4-BE49-F238E27FC236}">
                <a16:creationId xmlns:a16="http://schemas.microsoft.com/office/drawing/2014/main" id="{A53C0E9B-D099-9167-31DF-EBF4A39EEA74}"/>
              </a:ext>
            </a:extLst>
          </p:cNvPr>
          <p:cNvSpPr/>
          <p:nvPr/>
        </p:nvSpPr>
        <p:spPr>
          <a:xfrm>
            <a:off x="4696452" y="2358058"/>
            <a:ext cx="1980000" cy="900000"/>
          </a:xfrm>
          <a:prstGeom prst="roundRect">
            <a:avLst/>
          </a:prstGeom>
          <a:solidFill>
            <a:srgbClr val="FFF5EB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4ABFDF67-CFBF-2F10-E529-1FE3ED75B400}"/>
              </a:ext>
            </a:extLst>
          </p:cNvPr>
          <p:cNvSpPr/>
          <p:nvPr/>
        </p:nvSpPr>
        <p:spPr>
          <a:xfrm>
            <a:off x="4804452" y="2397050"/>
            <a:ext cx="251999" cy="251999"/>
          </a:xfrm>
          <a:prstGeom prst="ellipse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36474E9-9309-29BB-CEA5-5ED9DDB356CA}"/>
              </a:ext>
            </a:extLst>
          </p:cNvPr>
          <p:cNvSpPr txBox="1"/>
          <p:nvPr/>
        </p:nvSpPr>
        <p:spPr>
          <a:xfrm>
            <a:off x="4804452" y="2397050"/>
            <a:ext cx="251999" cy="251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BDE8854-672D-31DB-5CFF-65EB7C177473}"/>
              </a:ext>
            </a:extLst>
          </p:cNvPr>
          <p:cNvSpPr txBox="1"/>
          <p:nvPr/>
        </p:nvSpPr>
        <p:spPr>
          <a:xfrm>
            <a:off x="5092452" y="2415050"/>
            <a:ext cx="1475999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5BAC"/>
                </a:solidFill>
              </a:defRPr>
            </a:pPr>
            <a:r>
              <a:t>BioBERT 임베딩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6D13F98-4DFD-39D8-2FBD-6117B34EC79F}"/>
              </a:ext>
            </a:extLst>
          </p:cNvPr>
          <p:cNvSpPr txBox="1"/>
          <p:nvPr/>
        </p:nvSpPr>
        <p:spPr>
          <a:xfrm>
            <a:off x="4804452" y="2728180"/>
            <a:ext cx="1764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333333"/>
                </a:solidFill>
              </a:defRPr>
            </a:pPr>
            <a:r>
              <a:t>• Hugging Face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333333"/>
                </a:solidFill>
              </a:defRPr>
            </a:pPr>
            <a:r>
              <a:t>• 10,000개 학습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333333"/>
                </a:solidFill>
              </a:defRPr>
            </a:pPr>
            <a:r>
              <a:t>• Chroma DB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333333"/>
                </a:solidFill>
              </a:defRPr>
            </a:pPr>
            <a:r>
              <a:t>• 유사도 기반 검색</a:t>
            </a:r>
          </a:p>
        </p:txBody>
      </p:sp>
      <p:sp>
        <p:nvSpPr>
          <p:cNvPr id="101" name="Rounded Rectangle 21">
            <a:extLst>
              <a:ext uri="{FF2B5EF4-FFF2-40B4-BE49-F238E27FC236}">
                <a16:creationId xmlns:a16="http://schemas.microsoft.com/office/drawing/2014/main" id="{DF82F4A7-1894-5790-67B0-7BBBAA75F4A8}"/>
              </a:ext>
            </a:extLst>
          </p:cNvPr>
          <p:cNvSpPr/>
          <p:nvPr/>
        </p:nvSpPr>
        <p:spPr>
          <a:xfrm>
            <a:off x="6784451" y="2358058"/>
            <a:ext cx="1980000" cy="900000"/>
          </a:xfrm>
          <a:prstGeom prst="roundRect">
            <a:avLst/>
          </a:prstGeom>
          <a:solidFill>
            <a:srgbClr val="F5F0FF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78C837F6-4FFC-4A48-7868-9974ED85A2F9}"/>
              </a:ext>
            </a:extLst>
          </p:cNvPr>
          <p:cNvSpPr/>
          <p:nvPr/>
        </p:nvSpPr>
        <p:spPr>
          <a:xfrm>
            <a:off x="6892452" y="2397050"/>
            <a:ext cx="251999" cy="251999"/>
          </a:xfrm>
          <a:prstGeom prst="ellipse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22FC321-0982-A52D-E9B4-C053984D0787}"/>
              </a:ext>
            </a:extLst>
          </p:cNvPr>
          <p:cNvSpPr txBox="1"/>
          <p:nvPr/>
        </p:nvSpPr>
        <p:spPr>
          <a:xfrm>
            <a:off x="6892452" y="2397050"/>
            <a:ext cx="251999" cy="25199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18F6680-A100-7573-1A33-5170DE34C5DC}"/>
              </a:ext>
            </a:extLst>
          </p:cNvPr>
          <p:cNvSpPr txBox="1"/>
          <p:nvPr/>
        </p:nvSpPr>
        <p:spPr>
          <a:xfrm>
            <a:off x="7180452" y="2415050"/>
            <a:ext cx="1475999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005BAC"/>
                </a:solidFill>
              </a:defRPr>
            </a:pPr>
            <a:r>
              <a:t>GraphQL API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862E6D9-C4E9-0E55-A572-A7F7920BD298}"/>
              </a:ext>
            </a:extLst>
          </p:cNvPr>
          <p:cNvSpPr txBox="1"/>
          <p:nvPr/>
        </p:nvSpPr>
        <p:spPr>
          <a:xfrm>
            <a:off x="6892452" y="2728180"/>
            <a:ext cx="1764000" cy="43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333333"/>
                </a:solidFill>
              </a:defRPr>
            </a:pPr>
            <a:r>
              <a:t>• Apollo Server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333333"/>
                </a:solidFill>
              </a:defRPr>
            </a:pPr>
            <a:r>
              <a:t>• Neo4j Driver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333333"/>
                </a:solidFill>
              </a:defRPr>
            </a:pPr>
            <a:r>
              <a:t>• SPARQL 연계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333333"/>
                </a:solidFill>
              </a:defRPr>
            </a:pPr>
            <a:r>
              <a:t>• RESTful API</a:t>
            </a:r>
          </a:p>
        </p:txBody>
      </p:sp>
      <p:sp>
        <p:nvSpPr>
          <p:cNvPr id="106" name="Right Arrow 26">
            <a:extLst>
              <a:ext uri="{FF2B5EF4-FFF2-40B4-BE49-F238E27FC236}">
                <a16:creationId xmlns:a16="http://schemas.microsoft.com/office/drawing/2014/main" id="{85EB2826-4CE6-C608-DFC4-5A41FE7B03DB}"/>
              </a:ext>
            </a:extLst>
          </p:cNvPr>
          <p:cNvSpPr/>
          <p:nvPr/>
        </p:nvSpPr>
        <p:spPr>
          <a:xfrm>
            <a:off x="2536452" y="2790058"/>
            <a:ext cx="251999" cy="144000"/>
          </a:xfrm>
          <a:prstGeom prst="right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ight Arrow 27">
            <a:extLst>
              <a:ext uri="{FF2B5EF4-FFF2-40B4-BE49-F238E27FC236}">
                <a16:creationId xmlns:a16="http://schemas.microsoft.com/office/drawing/2014/main" id="{2CDFC61E-29F2-6697-6D0B-A5E531C81BB2}"/>
              </a:ext>
            </a:extLst>
          </p:cNvPr>
          <p:cNvSpPr/>
          <p:nvPr/>
        </p:nvSpPr>
        <p:spPr>
          <a:xfrm>
            <a:off x="4624451" y="2790058"/>
            <a:ext cx="251999" cy="144000"/>
          </a:xfrm>
          <a:prstGeom prst="right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ight Arrow 28">
            <a:extLst>
              <a:ext uri="{FF2B5EF4-FFF2-40B4-BE49-F238E27FC236}">
                <a16:creationId xmlns:a16="http://schemas.microsoft.com/office/drawing/2014/main" id="{B4B9B778-79F4-2E2C-BFCF-11D0EFE929AF}"/>
              </a:ext>
            </a:extLst>
          </p:cNvPr>
          <p:cNvSpPr/>
          <p:nvPr/>
        </p:nvSpPr>
        <p:spPr>
          <a:xfrm>
            <a:off x="6712452" y="2790058"/>
            <a:ext cx="251999" cy="144000"/>
          </a:xfrm>
          <a:prstGeom prst="right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ounded Rectangle 29">
            <a:extLst>
              <a:ext uri="{FF2B5EF4-FFF2-40B4-BE49-F238E27FC236}">
                <a16:creationId xmlns:a16="http://schemas.microsoft.com/office/drawing/2014/main" id="{08FE21C6-D8CD-BC0B-52E8-9AC3FEE2113F}"/>
              </a:ext>
            </a:extLst>
          </p:cNvPr>
          <p:cNvSpPr/>
          <p:nvPr/>
        </p:nvSpPr>
        <p:spPr>
          <a:xfrm>
            <a:off x="520452" y="3402058"/>
            <a:ext cx="5220000" cy="3060000"/>
          </a:xfrm>
          <a:prstGeom prst="roundRect">
            <a:avLst/>
          </a:prstGeom>
          <a:solidFill>
            <a:srgbClr val="FAFCFF"/>
          </a:solidFill>
          <a:ln w="25400">
            <a:solidFill>
              <a:srgbClr val="008C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1BF85A2-F652-6D91-CD36-EE2CA3800465}"/>
              </a:ext>
            </a:extLst>
          </p:cNvPr>
          <p:cNvSpPr txBox="1"/>
          <p:nvPr/>
        </p:nvSpPr>
        <p:spPr>
          <a:xfrm>
            <a:off x="592452" y="3474058"/>
            <a:ext cx="5076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08C73"/>
                </a:solidFill>
              </a:defRPr>
            </a:pPr>
            <a:r>
              <a:rPr dirty="0"/>
              <a:t>Neo4j </a:t>
            </a:r>
            <a:r>
              <a:rPr dirty="0" err="1"/>
              <a:t>그래프</a:t>
            </a:r>
            <a:r>
              <a:rPr dirty="0"/>
              <a:t> </a:t>
            </a:r>
            <a:r>
              <a:rPr dirty="0" err="1"/>
              <a:t>구조</a:t>
            </a:r>
            <a:endParaRPr dirty="0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00EE46CF-8182-C0BD-EDA0-2A3980BA6BDD}"/>
              </a:ext>
            </a:extLst>
          </p:cNvPr>
          <p:cNvSpPr/>
          <p:nvPr/>
        </p:nvSpPr>
        <p:spPr>
          <a:xfrm>
            <a:off x="1420452" y="3942058"/>
            <a:ext cx="792000" cy="79200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44C3A83-3291-B0DF-056E-39C90DC8D151}"/>
              </a:ext>
            </a:extLst>
          </p:cNvPr>
          <p:cNvSpPr txBox="1"/>
          <p:nvPr/>
        </p:nvSpPr>
        <p:spPr>
          <a:xfrm>
            <a:off x="1456451" y="4138002"/>
            <a:ext cx="720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rPr dirty="0" err="1"/>
              <a:t>환자</a:t>
            </a:r>
            <a:endParaRPr dirty="0"/>
          </a:p>
          <a:p>
            <a:r>
              <a:rPr sz="1200" dirty="0"/>
              <a:t>Patient</a:t>
            </a:r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B31927FA-68CE-F385-42B6-2C6B22B1B861}"/>
              </a:ext>
            </a:extLst>
          </p:cNvPr>
          <p:cNvSpPr/>
          <p:nvPr/>
        </p:nvSpPr>
        <p:spPr>
          <a:xfrm>
            <a:off x="3580452" y="3942058"/>
            <a:ext cx="792000" cy="792000"/>
          </a:xfrm>
          <a:prstGeom prst="ellipse">
            <a:avLst/>
          </a:prstGeom>
          <a:solidFill>
            <a:srgbClr val="E74C3C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0369B26-7BAC-9141-353B-206F82D7128A}"/>
              </a:ext>
            </a:extLst>
          </p:cNvPr>
          <p:cNvSpPr txBox="1"/>
          <p:nvPr/>
        </p:nvSpPr>
        <p:spPr>
          <a:xfrm>
            <a:off x="3616452" y="4138002"/>
            <a:ext cx="828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rPr dirty="0" err="1"/>
              <a:t>질병</a:t>
            </a:r>
            <a:endParaRPr dirty="0"/>
          </a:p>
          <a:p>
            <a:r>
              <a:rPr sz="1200" dirty="0"/>
              <a:t>Disease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5683F327-2E97-8E66-3483-A58AE5A33B16}"/>
              </a:ext>
            </a:extLst>
          </p:cNvPr>
          <p:cNvSpPr/>
          <p:nvPr/>
        </p:nvSpPr>
        <p:spPr>
          <a:xfrm>
            <a:off x="2500452" y="4806058"/>
            <a:ext cx="792000" cy="792000"/>
          </a:xfrm>
          <a:prstGeom prst="ellipse">
            <a:avLst/>
          </a:prstGeom>
          <a:solidFill>
            <a:srgbClr val="52C41A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46E860E-3E12-F0B1-DD50-5732F1D2F85F}"/>
              </a:ext>
            </a:extLst>
          </p:cNvPr>
          <p:cNvSpPr txBox="1"/>
          <p:nvPr/>
        </p:nvSpPr>
        <p:spPr>
          <a:xfrm>
            <a:off x="2428453" y="5002002"/>
            <a:ext cx="100486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rPr dirty="0"/>
              <a:t>치료</a:t>
            </a:r>
          </a:p>
          <a:p>
            <a:r>
              <a:rPr sz="1200" dirty="0"/>
              <a:t>Treatment</a:t>
            </a:r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5A1CA868-724B-3F42-D0F8-D93C032DC032}"/>
              </a:ext>
            </a:extLst>
          </p:cNvPr>
          <p:cNvSpPr/>
          <p:nvPr/>
        </p:nvSpPr>
        <p:spPr>
          <a:xfrm>
            <a:off x="1420452" y="5634058"/>
            <a:ext cx="648000" cy="648000"/>
          </a:xfrm>
          <a:prstGeom prst="ellipse">
            <a:avLst/>
          </a:prstGeom>
          <a:solidFill>
            <a:srgbClr val="FAAD14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1CFEAB1-DB3E-FD03-B77C-AD0402679C9F}"/>
              </a:ext>
            </a:extLst>
          </p:cNvPr>
          <p:cNvSpPr txBox="1"/>
          <p:nvPr/>
        </p:nvSpPr>
        <p:spPr>
          <a:xfrm>
            <a:off x="1456451" y="5758003"/>
            <a:ext cx="576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rPr dirty="0" err="1"/>
              <a:t>약물</a:t>
            </a:r>
            <a:endParaRPr dirty="0"/>
          </a:p>
          <a:p>
            <a:r>
              <a:rPr sz="1200" dirty="0"/>
              <a:t>Drug</a:t>
            </a:r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174C8750-2B39-3972-46F2-975C22D4A991}"/>
              </a:ext>
            </a:extLst>
          </p:cNvPr>
          <p:cNvSpPr/>
          <p:nvPr/>
        </p:nvSpPr>
        <p:spPr>
          <a:xfrm>
            <a:off x="3580452" y="5634058"/>
            <a:ext cx="648000" cy="648000"/>
          </a:xfrm>
          <a:prstGeom prst="ellipse">
            <a:avLst/>
          </a:prstGeom>
          <a:solidFill>
            <a:srgbClr val="722ED1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8FA6D18-0BE5-555C-A835-DB0F5EA357D4}"/>
              </a:ext>
            </a:extLst>
          </p:cNvPr>
          <p:cNvSpPr txBox="1"/>
          <p:nvPr/>
        </p:nvSpPr>
        <p:spPr>
          <a:xfrm>
            <a:off x="3616452" y="5650282"/>
            <a:ext cx="576000" cy="61555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rPr sz="1000" dirty="0" err="1"/>
              <a:t>증상</a:t>
            </a:r>
            <a:endParaRPr sz="1000" dirty="0"/>
          </a:p>
          <a:p>
            <a:r>
              <a:rPr sz="1200" dirty="0"/>
              <a:t>Symptom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AB00C7A-45D0-DDF0-FCE5-6038ADDA36D0}"/>
              </a:ext>
            </a:extLst>
          </p:cNvPr>
          <p:cNvSpPr txBox="1"/>
          <p:nvPr/>
        </p:nvSpPr>
        <p:spPr>
          <a:xfrm>
            <a:off x="4444452" y="3813653"/>
            <a:ext cx="1224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333333"/>
                </a:solidFill>
              </a:defRPr>
            </a:pPr>
            <a:r>
              <a:rPr sz="1000" dirty="0" err="1"/>
              <a:t>환자-질병</a:t>
            </a:r>
            <a:r>
              <a:rPr sz="1000" dirty="0"/>
              <a:t>: HAS_CONDITION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0850565-D8E1-668F-D18F-DDC26E7FF830}"/>
              </a:ext>
            </a:extLst>
          </p:cNvPr>
          <p:cNvSpPr txBox="1"/>
          <p:nvPr/>
        </p:nvSpPr>
        <p:spPr>
          <a:xfrm>
            <a:off x="4444452" y="4106213"/>
            <a:ext cx="1224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333333"/>
                </a:solidFill>
              </a:defRPr>
            </a:pPr>
            <a:r>
              <a:rPr sz="1000" dirty="0" err="1"/>
              <a:t>질병</a:t>
            </a:r>
            <a:r>
              <a:rPr sz="1000" dirty="0"/>
              <a:t>-치료: TREATED_BY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2A5A0F8-97BB-E811-2A55-803B60F372AF}"/>
              </a:ext>
            </a:extLst>
          </p:cNvPr>
          <p:cNvSpPr txBox="1"/>
          <p:nvPr/>
        </p:nvSpPr>
        <p:spPr>
          <a:xfrm>
            <a:off x="4444452" y="4398773"/>
            <a:ext cx="1224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333333"/>
                </a:solidFill>
              </a:defRPr>
            </a:pPr>
            <a:r>
              <a:rPr sz="1000"/>
              <a:t>치료-약물: USES_DRUG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CB84C8AD-73B0-BF51-D035-2BD5794E5A1C}"/>
              </a:ext>
            </a:extLst>
          </p:cNvPr>
          <p:cNvSpPr txBox="1"/>
          <p:nvPr/>
        </p:nvSpPr>
        <p:spPr>
          <a:xfrm>
            <a:off x="4444452" y="4691332"/>
            <a:ext cx="1224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750" b="0">
                <a:solidFill>
                  <a:srgbClr val="333333"/>
                </a:solidFill>
              </a:defRPr>
            </a:pPr>
            <a:r>
              <a:rPr sz="1000" dirty="0" err="1"/>
              <a:t>질병-증상</a:t>
            </a:r>
            <a:r>
              <a:rPr sz="1000" dirty="0"/>
              <a:t>: HAS_SYMPTOM</a:t>
            </a:r>
          </a:p>
        </p:txBody>
      </p:sp>
      <p:sp>
        <p:nvSpPr>
          <p:cNvPr id="125" name="Rounded Rectangle 45">
            <a:extLst>
              <a:ext uri="{FF2B5EF4-FFF2-40B4-BE49-F238E27FC236}">
                <a16:creationId xmlns:a16="http://schemas.microsoft.com/office/drawing/2014/main" id="{6D947717-ABB7-F66D-750A-36D93A00A965}"/>
              </a:ext>
            </a:extLst>
          </p:cNvPr>
          <p:cNvSpPr/>
          <p:nvPr/>
        </p:nvSpPr>
        <p:spPr>
          <a:xfrm>
            <a:off x="5920452" y="3402058"/>
            <a:ext cx="3491999" cy="3060000"/>
          </a:xfrm>
          <a:prstGeom prst="roundRect">
            <a:avLst/>
          </a:prstGeom>
          <a:solidFill>
            <a:srgbClr val="FFFAF5"/>
          </a:solidFill>
          <a:ln w="25400">
            <a:solidFill>
              <a:srgbClr val="FAA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C7CA81E-E671-CDE9-54C6-A40064709609}"/>
              </a:ext>
            </a:extLst>
          </p:cNvPr>
          <p:cNvSpPr txBox="1"/>
          <p:nvPr/>
        </p:nvSpPr>
        <p:spPr>
          <a:xfrm>
            <a:off x="6136450" y="3451253"/>
            <a:ext cx="3204001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AAD14"/>
                </a:solidFill>
              </a:defRPr>
            </a:pPr>
            <a:r>
              <a:rPr sz="1100" dirty="0"/>
              <a:t>Cypher </a:t>
            </a:r>
            <a:r>
              <a:rPr sz="1100" dirty="0" err="1"/>
              <a:t>쿼리</a:t>
            </a:r>
            <a:r>
              <a:rPr sz="1100" dirty="0"/>
              <a:t> </a:t>
            </a:r>
            <a:r>
              <a:rPr sz="1100" dirty="0" err="1"/>
              <a:t>활용</a:t>
            </a:r>
            <a:r>
              <a:rPr sz="1100" dirty="0"/>
              <a:t> 사례</a:t>
            </a:r>
          </a:p>
        </p:txBody>
      </p:sp>
      <p:sp>
        <p:nvSpPr>
          <p:cNvPr id="127" name="Rounded Rectangle 47">
            <a:extLst>
              <a:ext uri="{FF2B5EF4-FFF2-40B4-BE49-F238E27FC236}">
                <a16:creationId xmlns:a16="http://schemas.microsoft.com/office/drawing/2014/main" id="{44E34055-7C7E-57DA-641F-5821EAB3A167}"/>
              </a:ext>
            </a:extLst>
          </p:cNvPr>
          <p:cNvSpPr/>
          <p:nvPr/>
        </p:nvSpPr>
        <p:spPr>
          <a:xfrm>
            <a:off x="6064451" y="3798058"/>
            <a:ext cx="3204000" cy="720000"/>
          </a:xfrm>
          <a:prstGeom prst="roundRect">
            <a:avLst/>
          </a:prstGeom>
          <a:solidFill>
            <a:srgbClr val="E6F5FF"/>
          </a:solidFill>
          <a:ln w="127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C23802EC-DC36-729E-2CCA-1CD0F3F23C47}"/>
              </a:ext>
            </a:extLst>
          </p:cNvPr>
          <p:cNvSpPr txBox="1"/>
          <p:nvPr/>
        </p:nvSpPr>
        <p:spPr>
          <a:xfrm>
            <a:off x="6136452" y="3870058"/>
            <a:ext cx="306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005BAC"/>
                </a:solidFill>
              </a:defRPr>
            </a:pPr>
            <a:r>
              <a:t>① 환자 노드 생성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4F73EEE-ABC3-2A94-BAD0-9F53200A28E2}"/>
              </a:ext>
            </a:extLst>
          </p:cNvPr>
          <p:cNvSpPr txBox="1"/>
          <p:nvPr/>
        </p:nvSpPr>
        <p:spPr>
          <a:xfrm>
            <a:off x="6136452" y="4086057"/>
            <a:ext cx="306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  <a:r>
              <a:t>CREATE (p:Patient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  <a:r>
              <a:t>  {id:'P001', name:'환자A',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  <a:r>
              <a:t>   age:45})</a:t>
            </a:r>
          </a:p>
        </p:txBody>
      </p:sp>
      <p:sp>
        <p:nvSpPr>
          <p:cNvPr id="130" name="Rounded Rectangle 50">
            <a:extLst>
              <a:ext uri="{FF2B5EF4-FFF2-40B4-BE49-F238E27FC236}">
                <a16:creationId xmlns:a16="http://schemas.microsoft.com/office/drawing/2014/main" id="{9C453CCC-D50C-8002-3568-D62510E426F7}"/>
              </a:ext>
            </a:extLst>
          </p:cNvPr>
          <p:cNvSpPr/>
          <p:nvPr/>
        </p:nvSpPr>
        <p:spPr>
          <a:xfrm>
            <a:off x="6064451" y="4590058"/>
            <a:ext cx="3204000" cy="7200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379788FD-7778-2E4A-CB1F-582E61C2B533}"/>
              </a:ext>
            </a:extLst>
          </p:cNvPr>
          <p:cNvSpPr txBox="1"/>
          <p:nvPr/>
        </p:nvSpPr>
        <p:spPr>
          <a:xfrm>
            <a:off x="6136452" y="4662058"/>
            <a:ext cx="306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E74C3C"/>
                </a:solidFill>
              </a:defRPr>
            </a:pPr>
            <a:r>
              <a:t>② 질병 관계 연결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5034390-78DF-872B-DADF-7086D8C84D36}"/>
              </a:ext>
            </a:extLst>
          </p:cNvPr>
          <p:cNvSpPr txBox="1"/>
          <p:nvPr/>
        </p:nvSpPr>
        <p:spPr>
          <a:xfrm>
            <a:off x="6136452" y="4878058"/>
            <a:ext cx="306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  <a:r>
              <a:t>CREATE (p)-[:DIAGNOSED_WITH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  <a:r>
              <a:t>  {date:'2024-01-15'}]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  <a:r>
              <a:t>  -&gt;(d:Disease {code:'I50'})</a:t>
            </a:r>
          </a:p>
        </p:txBody>
      </p:sp>
      <p:sp>
        <p:nvSpPr>
          <p:cNvPr id="133" name="Rounded Rectangle 53">
            <a:extLst>
              <a:ext uri="{FF2B5EF4-FFF2-40B4-BE49-F238E27FC236}">
                <a16:creationId xmlns:a16="http://schemas.microsoft.com/office/drawing/2014/main" id="{2883FDDA-46AE-7866-350E-A22C8C364DBF}"/>
              </a:ext>
            </a:extLst>
          </p:cNvPr>
          <p:cNvSpPr/>
          <p:nvPr/>
        </p:nvSpPr>
        <p:spPr>
          <a:xfrm>
            <a:off x="6064451" y="5382058"/>
            <a:ext cx="3204000" cy="720000"/>
          </a:xfrm>
          <a:prstGeom prst="roundRect">
            <a:avLst/>
          </a:prstGeom>
          <a:solidFill>
            <a:srgbClr val="FAFAF0"/>
          </a:solidFill>
          <a:ln w="12700">
            <a:solidFill>
              <a:srgbClr val="FAA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20151FC-83B5-EDC1-C0F9-0D27CD4DB2ED}"/>
              </a:ext>
            </a:extLst>
          </p:cNvPr>
          <p:cNvSpPr txBox="1"/>
          <p:nvPr/>
        </p:nvSpPr>
        <p:spPr>
          <a:xfrm>
            <a:off x="6136452" y="5454058"/>
            <a:ext cx="306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FAAD14"/>
                </a:solidFill>
              </a:defRPr>
            </a:pPr>
            <a:r>
              <a:t>③ 약물-부작용 검색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6CE3836-F8D3-D271-16C4-64B29C490B6A}"/>
              </a:ext>
            </a:extLst>
          </p:cNvPr>
          <p:cNvSpPr txBox="1"/>
          <p:nvPr/>
        </p:nvSpPr>
        <p:spPr>
          <a:xfrm>
            <a:off x="6136452" y="5670058"/>
            <a:ext cx="3060000" cy="32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  <a:r>
              <a:t>MATCH (drug:Drug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  <a:r>
              <a:t>  {name:'Aspirin'})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333333"/>
                </a:solidFill>
              </a:defRPr>
            </a:pPr>
            <a:r>
              <a:t>  -[:MAY_CAUSE]-&gt;(side)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6CDA864-FB76-81EB-2A6A-59A2460168BF}"/>
              </a:ext>
            </a:extLst>
          </p:cNvPr>
          <p:cNvSpPr txBox="1"/>
          <p:nvPr/>
        </p:nvSpPr>
        <p:spPr>
          <a:xfrm>
            <a:off x="5992452" y="6174058"/>
            <a:ext cx="3348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722ED1"/>
                </a:solidFill>
              </a:defRPr>
            </a:pPr>
            <a:r>
              <a:t>🔗 GraphQL API 자동 생성</a:t>
            </a:r>
          </a:p>
        </p:txBody>
      </p:sp>
      <p:sp>
        <p:nvSpPr>
          <p:cNvPr id="137" name="직사각형 133">
            <a:extLst>
              <a:ext uri="{FF2B5EF4-FFF2-40B4-BE49-F238E27FC236}">
                <a16:creationId xmlns:a16="http://schemas.microsoft.com/office/drawing/2014/main" id="{373257D4-5EF0-34D3-D630-FFE41091DCFF}"/>
              </a:ext>
            </a:extLst>
          </p:cNvPr>
          <p:cNvSpPr/>
          <p:nvPr/>
        </p:nvSpPr>
        <p:spPr>
          <a:xfrm>
            <a:off x="272482" y="1908297"/>
            <a:ext cx="9351287" cy="289239"/>
          </a:xfrm>
          <a:prstGeom prst="rect">
            <a:avLst/>
          </a:prstGeom>
          <a:solidFill>
            <a:srgbClr val="0066AC"/>
          </a:solidFill>
          <a:ln w="6350">
            <a:noFill/>
          </a:ln>
        </p:spPr>
        <p:txBody>
          <a:bodyPr vert="horz" wrap="square" lIns="3600" tIns="3600" rIns="3600" bIns="36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① </a:t>
            </a:r>
            <a:r>
              <a:rPr lang="en-US" altLang="ko-KR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Neo4j </a:t>
            </a:r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구축 → ② 의료 온톨로지 연계 → ③ </a:t>
            </a:r>
            <a:r>
              <a:rPr lang="en-US" altLang="ko-KR" sz="1200" b="1" dirty="0" err="1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BioBERT</a:t>
            </a:r>
            <a:r>
              <a:rPr lang="en-US" altLang="ko-KR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임베딩 → ④ </a:t>
            </a:r>
            <a:r>
              <a:rPr lang="en-US" altLang="ko-KR" sz="1200" b="1" dirty="0" err="1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GraphQL</a:t>
            </a:r>
            <a:r>
              <a:rPr lang="en-US" altLang="ko-KR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1840537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DF67-A138-8855-254C-31E900B2B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28FCFAA-E325-537F-7218-C9787E0F11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8.1 AI </a:t>
            </a:r>
            <a:r>
              <a:rPr lang="ko-KR" altLang="en-US" dirty="0"/>
              <a:t>활용을 위한 설계 </a:t>
            </a:r>
            <a:r>
              <a:rPr lang="en-US" altLang="ko-KR" dirty="0"/>
              <a:t>(5/5)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154950D-9093-7B7B-C9E9-85D3E22EF60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8. AI </a:t>
            </a:r>
            <a:r>
              <a:rPr lang="ko-KR" altLang="en-US" dirty="0"/>
              <a:t>적용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F51BA50-92D9-6CD2-7778-901431697C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Neo4j + </a:t>
            </a:r>
            <a:r>
              <a:rPr lang="en-US" altLang="ko-KR" dirty="0" err="1"/>
              <a:t>BioBERT</a:t>
            </a:r>
            <a:r>
              <a:rPr lang="en-US" altLang="ko-KR" dirty="0"/>
              <a:t> + SNOMED-CT</a:t>
            </a:r>
            <a:r>
              <a:rPr lang="ko-KR" altLang="en-US" dirty="0"/>
              <a:t>를 활용한 의료 지식그래프를 구축하고</a:t>
            </a:r>
            <a:r>
              <a:rPr lang="en-US" altLang="ko-KR" dirty="0"/>
              <a:t>, Cypher </a:t>
            </a:r>
            <a:r>
              <a:rPr lang="ko-KR" altLang="en-US" dirty="0"/>
              <a:t>쿼리와 </a:t>
            </a:r>
            <a:r>
              <a:rPr lang="en-US" altLang="ko-KR" dirty="0" err="1"/>
              <a:t>GraphQL</a:t>
            </a:r>
            <a:r>
              <a:rPr lang="en-US" altLang="ko-KR" dirty="0"/>
              <a:t> API</a:t>
            </a:r>
            <a:r>
              <a:rPr lang="ko-KR" altLang="en-US" dirty="0"/>
              <a:t>로 환자</a:t>
            </a:r>
            <a:r>
              <a:rPr lang="en-US" altLang="ko-KR" dirty="0"/>
              <a:t>-</a:t>
            </a:r>
            <a:r>
              <a:rPr lang="ko-KR" altLang="en-US" dirty="0"/>
              <a:t>질병</a:t>
            </a:r>
            <a:r>
              <a:rPr lang="en-US" altLang="ko-KR" dirty="0"/>
              <a:t>-</a:t>
            </a:r>
            <a:r>
              <a:rPr lang="ko-KR" altLang="en-US" dirty="0"/>
              <a:t>치료법 관계를 실시간 검색하는 시스템을 구현하겠습니다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3EE84E3-2B6F-21F8-0621-D7367C52BE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지식그래프 기반 의료 </a:t>
            </a:r>
            <a:r>
              <a:rPr lang="ko-KR" altLang="en-US" dirty="0" err="1"/>
              <a:t>시맨틱</a:t>
            </a:r>
            <a:r>
              <a:rPr lang="ko-KR" altLang="en-US" dirty="0"/>
              <a:t> 검색 </a:t>
            </a:r>
            <a:r>
              <a:rPr lang="en-US" altLang="ko-KR" dirty="0"/>
              <a:t>- </a:t>
            </a:r>
            <a:r>
              <a:rPr lang="ko-KR" altLang="en-US" dirty="0"/>
              <a:t>구현 가이드</a:t>
            </a:r>
          </a:p>
        </p:txBody>
      </p:sp>
      <p:sp>
        <p:nvSpPr>
          <p:cNvPr id="46" name="직사각형 132">
            <a:extLst>
              <a:ext uri="{FF2B5EF4-FFF2-40B4-BE49-F238E27FC236}">
                <a16:creationId xmlns:a16="http://schemas.microsoft.com/office/drawing/2014/main" id="{CB8A643D-8AD8-A64F-3F5A-D6C17E8F8657}"/>
              </a:ext>
            </a:extLst>
          </p:cNvPr>
          <p:cNvSpPr/>
          <p:nvPr/>
        </p:nvSpPr>
        <p:spPr>
          <a:xfrm>
            <a:off x="7448658" y="1900424"/>
            <a:ext cx="2170325" cy="45525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7" name="직사각형 133">
            <a:extLst>
              <a:ext uri="{FF2B5EF4-FFF2-40B4-BE49-F238E27FC236}">
                <a16:creationId xmlns:a16="http://schemas.microsoft.com/office/drawing/2014/main" id="{125209BE-F5C1-919D-FFFC-9C7ACCD58857}"/>
              </a:ext>
            </a:extLst>
          </p:cNvPr>
          <p:cNvSpPr/>
          <p:nvPr/>
        </p:nvSpPr>
        <p:spPr>
          <a:xfrm>
            <a:off x="7448658" y="1908297"/>
            <a:ext cx="2175111" cy="289239"/>
          </a:xfrm>
          <a:prstGeom prst="rect">
            <a:avLst/>
          </a:prstGeom>
          <a:solidFill>
            <a:srgbClr val="0066AC"/>
          </a:solidFill>
          <a:ln w="6350">
            <a:noFill/>
          </a:ln>
        </p:spPr>
        <p:txBody>
          <a:bodyPr vert="horz" wrap="square" lIns="3600" tIns="3600" rIns="3600" bIns="36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그래프 구축 </a:t>
            </a:r>
            <a:r>
              <a:rPr lang="en-US" altLang="ko-KR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Cypher </a:t>
            </a:r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쿼리 예시</a:t>
            </a:r>
          </a:p>
        </p:txBody>
      </p:sp>
      <p:sp>
        <p:nvSpPr>
          <p:cNvPr id="48" name="직사각형 130">
            <a:extLst>
              <a:ext uri="{FF2B5EF4-FFF2-40B4-BE49-F238E27FC236}">
                <a16:creationId xmlns:a16="http://schemas.microsoft.com/office/drawing/2014/main" id="{B4822B13-3C92-E19D-18E5-8F9E0C10FBB8}"/>
              </a:ext>
            </a:extLst>
          </p:cNvPr>
          <p:cNvSpPr/>
          <p:nvPr/>
        </p:nvSpPr>
        <p:spPr>
          <a:xfrm>
            <a:off x="7507088" y="2273281"/>
            <a:ext cx="2104566" cy="231310"/>
          </a:xfrm>
          <a:prstGeom prst="rect">
            <a:avLst/>
          </a:prstGeom>
          <a:solidFill>
            <a:srgbClr val="D9D9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defTabSz="964018"/>
            <a:r>
              <a:rPr lang="ko-KR" altLang="en-US" sz="105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환자 노드 생성</a:t>
            </a:r>
          </a:p>
        </p:txBody>
      </p:sp>
      <p:sp>
        <p:nvSpPr>
          <p:cNvPr id="49" name="모서리가 둥근 직사각형 137">
            <a:extLst>
              <a:ext uri="{FF2B5EF4-FFF2-40B4-BE49-F238E27FC236}">
                <a16:creationId xmlns:a16="http://schemas.microsoft.com/office/drawing/2014/main" id="{C62A7305-70C6-4164-6EE8-978DBDD36164}"/>
              </a:ext>
            </a:extLst>
          </p:cNvPr>
          <p:cNvSpPr/>
          <p:nvPr/>
        </p:nvSpPr>
        <p:spPr>
          <a:xfrm>
            <a:off x="7570297" y="2316625"/>
            <a:ext cx="135326" cy="144623"/>
          </a:xfrm>
          <a:prstGeom prst="roundRect">
            <a:avLst/>
          </a:prstGeom>
          <a:gradFill flip="none" rotWithShape="1">
            <a:gsLst>
              <a:gs pos="48000">
                <a:srgbClr val="2E0900"/>
              </a:gs>
              <a:gs pos="49000">
                <a:srgbClr val="433C37"/>
              </a:gs>
            </a:gsLst>
            <a:lin ang="13500000" scaled="1"/>
            <a:tileRect/>
          </a:gra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_Pro Medium" panose="00000600000000000000" pitchFamily="50" charset="-127"/>
              </a:rPr>
              <a:t>1</a:t>
            </a:r>
            <a:endParaRPr lang="ko-KR" altLang="en-US" sz="900" dirty="0"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0" name="object 77">
            <a:extLst>
              <a:ext uri="{FF2B5EF4-FFF2-40B4-BE49-F238E27FC236}">
                <a16:creationId xmlns:a16="http://schemas.microsoft.com/office/drawing/2014/main" id="{AA0372CC-57EC-DA9F-CC97-D7702BAFE17E}"/>
              </a:ext>
            </a:extLst>
          </p:cNvPr>
          <p:cNvSpPr txBox="1"/>
          <p:nvPr/>
        </p:nvSpPr>
        <p:spPr>
          <a:xfrm>
            <a:off x="7451994" y="2530332"/>
            <a:ext cx="2159659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108000">
              <a:spcAft>
                <a:spcPts val="300"/>
              </a:spcAft>
              <a:buClr>
                <a:schemeClr val="bg1">
                  <a:lumMod val="50000"/>
                </a:schemeClr>
              </a:buClr>
              <a:tabLst>
                <a:tab pos="302260" algn="l"/>
              </a:tabLst>
              <a:defRPr sz="900">
                <a:solidFill>
                  <a:srgbClr val="333333"/>
                </a:solidFill>
                <a:latin typeface="Consolas"/>
              </a:defRPr>
            </a:pPr>
            <a:r>
              <a:rPr lang="en-US" altLang="ko-KR" sz="1000" spc="5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CREATE (</a:t>
            </a:r>
            <a:r>
              <a:rPr lang="en-US" altLang="ko-KR" sz="1000" spc="5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p:Patient</a:t>
            </a:r>
            <a:r>
              <a:rPr lang="en-US" altLang="ko-KR" sz="1000" spc="5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{id: 'P001', name: '</a:t>
            </a:r>
            <a:r>
              <a:rPr lang="ko-KR" altLang="en-US" sz="1000" spc="5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환자</a:t>
            </a:r>
            <a:r>
              <a:rPr lang="en-US" altLang="ko-KR" sz="1000" spc="5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A', age: 45})</a:t>
            </a:r>
          </a:p>
        </p:txBody>
      </p:sp>
      <p:sp>
        <p:nvSpPr>
          <p:cNvPr id="51" name="직사각형 126">
            <a:extLst>
              <a:ext uri="{FF2B5EF4-FFF2-40B4-BE49-F238E27FC236}">
                <a16:creationId xmlns:a16="http://schemas.microsoft.com/office/drawing/2014/main" id="{CE8C2E6C-1792-364E-FA0E-216A0F5DD211}"/>
              </a:ext>
            </a:extLst>
          </p:cNvPr>
          <p:cNvSpPr/>
          <p:nvPr/>
        </p:nvSpPr>
        <p:spPr>
          <a:xfrm>
            <a:off x="7507088" y="3234038"/>
            <a:ext cx="2104566" cy="231310"/>
          </a:xfrm>
          <a:prstGeom prst="rect">
            <a:avLst/>
          </a:prstGeom>
          <a:solidFill>
            <a:srgbClr val="D9D9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defTabSz="964018"/>
            <a:r>
              <a:rPr lang="ko-KR" altLang="en-US" sz="1050" spc="-8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질병 노드 생성 및 관계 연결</a:t>
            </a:r>
          </a:p>
        </p:txBody>
      </p:sp>
      <p:sp>
        <p:nvSpPr>
          <p:cNvPr id="52" name="모서리가 둥근 직사각형 153">
            <a:extLst>
              <a:ext uri="{FF2B5EF4-FFF2-40B4-BE49-F238E27FC236}">
                <a16:creationId xmlns:a16="http://schemas.microsoft.com/office/drawing/2014/main" id="{2F0C7AA6-B8AC-DAF7-24E2-CDBBDBAA114E}"/>
              </a:ext>
            </a:extLst>
          </p:cNvPr>
          <p:cNvSpPr/>
          <p:nvPr/>
        </p:nvSpPr>
        <p:spPr>
          <a:xfrm>
            <a:off x="7570297" y="3277382"/>
            <a:ext cx="135326" cy="144623"/>
          </a:xfrm>
          <a:prstGeom prst="roundRect">
            <a:avLst/>
          </a:prstGeom>
          <a:gradFill flip="none" rotWithShape="1">
            <a:gsLst>
              <a:gs pos="48000">
                <a:srgbClr val="2E0900"/>
              </a:gs>
              <a:gs pos="49000">
                <a:srgbClr val="433C37"/>
              </a:gs>
            </a:gsLst>
            <a:lin ang="13500000" scaled="1"/>
            <a:tileRect/>
          </a:gra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_Pro Medium" panose="00000600000000000000" pitchFamily="50" charset="-127"/>
              </a:rPr>
              <a:t>2</a:t>
            </a:r>
            <a:endParaRPr lang="ko-KR" altLang="en-US" sz="900" dirty="0"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3" name="object 77">
            <a:extLst>
              <a:ext uri="{FF2B5EF4-FFF2-40B4-BE49-F238E27FC236}">
                <a16:creationId xmlns:a16="http://schemas.microsoft.com/office/drawing/2014/main" id="{F7569536-D1D3-EB3B-3645-2B4C4D631100}"/>
              </a:ext>
            </a:extLst>
          </p:cNvPr>
          <p:cNvSpPr txBox="1"/>
          <p:nvPr/>
        </p:nvSpPr>
        <p:spPr>
          <a:xfrm>
            <a:off x="7451994" y="3521891"/>
            <a:ext cx="2133966" cy="80791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182563" indent="-95250" latinLnBrk="0">
              <a:lnSpc>
                <a:spcPct val="100000"/>
              </a:lnSpc>
              <a:spcBef>
                <a:spcPts val="1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302260" algn="l"/>
              </a:tabLst>
              <a:defRPr sz="900" spc="5"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/>
              </a:defRPr>
            </a:lvl1pPr>
          </a:lstStyle>
          <a:p>
            <a:pPr marL="1080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CREATE (</a:t>
            </a:r>
            <a:r>
              <a:rPr lang="en-US" altLang="ko-KR" sz="100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d:Disease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 {code: 'I50', name: '</a:t>
            </a:r>
            <a:r>
              <a:rPr lang="ko-KR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심부전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', </a:t>
            </a:r>
            <a:r>
              <a:rPr lang="en-US" altLang="ko-KR" sz="100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snomed_id</a:t>
            </a: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: '84114007'})</a:t>
            </a:r>
          </a:p>
          <a:p>
            <a:pPr marL="1080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ko-KR" sz="100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CREATE (p)-[:DIAGNOSED_WITH {date: '2024-01-15'}]-&gt;(d)</a:t>
            </a:r>
          </a:p>
        </p:txBody>
      </p:sp>
      <p:sp>
        <p:nvSpPr>
          <p:cNvPr id="54" name="직사각형 120">
            <a:extLst>
              <a:ext uri="{FF2B5EF4-FFF2-40B4-BE49-F238E27FC236}">
                <a16:creationId xmlns:a16="http://schemas.microsoft.com/office/drawing/2014/main" id="{D089F5CE-81CE-56AA-3F3D-0119581F2B95}"/>
              </a:ext>
            </a:extLst>
          </p:cNvPr>
          <p:cNvSpPr/>
          <p:nvPr/>
        </p:nvSpPr>
        <p:spPr>
          <a:xfrm>
            <a:off x="7507088" y="4794593"/>
            <a:ext cx="2104566" cy="231310"/>
          </a:xfrm>
          <a:prstGeom prst="rect">
            <a:avLst/>
          </a:prstGeom>
          <a:solidFill>
            <a:srgbClr val="D9D9D9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defTabSz="964018"/>
            <a:r>
              <a:rPr lang="ko-KR" altLang="en-US" sz="1050" spc="-11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약물</a:t>
            </a:r>
            <a:r>
              <a:rPr lang="en-US" altLang="ko-KR" sz="1050" spc="-11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-</a:t>
            </a:r>
            <a:r>
              <a:rPr lang="ko-KR" altLang="en-US" sz="1050" spc="-11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부작용 관계 생성</a:t>
            </a:r>
          </a:p>
        </p:txBody>
      </p:sp>
      <p:sp>
        <p:nvSpPr>
          <p:cNvPr id="55" name="모서리가 둥근 직사각형 158">
            <a:extLst>
              <a:ext uri="{FF2B5EF4-FFF2-40B4-BE49-F238E27FC236}">
                <a16:creationId xmlns:a16="http://schemas.microsoft.com/office/drawing/2014/main" id="{E8B58541-A6AB-1D39-6F62-DB0270917D65}"/>
              </a:ext>
            </a:extLst>
          </p:cNvPr>
          <p:cNvSpPr/>
          <p:nvPr/>
        </p:nvSpPr>
        <p:spPr>
          <a:xfrm>
            <a:off x="7570297" y="4837937"/>
            <a:ext cx="135326" cy="144623"/>
          </a:xfrm>
          <a:prstGeom prst="roundRect">
            <a:avLst/>
          </a:prstGeom>
          <a:gradFill flip="none" rotWithShape="1">
            <a:gsLst>
              <a:gs pos="48000">
                <a:srgbClr val="2E0900"/>
              </a:gs>
              <a:gs pos="49000">
                <a:srgbClr val="433C37"/>
              </a:gs>
            </a:gsLst>
            <a:lin ang="13500000" scaled="1"/>
            <a:tileRect/>
          </a:gradFill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KoPubWorld돋움체_Pro Medium" panose="00000600000000000000" pitchFamily="50" charset="-127"/>
              </a:rPr>
              <a:t>3</a:t>
            </a:r>
            <a:endParaRPr lang="ko-KR" altLang="en-US" sz="900" dirty="0">
              <a:solidFill>
                <a:schemeClr val="bg1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6" name="object 77">
            <a:extLst>
              <a:ext uri="{FF2B5EF4-FFF2-40B4-BE49-F238E27FC236}">
                <a16:creationId xmlns:a16="http://schemas.microsoft.com/office/drawing/2014/main" id="{6FD51903-11A5-776E-8BE1-E4EA43147AB0}"/>
              </a:ext>
            </a:extLst>
          </p:cNvPr>
          <p:cNvSpPr txBox="1"/>
          <p:nvPr/>
        </p:nvSpPr>
        <p:spPr>
          <a:xfrm>
            <a:off x="7426301" y="5042119"/>
            <a:ext cx="2159659" cy="84638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ko-KR"/>
            </a:defPPr>
            <a:lvl1pPr marL="182563" indent="-95250" latinLnBrk="0">
              <a:lnSpc>
                <a:spcPct val="100000"/>
              </a:lnSpc>
              <a:spcBef>
                <a:spcPts val="1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tabLst>
                <a:tab pos="302260" algn="l"/>
              </a:tabLst>
              <a:defRPr sz="900" spc="5">
                <a:latin typeface="KoPub돋움체 Medium" panose="02020603020101020101" pitchFamily="18" charset="-127"/>
                <a:ea typeface="KoPub돋움체 Medium" panose="02020603020101020101" pitchFamily="18" charset="-127"/>
                <a:cs typeface="맑은 고딕"/>
              </a:defRPr>
            </a:lvl1pPr>
          </a:lstStyle>
          <a:p>
            <a:pPr marL="10800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ko-KR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MATCH (</a:t>
            </a:r>
            <a:r>
              <a:rPr lang="en-US" altLang="ko-KR" sz="1000" spc="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drug:Drug</a:t>
            </a:r>
            <a:r>
              <a:rPr lang="en-US" altLang="ko-KR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 {name: 'Aspirin'})</a:t>
            </a:r>
          </a:p>
          <a:p>
            <a:pPr marL="10800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ko-KR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MATCH (</a:t>
            </a:r>
            <a:r>
              <a:rPr lang="en-US" altLang="ko-KR" sz="1000" spc="0" dirty="0" err="1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side:SideEffect</a:t>
            </a:r>
            <a:r>
              <a:rPr lang="en-US" altLang="ko-KR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 {name: '</a:t>
            </a:r>
            <a:r>
              <a:rPr lang="ko-KR" altLang="en-US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위장장애</a:t>
            </a:r>
            <a:r>
              <a:rPr lang="en-US" altLang="ko-KR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'})</a:t>
            </a:r>
          </a:p>
          <a:p>
            <a:pPr marL="108000" indent="0">
              <a:spcBef>
                <a:spcPts val="0"/>
              </a:spcBef>
              <a:spcAft>
                <a:spcPts val="300"/>
              </a:spcAft>
              <a:buNone/>
            </a:pPr>
            <a:r>
              <a:rPr lang="en-US" altLang="ko-KR" sz="1000" spc="0" dirty="0">
                <a:solidFill>
                  <a:schemeClr val="tx1">
                    <a:lumMod val="85000"/>
                    <a:lumOff val="15000"/>
                  </a:schemeClr>
                </a:solidFill>
                <a:cs typeface="+mn-cs"/>
              </a:rPr>
              <a:t>CREATE (drug)-[:MAY_CAUSE {probability: 0.15}]-&gt;(side)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925" y="2693249"/>
            <a:ext cx="27985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5BAC"/>
                </a:solidFill>
              </a:defRPr>
            </a:pPr>
            <a:r>
              <a:t>Neo4j 그래프 DB 설치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D9A52DD-E69F-1B9C-A66D-B890055C5367}"/>
              </a:ext>
            </a:extLst>
          </p:cNvPr>
          <p:cNvGrpSpPr/>
          <p:nvPr/>
        </p:nvGrpSpPr>
        <p:grpSpPr>
          <a:xfrm>
            <a:off x="294346" y="1961945"/>
            <a:ext cx="3189237" cy="1650189"/>
            <a:chOff x="299925" y="2585249"/>
            <a:chExt cx="3189237" cy="1650189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7CF5904-BDAA-6D71-90EA-7485A9DE9334}"/>
                </a:ext>
              </a:extLst>
            </p:cNvPr>
            <p:cNvGrpSpPr/>
            <p:nvPr/>
          </p:nvGrpSpPr>
          <p:grpSpPr>
            <a:xfrm>
              <a:off x="299925" y="2585249"/>
              <a:ext cx="2575165" cy="1650189"/>
              <a:chOff x="299925" y="2585249"/>
              <a:chExt cx="2575165" cy="1650189"/>
            </a:xfrm>
          </p:grpSpPr>
          <p:sp>
            <p:nvSpPr>
              <p:cNvPr id="6" name="Rounded Rectangle 5"/>
              <p:cNvSpPr/>
              <p:nvPr/>
            </p:nvSpPr>
            <p:spPr>
              <a:xfrm>
                <a:off x="299925" y="2585249"/>
                <a:ext cx="2575165" cy="1650189"/>
              </a:xfrm>
              <a:prstGeom prst="roundRect">
                <a:avLst/>
              </a:prstGeom>
              <a:solidFill>
                <a:srgbClr val="F0F3F8"/>
              </a:solidFill>
              <a:ln w="25400">
                <a:solidFill>
                  <a:srgbClr val="00AE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" name="Oval 3"/>
              <p:cNvSpPr/>
              <p:nvPr/>
            </p:nvSpPr>
            <p:spPr>
              <a:xfrm>
                <a:off x="407924" y="2657250"/>
                <a:ext cx="226146" cy="288000"/>
              </a:xfrm>
              <a:prstGeom prst="ellipse">
                <a:avLst/>
              </a:prstGeom>
              <a:solidFill>
                <a:srgbClr val="00AEE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407924" y="2657250"/>
                <a:ext cx="226146" cy="288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defRPr sz="1200" b="1">
                    <a:solidFill>
                      <a:srgbClr val="FFFFFF"/>
                    </a:solidFill>
                  </a:defRPr>
                </a:pPr>
                <a:r>
                  <a:t>1</a:t>
                </a:r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407924" y="2981250"/>
              <a:ext cx="3081238" cy="104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t>오픈소스: Neo4j 5.14+ (Neo4j Inc.)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t>• Docker Compose로 클러스터 구성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t>• Causal Clustering 3노드 설정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t>• APOC 플러그인 + GDS 라이브러리 설치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t>• 의료 온톨로지 스키마 설계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A3458BF-DEFC-D53C-2B73-BFC9A049856D}"/>
              </a:ext>
            </a:extLst>
          </p:cNvPr>
          <p:cNvGrpSpPr/>
          <p:nvPr/>
        </p:nvGrpSpPr>
        <p:grpSpPr>
          <a:xfrm>
            <a:off x="2788583" y="1988990"/>
            <a:ext cx="2575163" cy="1811773"/>
            <a:chOff x="299927" y="4791599"/>
            <a:chExt cx="2575163" cy="1811773"/>
          </a:xfrm>
        </p:grpSpPr>
        <p:sp>
          <p:nvSpPr>
            <p:cNvPr id="14" name="Rounded Rectangle 10"/>
            <p:cNvSpPr/>
            <p:nvPr/>
          </p:nvSpPr>
          <p:spPr>
            <a:xfrm>
              <a:off x="299927" y="4791599"/>
              <a:ext cx="2202614" cy="1811773"/>
            </a:xfrm>
            <a:prstGeom prst="roundRect">
              <a:avLst/>
            </a:prstGeom>
            <a:solidFill>
              <a:srgbClr val="F0F3F8"/>
            </a:solidFill>
            <a:ln w="25400">
              <a:solidFill>
                <a:srgbClr val="00A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Oval 14"/>
            <p:cNvSpPr/>
            <p:nvPr/>
          </p:nvSpPr>
          <p:spPr>
            <a:xfrm>
              <a:off x="407924" y="4863599"/>
              <a:ext cx="226146" cy="288000"/>
            </a:xfrm>
            <a:prstGeom prst="ellipse">
              <a:avLst/>
            </a:prstGeom>
            <a:solidFill>
              <a:srgbClr val="00AE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07924" y="4863599"/>
              <a:ext cx="226146" cy="288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</a:defRPr>
              </a:pPr>
              <a:r>
                <a:t>2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767925" y="4899600"/>
              <a:ext cx="210716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005BAC"/>
                  </a:solidFill>
                </a:defRPr>
              </a:pPr>
              <a:r>
                <a:rPr dirty="0" err="1"/>
                <a:t>의료</a:t>
              </a:r>
              <a:r>
                <a:rPr dirty="0"/>
                <a:t> </a:t>
              </a:r>
              <a:r>
                <a:rPr dirty="0" err="1"/>
                <a:t>표준</a:t>
              </a:r>
              <a:r>
                <a:rPr dirty="0"/>
                <a:t> </a:t>
              </a:r>
              <a:r>
                <a:rPr dirty="0" err="1"/>
                <a:t>온톨로지</a:t>
              </a:r>
              <a:r>
                <a:rPr dirty="0"/>
                <a:t> </a:t>
              </a:r>
              <a:r>
                <a:rPr dirty="0" err="1"/>
                <a:t>연계</a:t>
              </a:r>
              <a:endParaRPr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07924" y="5187600"/>
              <a:ext cx="2359168" cy="14157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 err="1"/>
                <a:t>오픈소스</a:t>
              </a:r>
              <a:r>
                <a:rPr dirty="0"/>
                <a:t> </a:t>
              </a:r>
              <a:r>
                <a:rPr dirty="0" err="1"/>
                <a:t>표준</a:t>
              </a:r>
              <a:r>
                <a:rPr dirty="0"/>
                <a:t>: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SNOMED-CT (</a:t>
              </a:r>
              <a:r>
                <a:rPr dirty="0" err="1"/>
                <a:t>의료</a:t>
              </a:r>
              <a:r>
                <a:rPr dirty="0"/>
                <a:t> </a:t>
              </a:r>
              <a:r>
                <a:rPr dirty="0" err="1"/>
                <a:t>용어</a:t>
              </a:r>
              <a:r>
                <a:rPr dirty="0"/>
                <a:t>)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ICD-10 (</a:t>
              </a:r>
              <a:r>
                <a:rPr dirty="0" err="1"/>
                <a:t>질병</a:t>
              </a:r>
              <a:r>
                <a:rPr dirty="0"/>
                <a:t> </a:t>
              </a:r>
              <a:r>
                <a:rPr dirty="0" err="1"/>
                <a:t>분류</a:t>
              </a:r>
              <a:r>
                <a:rPr dirty="0"/>
                <a:t>)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UMLS (</a:t>
              </a:r>
              <a:r>
                <a:rPr dirty="0" err="1"/>
                <a:t>통합</a:t>
              </a:r>
              <a:r>
                <a:rPr dirty="0"/>
                <a:t> </a:t>
              </a:r>
              <a:r>
                <a:rPr dirty="0" err="1"/>
                <a:t>의학</a:t>
              </a:r>
              <a:r>
                <a:rPr dirty="0"/>
                <a:t> </a:t>
              </a:r>
              <a:r>
                <a:rPr dirty="0" err="1"/>
                <a:t>언어</a:t>
              </a:r>
              <a:r>
                <a:rPr dirty="0"/>
                <a:t> 시스템)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RxNorm</a:t>
              </a:r>
              <a:r>
                <a:rPr dirty="0"/>
                <a:t> (</a:t>
              </a:r>
              <a:r>
                <a:rPr dirty="0" err="1"/>
                <a:t>약물</a:t>
              </a:r>
              <a:r>
                <a:rPr dirty="0"/>
                <a:t> </a:t>
              </a:r>
              <a:r>
                <a:rPr dirty="0" err="1"/>
                <a:t>명명</a:t>
              </a:r>
              <a:r>
                <a:rPr dirty="0"/>
                <a:t> 체계)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→ CSV/</a:t>
              </a:r>
              <a:r>
                <a:rPr dirty="0" err="1"/>
                <a:t>JSON으로</a:t>
              </a:r>
              <a:r>
                <a:rPr dirty="0"/>
                <a:t> </a:t>
              </a:r>
              <a:r>
                <a:rPr dirty="0" err="1"/>
                <a:t>변환</a:t>
              </a:r>
              <a:r>
                <a:rPr dirty="0"/>
                <a:t> 후 Neo4j LOAD CSV</a:t>
              </a:r>
            </a:p>
          </p:txBody>
        </p:sp>
      </p:grpSp>
      <p:pic>
        <p:nvPicPr>
          <p:cNvPr id="2052" name="Picture 4">
            <a:extLst>
              <a:ext uri="{FF2B5EF4-FFF2-40B4-BE49-F238E27FC236}">
                <a16:creationId xmlns:a16="http://schemas.microsoft.com/office/drawing/2014/main" id="{3DEDDE7F-5A20-B6D2-6CC5-076D2BD89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017" y="4090749"/>
            <a:ext cx="600075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F3CB8D7E-D051-F9AA-4362-D64AB8F20050}"/>
              </a:ext>
            </a:extLst>
          </p:cNvPr>
          <p:cNvGrpSpPr/>
          <p:nvPr/>
        </p:nvGrpSpPr>
        <p:grpSpPr>
          <a:xfrm>
            <a:off x="4789397" y="4680655"/>
            <a:ext cx="2629575" cy="1773301"/>
            <a:chOff x="3933150" y="4791599"/>
            <a:chExt cx="2629575" cy="1773301"/>
          </a:xfrm>
        </p:grpSpPr>
        <p:sp>
          <p:nvSpPr>
            <p:cNvPr id="27" name="Rounded Rectangle 20"/>
            <p:cNvSpPr/>
            <p:nvPr/>
          </p:nvSpPr>
          <p:spPr>
            <a:xfrm>
              <a:off x="3933150" y="4791599"/>
              <a:ext cx="2629575" cy="1773301"/>
            </a:xfrm>
            <a:prstGeom prst="roundRect">
              <a:avLst/>
            </a:prstGeom>
            <a:solidFill>
              <a:srgbClr val="F0F3F8"/>
            </a:solidFill>
            <a:ln w="25400">
              <a:solidFill>
                <a:srgbClr val="00A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Oval 27"/>
            <p:cNvSpPr/>
            <p:nvPr/>
          </p:nvSpPr>
          <p:spPr>
            <a:xfrm>
              <a:off x="4041150" y="4863599"/>
              <a:ext cx="226146" cy="288000"/>
            </a:xfrm>
            <a:prstGeom prst="ellipse">
              <a:avLst/>
            </a:prstGeom>
            <a:solidFill>
              <a:srgbClr val="00AE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041150" y="4863599"/>
              <a:ext cx="226146" cy="288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</a:defRPr>
              </a:pPr>
              <a:r>
                <a:rPr dirty="0"/>
                <a:t>4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401150" y="4899600"/>
              <a:ext cx="157102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005BAC"/>
                  </a:solidFill>
                </a:defRPr>
              </a:pPr>
              <a:r>
                <a:rPr dirty="0" err="1"/>
                <a:t>GraphQL</a:t>
              </a:r>
              <a:r>
                <a:rPr dirty="0"/>
                <a:t> API </a:t>
              </a:r>
              <a:r>
                <a:rPr dirty="0" err="1"/>
                <a:t>개발</a:t>
              </a:r>
              <a:endParaRPr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041151" y="5187600"/>
              <a:ext cx="2131050" cy="13773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 err="1"/>
                <a:t>오픈소스</a:t>
              </a:r>
              <a:r>
                <a:rPr dirty="0"/>
                <a:t>: Neo4j </a:t>
              </a:r>
              <a:r>
                <a:rPr dirty="0" err="1"/>
                <a:t>GraphQL</a:t>
              </a:r>
              <a:r>
                <a:rPr dirty="0"/>
                <a:t> Library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Apollo Server + Neo4j Driver </a:t>
              </a:r>
              <a:r>
                <a:rPr dirty="0" err="1"/>
                <a:t>통합</a:t>
              </a:r>
              <a:endParaRPr dirty="0"/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시맨틱</a:t>
              </a:r>
              <a:r>
                <a:rPr dirty="0"/>
                <a:t> </a:t>
              </a:r>
              <a:r>
                <a:rPr dirty="0" err="1"/>
                <a:t>쿼리</a:t>
              </a:r>
              <a:r>
                <a:rPr dirty="0"/>
                <a:t> </a:t>
              </a:r>
              <a:r>
                <a:rPr dirty="0" err="1"/>
                <a:t>변환</a:t>
              </a:r>
              <a:r>
                <a:rPr dirty="0"/>
                <a:t> </a:t>
              </a:r>
              <a:r>
                <a:rPr dirty="0" err="1"/>
                <a:t>로직</a:t>
              </a:r>
              <a:r>
                <a:rPr dirty="0"/>
                <a:t> </a:t>
              </a:r>
              <a:r>
                <a:rPr dirty="0" err="1"/>
                <a:t>구현</a:t>
              </a:r>
              <a:endParaRPr dirty="0"/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SPARQL </a:t>
              </a:r>
              <a:r>
                <a:rPr dirty="0" err="1"/>
                <a:t>엔드포인트</a:t>
              </a:r>
              <a:r>
                <a:rPr dirty="0"/>
                <a:t> </a:t>
              </a:r>
              <a:r>
                <a:rPr dirty="0" err="1"/>
                <a:t>추가</a:t>
              </a:r>
              <a:r>
                <a:rPr dirty="0"/>
                <a:t> (Apache Jena)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RESTful API </a:t>
              </a:r>
              <a:r>
                <a:rPr dirty="0" err="1"/>
                <a:t>래퍼</a:t>
              </a:r>
              <a:r>
                <a:rPr dirty="0"/>
                <a:t> </a:t>
              </a:r>
              <a:r>
                <a:rPr dirty="0" err="1"/>
                <a:t>제공</a:t>
              </a:r>
              <a:endParaRPr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0DCF958-9FCC-DE77-296D-04F8B01E3DD0}"/>
              </a:ext>
            </a:extLst>
          </p:cNvPr>
          <p:cNvGrpSpPr/>
          <p:nvPr/>
        </p:nvGrpSpPr>
        <p:grpSpPr>
          <a:xfrm>
            <a:off x="4988998" y="1961944"/>
            <a:ext cx="2415896" cy="1650189"/>
            <a:chOff x="3923626" y="2585249"/>
            <a:chExt cx="2415896" cy="1650189"/>
          </a:xfrm>
        </p:grpSpPr>
        <p:sp>
          <p:nvSpPr>
            <p:cNvPr id="22" name="Rounded Rectangle 15"/>
            <p:cNvSpPr/>
            <p:nvPr/>
          </p:nvSpPr>
          <p:spPr>
            <a:xfrm>
              <a:off x="3923626" y="2585249"/>
              <a:ext cx="2415896" cy="1650189"/>
            </a:xfrm>
            <a:prstGeom prst="roundRect">
              <a:avLst/>
            </a:prstGeom>
            <a:solidFill>
              <a:srgbClr val="F0F3F8"/>
            </a:solidFill>
            <a:ln w="25400">
              <a:solidFill>
                <a:srgbClr val="00AE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Oval 22"/>
            <p:cNvSpPr/>
            <p:nvPr/>
          </p:nvSpPr>
          <p:spPr>
            <a:xfrm>
              <a:off x="4031625" y="2657250"/>
              <a:ext cx="226146" cy="288000"/>
            </a:xfrm>
            <a:prstGeom prst="ellipse">
              <a:avLst/>
            </a:prstGeom>
            <a:solidFill>
              <a:srgbClr val="00AEE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031625" y="2657250"/>
              <a:ext cx="226146" cy="28800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200" b="1">
                  <a:solidFill>
                    <a:srgbClr val="FFFFFF"/>
                  </a:solidFill>
                </a:defRPr>
              </a:pPr>
              <a:r>
                <a:rPr dirty="0"/>
                <a:t>3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391625" y="2693249"/>
              <a:ext cx="194789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200" b="1">
                  <a:solidFill>
                    <a:srgbClr val="005BAC"/>
                  </a:solidFill>
                </a:defRPr>
              </a:pPr>
              <a:r>
                <a:rPr dirty="0" err="1"/>
                <a:t>BioBERT</a:t>
              </a:r>
              <a:r>
                <a:rPr dirty="0"/>
                <a:t> 임베딩 </a:t>
              </a:r>
              <a:r>
                <a:rPr dirty="0" err="1"/>
                <a:t>모델</a:t>
              </a:r>
              <a:r>
                <a:rPr dirty="0"/>
                <a:t> 구축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031625" y="2981250"/>
              <a:ext cx="2216775" cy="104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 err="1"/>
                <a:t>오픈소스</a:t>
              </a:r>
              <a:r>
                <a:rPr dirty="0"/>
                <a:t>: </a:t>
              </a:r>
              <a:r>
                <a:rPr dirty="0" err="1"/>
                <a:t>BioBERT</a:t>
              </a:r>
              <a:r>
                <a:rPr dirty="0"/>
                <a:t> (DMIS-Lab)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Hugging Face Transformers </a:t>
              </a:r>
              <a:r>
                <a:rPr dirty="0" err="1"/>
                <a:t>사용</a:t>
              </a:r>
              <a:endParaRPr dirty="0"/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의료</a:t>
              </a:r>
              <a:r>
                <a:rPr dirty="0"/>
                <a:t> </a:t>
              </a:r>
              <a:r>
                <a:rPr dirty="0" err="1"/>
                <a:t>용어</a:t>
              </a:r>
              <a:r>
                <a:rPr dirty="0"/>
                <a:t> 10,000개 임베딩 </a:t>
              </a:r>
              <a:r>
                <a:rPr dirty="0" err="1"/>
                <a:t>생성</a:t>
              </a:r>
              <a:endParaRPr dirty="0"/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Chroma DB 벡터 </a:t>
              </a:r>
              <a:r>
                <a:rPr dirty="0" err="1"/>
                <a:t>스토어</a:t>
              </a:r>
              <a:r>
                <a:rPr dirty="0"/>
                <a:t> 구축</a:t>
              </a:r>
            </a:p>
            <a:p>
              <a:pPr algn="l">
                <a:spcAft>
                  <a:spcPts val="300"/>
                </a:spcAft>
                <a:defRPr sz="1050" b="0">
                  <a:solidFill>
                    <a:srgbClr val="333333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코사인</a:t>
              </a:r>
              <a:r>
                <a:rPr dirty="0"/>
                <a:t> </a:t>
              </a:r>
              <a:r>
                <a:rPr dirty="0" err="1"/>
                <a:t>유사도</a:t>
              </a:r>
              <a:r>
                <a:rPr dirty="0"/>
                <a:t> 기반 </a:t>
              </a:r>
              <a:r>
                <a:rPr dirty="0" err="1"/>
                <a:t>검색</a:t>
              </a:r>
              <a:r>
                <a:rPr dirty="0"/>
                <a:t> </a:t>
              </a:r>
              <a:r>
                <a:rPr dirty="0" err="1"/>
                <a:t>구현</a:t>
              </a:r>
              <a:endParaRPr dirty="0"/>
            </a:p>
          </p:txBody>
        </p:sp>
      </p:grpSp>
      <p:pic>
        <p:nvPicPr>
          <p:cNvPr id="2050" name="Picture 2" descr="Neo4j - Wikipedia">
            <a:extLst>
              <a:ext uri="{FF2B5EF4-FFF2-40B4-BE49-F238E27FC236}">
                <a16:creationId xmlns:a16="http://schemas.microsoft.com/office/drawing/2014/main" id="{88C4FAF8-7EAB-D96B-9BB0-6C7297AE9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53" y="3755635"/>
            <a:ext cx="1685897" cy="598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" name="그룹 151">
            <a:extLst>
              <a:ext uri="{FF2B5EF4-FFF2-40B4-BE49-F238E27FC236}">
                <a16:creationId xmlns:a16="http://schemas.microsoft.com/office/drawing/2014/main" id="{024A8B4F-C828-0E56-A487-47751B8982FC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42" name="모서리가 둥근 직사각형 20">
              <a:extLst>
                <a:ext uri="{FF2B5EF4-FFF2-40B4-BE49-F238E27FC236}">
                  <a16:creationId xmlns:a16="http://schemas.microsoft.com/office/drawing/2014/main" id="{011BCF82-CC40-46DC-62E4-283C4B643EDD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43" name="직사각형 153">
              <a:extLst>
                <a:ext uri="{FF2B5EF4-FFF2-40B4-BE49-F238E27FC236}">
                  <a16:creationId xmlns:a16="http://schemas.microsoft.com/office/drawing/2014/main" id="{347AEE4B-71E6-3BE3-9371-6A97D19B16B3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AAR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-001</a:t>
              </a:r>
            </a:p>
          </p:txBody>
        </p:sp>
        <p:sp>
          <p:nvSpPr>
            <p:cNvPr id="44" name="직사각형 154">
              <a:extLst>
                <a:ext uri="{FF2B5EF4-FFF2-40B4-BE49-F238E27FC236}">
                  <a16:creationId xmlns:a16="http://schemas.microsoft.com/office/drawing/2014/main" id="{0282F932-881A-890D-3561-7696F51B551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45" name="직선 연결선 155">
              <a:extLst>
                <a:ext uri="{FF2B5EF4-FFF2-40B4-BE49-F238E27FC236}">
                  <a16:creationId xmlns:a16="http://schemas.microsoft.com/office/drawing/2014/main" id="{5E18E40E-A8E6-5B1F-20D0-6421AF92E428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645172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7CF6E-EBFF-D1B0-65BD-0BBAA163C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85BEE566-B476-0B09-43DC-009CA459DB1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8.2 AI </a:t>
            </a:r>
            <a:r>
              <a:rPr lang="ko-KR" altLang="en-US" dirty="0"/>
              <a:t>활용 기능 개발 </a:t>
            </a:r>
            <a:r>
              <a:rPr lang="en-US" altLang="ko-KR" dirty="0"/>
              <a:t>(1/4)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08DA7AE-52F5-14E3-CE4D-CC687E3148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8. AI </a:t>
            </a:r>
            <a:r>
              <a:rPr lang="ko-KR" altLang="en-US" dirty="0"/>
              <a:t>적용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33DA7CE-4248-E072-FBB4-7D8F31E764F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가지 </a:t>
            </a:r>
            <a:r>
              <a:rPr lang="en-US" altLang="ko-KR" dirty="0"/>
              <a:t>AI </a:t>
            </a:r>
            <a:r>
              <a:rPr lang="ko-KR" altLang="en-US" dirty="0"/>
              <a:t>기능</a:t>
            </a:r>
            <a:r>
              <a:rPr lang="en-US" altLang="ko-KR" dirty="0"/>
              <a:t>(</a:t>
            </a:r>
            <a:r>
              <a:rPr lang="ko-KR" altLang="en-US" dirty="0"/>
              <a:t>질의응답</a:t>
            </a:r>
            <a:r>
              <a:rPr lang="en-US" altLang="ko-KR" dirty="0"/>
              <a:t>/</a:t>
            </a:r>
            <a:r>
              <a:rPr lang="ko-KR" altLang="en-US" dirty="0"/>
              <a:t>탐색</a:t>
            </a:r>
            <a:r>
              <a:rPr lang="en-US" altLang="ko-KR" dirty="0"/>
              <a:t>/</a:t>
            </a:r>
            <a:r>
              <a:rPr lang="ko-KR" altLang="en-US" dirty="0"/>
              <a:t>마이닝</a:t>
            </a:r>
            <a:r>
              <a:rPr lang="en-US" altLang="ko-KR" dirty="0"/>
              <a:t>/</a:t>
            </a:r>
            <a:r>
              <a:rPr lang="ko-KR" altLang="en-US" dirty="0"/>
              <a:t>요약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 err="1"/>
              <a:t>LangChain</a:t>
            </a:r>
            <a:r>
              <a:rPr lang="en-US" altLang="ko-KR" dirty="0"/>
              <a:t> Router</a:t>
            </a:r>
            <a:r>
              <a:rPr lang="ko-KR" altLang="en-US" dirty="0"/>
              <a:t>로 자동 분류하여 통합 응답 제공하고</a:t>
            </a:r>
            <a:r>
              <a:rPr lang="en-US" altLang="ko-KR" dirty="0"/>
              <a:t>, </a:t>
            </a:r>
            <a:r>
              <a:rPr lang="en-US" altLang="ko-KR" dirty="0" err="1"/>
              <a:t>FastAPI</a:t>
            </a:r>
            <a:r>
              <a:rPr lang="en-US" altLang="ko-KR" dirty="0"/>
              <a:t> + WebSocket</a:t>
            </a:r>
            <a:r>
              <a:rPr lang="ko-KR" altLang="en-US" dirty="0"/>
              <a:t>으로 </a:t>
            </a:r>
            <a:r>
              <a:rPr lang="en-US" altLang="ko-KR" dirty="0"/>
              <a:t>3</a:t>
            </a:r>
            <a:r>
              <a:rPr lang="ko-KR" altLang="en-US" dirty="0"/>
              <a:t>초 내 응답</a:t>
            </a:r>
            <a:r>
              <a:rPr lang="en-US" altLang="ko-KR" dirty="0"/>
              <a:t>, </a:t>
            </a:r>
            <a:r>
              <a:rPr lang="ko-KR" altLang="en-US" dirty="0"/>
              <a:t>의료진의 진단 정확도 향상과 업무 부담 경감 동시 달성하겠습니다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47C6783-2DF6-1B3E-7B97-3958702F94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의료 데이터 분석을 위한 기본 </a:t>
            </a:r>
            <a:r>
              <a:rPr lang="en-US" altLang="ko-KR" dirty="0"/>
              <a:t>AI </a:t>
            </a:r>
            <a:r>
              <a:rPr lang="ko-KR" altLang="en-US" dirty="0"/>
              <a:t>기능</a:t>
            </a:r>
          </a:p>
        </p:txBody>
      </p:sp>
      <p:sp>
        <p:nvSpPr>
          <p:cNvPr id="90" name="직사각형 132">
            <a:extLst>
              <a:ext uri="{FF2B5EF4-FFF2-40B4-BE49-F238E27FC236}">
                <a16:creationId xmlns:a16="http://schemas.microsoft.com/office/drawing/2014/main" id="{0A62AD9B-A872-194A-CD50-9A87CD666272}"/>
              </a:ext>
            </a:extLst>
          </p:cNvPr>
          <p:cNvSpPr/>
          <p:nvPr/>
        </p:nvSpPr>
        <p:spPr>
          <a:xfrm>
            <a:off x="5255521" y="1900424"/>
            <a:ext cx="4363464" cy="45525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91" name="직사각형 133">
            <a:extLst>
              <a:ext uri="{FF2B5EF4-FFF2-40B4-BE49-F238E27FC236}">
                <a16:creationId xmlns:a16="http://schemas.microsoft.com/office/drawing/2014/main" id="{52D32C71-BFE3-121E-C9DD-97D52BAC5AAC}"/>
              </a:ext>
            </a:extLst>
          </p:cNvPr>
          <p:cNvSpPr/>
          <p:nvPr/>
        </p:nvSpPr>
        <p:spPr>
          <a:xfrm>
            <a:off x="5255522" y="1908297"/>
            <a:ext cx="4368248" cy="289239"/>
          </a:xfrm>
          <a:prstGeom prst="rect">
            <a:avLst/>
          </a:prstGeom>
          <a:solidFill>
            <a:srgbClr val="0066AC"/>
          </a:solidFill>
          <a:ln w="6350">
            <a:noFill/>
          </a:ln>
        </p:spPr>
        <p:txBody>
          <a:bodyPr vert="horz" wrap="square" lIns="3600" tIns="3600" rIns="3600" bIns="36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통합 아키텍처</a:t>
            </a:r>
          </a:p>
        </p:txBody>
      </p:sp>
      <p:grpSp>
        <p:nvGrpSpPr>
          <p:cNvPr id="121" name="그룹 151">
            <a:extLst>
              <a:ext uri="{FF2B5EF4-FFF2-40B4-BE49-F238E27FC236}">
                <a16:creationId xmlns:a16="http://schemas.microsoft.com/office/drawing/2014/main" id="{4DCC5B61-4B39-74B5-6AD8-DCD9AB934778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122" name="모서리가 둥근 직사각형 20">
              <a:extLst>
                <a:ext uri="{FF2B5EF4-FFF2-40B4-BE49-F238E27FC236}">
                  <a16:creationId xmlns:a16="http://schemas.microsoft.com/office/drawing/2014/main" id="{F1F0521C-7088-2C55-544A-92D1BC9953B7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23" name="직사각형 153">
              <a:extLst>
                <a:ext uri="{FF2B5EF4-FFF2-40B4-BE49-F238E27FC236}">
                  <a16:creationId xmlns:a16="http://schemas.microsoft.com/office/drawing/2014/main" id="{FDC8AB4E-3B5E-0624-4451-E2AC549654C3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AAR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-002</a:t>
              </a:r>
            </a:p>
          </p:txBody>
        </p:sp>
        <p:sp>
          <p:nvSpPr>
            <p:cNvPr id="124" name="직사각형 154">
              <a:extLst>
                <a:ext uri="{FF2B5EF4-FFF2-40B4-BE49-F238E27FC236}">
                  <a16:creationId xmlns:a16="http://schemas.microsoft.com/office/drawing/2014/main" id="{F7110AFE-9B98-179C-EF08-C23D4165E5C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125" name="직선 연결선 155">
              <a:extLst>
                <a:ext uri="{FF2B5EF4-FFF2-40B4-BE49-F238E27FC236}">
                  <a16:creationId xmlns:a16="http://schemas.microsoft.com/office/drawing/2014/main" id="{0535C57D-FD76-5FEB-DAC2-1AA5C196ED21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Rounded Rectangle 6">
            <a:extLst>
              <a:ext uri="{FF2B5EF4-FFF2-40B4-BE49-F238E27FC236}">
                <a16:creationId xmlns:a16="http://schemas.microsoft.com/office/drawing/2014/main" id="{25E9DE61-3634-1F6B-6A43-9E9918905486}"/>
              </a:ext>
            </a:extLst>
          </p:cNvPr>
          <p:cNvSpPr/>
          <p:nvPr/>
        </p:nvSpPr>
        <p:spPr>
          <a:xfrm>
            <a:off x="287520" y="2235797"/>
            <a:ext cx="2340000" cy="1980000"/>
          </a:xfrm>
          <a:prstGeom prst="roundRect">
            <a:avLst/>
          </a:prstGeom>
          <a:solidFill>
            <a:srgbClr val="E6F5FF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5EADE6D-7011-A95C-63F6-B0DD7D76496A}"/>
              </a:ext>
            </a:extLst>
          </p:cNvPr>
          <p:cNvSpPr txBox="1"/>
          <p:nvPr/>
        </p:nvSpPr>
        <p:spPr>
          <a:xfrm>
            <a:off x="359520" y="2307797"/>
            <a:ext cx="2196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005BAC"/>
                </a:solidFill>
              </a:defRPr>
            </a:pPr>
            <a:r>
              <a:t>💬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CF900A9-7DAB-0692-F1E0-650B70BF1CAC}"/>
              </a:ext>
            </a:extLst>
          </p:cNvPr>
          <p:cNvSpPr txBox="1"/>
          <p:nvPr/>
        </p:nvSpPr>
        <p:spPr>
          <a:xfrm>
            <a:off x="359520" y="2559797"/>
            <a:ext cx="2196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5BAC"/>
                </a:solidFill>
              </a:defRPr>
            </a:pPr>
            <a:r>
              <a:t>질의 응답 시스템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4FEAC6A-B177-2459-2993-95560A18A6DC}"/>
              </a:ext>
            </a:extLst>
          </p:cNvPr>
          <p:cNvSpPr txBox="1"/>
          <p:nvPr/>
        </p:nvSpPr>
        <p:spPr>
          <a:xfrm>
            <a:off x="395519" y="2833150"/>
            <a:ext cx="2124000" cy="6052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sz="1000"/>
              <a:t>LangChain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sz="1000"/>
              <a:t>Qwen3-Next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sz="1000"/>
              <a:t>Chroma DB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23EFC68-A731-9024-FCEB-CEA8824E2822}"/>
              </a:ext>
            </a:extLst>
          </p:cNvPr>
          <p:cNvSpPr txBox="1"/>
          <p:nvPr/>
        </p:nvSpPr>
        <p:spPr>
          <a:xfrm>
            <a:off x="395519" y="3427382"/>
            <a:ext cx="2124000" cy="7848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666666"/>
                </a:solidFill>
              </a:defRPr>
            </a:pPr>
            <a:r>
              <a:rPr sz="1000" dirty="0" err="1"/>
              <a:t>의료</a:t>
            </a:r>
            <a:r>
              <a:rPr sz="1000" dirty="0"/>
              <a:t> </a:t>
            </a:r>
            <a:r>
              <a:rPr sz="1000" dirty="0" err="1"/>
              <a:t>용어</a:t>
            </a:r>
            <a:r>
              <a:rPr sz="1000" dirty="0"/>
              <a:t> </a:t>
            </a:r>
            <a:r>
              <a:rPr sz="1000" dirty="0" err="1"/>
              <a:t>사전</a:t>
            </a:r>
            <a:r>
              <a:rPr sz="1000" dirty="0"/>
              <a:t> 임베딩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66666"/>
                </a:solidFill>
              </a:defRPr>
            </a:pPr>
            <a:r>
              <a:rPr sz="1000" dirty="0"/>
              <a:t>RAG </a:t>
            </a:r>
            <a:r>
              <a:rPr sz="1000" dirty="0" err="1"/>
              <a:t>파이프라인</a:t>
            </a:r>
            <a:endParaRPr sz="1000" dirty="0"/>
          </a:p>
          <a:p>
            <a:pPr algn="l">
              <a:spcAft>
                <a:spcPts val="200"/>
              </a:spcAft>
              <a:defRPr sz="850" b="0">
                <a:solidFill>
                  <a:srgbClr val="666666"/>
                </a:solidFill>
              </a:defRPr>
            </a:pPr>
            <a:r>
              <a:rPr sz="1000" dirty="0" err="1"/>
              <a:t>FastAPI</a:t>
            </a:r>
            <a:r>
              <a:rPr sz="1000" dirty="0"/>
              <a:t> + WebSocket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66666"/>
                </a:solidFill>
              </a:defRPr>
            </a:pPr>
            <a:r>
              <a:rPr sz="1000" dirty="0" err="1"/>
              <a:t>응답시간</a:t>
            </a:r>
            <a:r>
              <a:rPr sz="1000" dirty="0"/>
              <a:t> &lt; 3초</a:t>
            </a:r>
          </a:p>
        </p:txBody>
      </p:sp>
      <p:sp>
        <p:nvSpPr>
          <p:cNvPr id="132" name="Rounded Rectangle 11">
            <a:extLst>
              <a:ext uri="{FF2B5EF4-FFF2-40B4-BE49-F238E27FC236}">
                <a16:creationId xmlns:a16="http://schemas.microsoft.com/office/drawing/2014/main" id="{DB31013D-93CD-8015-0D94-C4B289A172DF}"/>
              </a:ext>
            </a:extLst>
          </p:cNvPr>
          <p:cNvSpPr/>
          <p:nvPr/>
        </p:nvSpPr>
        <p:spPr>
          <a:xfrm>
            <a:off x="2807520" y="2235797"/>
            <a:ext cx="2340000" cy="198000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2713155F-57AB-2088-BCE9-F360D5E15FD8}"/>
              </a:ext>
            </a:extLst>
          </p:cNvPr>
          <p:cNvSpPr txBox="1"/>
          <p:nvPr/>
        </p:nvSpPr>
        <p:spPr>
          <a:xfrm>
            <a:off x="2879519" y="2307797"/>
            <a:ext cx="2196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005BAC"/>
                </a:solidFill>
              </a:defRPr>
            </a:pPr>
            <a:r>
              <a:t>📊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B391FA1-ADDF-4F90-A9F2-6CA1E2203D01}"/>
              </a:ext>
            </a:extLst>
          </p:cNvPr>
          <p:cNvSpPr txBox="1"/>
          <p:nvPr/>
        </p:nvSpPr>
        <p:spPr>
          <a:xfrm>
            <a:off x="2879519" y="2559797"/>
            <a:ext cx="2196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5BAC"/>
                </a:solidFill>
              </a:defRPr>
            </a:pPr>
            <a:r>
              <a:t>텍스트 마이닝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8F10CFC-5701-40D2-BCB8-1857A5C59F02}"/>
              </a:ext>
            </a:extLst>
          </p:cNvPr>
          <p:cNvSpPr txBox="1"/>
          <p:nvPr/>
        </p:nvSpPr>
        <p:spPr>
          <a:xfrm>
            <a:off x="2915520" y="2833150"/>
            <a:ext cx="2124000" cy="6052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sz="1000"/>
              <a:t>spaCy + BioBERT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sz="1000"/>
              <a:t>Named Entity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sz="1000"/>
              <a:t>Recognition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7E4932B-97B2-0CE4-70EA-2122A53FC8AF}"/>
              </a:ext>
            </a:extLst>
          </p:cNvPr>
          <p:cNvSpPr txBox="1"/>
          <p:nvPr/>
        </p:nvSpPr>
        <p:spPr>
          <a:xfrm>
            <a:off x="2915520" y="3427382"/>
            <a:ext cx="2124000" cy="7848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666666"/>
                </a:solidFill>
              </a:defRPr>
            </a:pPr>
            <a:r>
              <a:rPr sz="1000"/>
              <a:t>의료 NER Fine-tuning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66666"/>
                </a:solidFill>
              </a:defRPr>
            </a:pPr>
            <a:r>
              <a:rPr sz="1000"/>
              <a:t>EMR 의무기록 분석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66666"/>
                </a:solidFill>
              </a:defRPr>
            </a:pPr>
            <a:r>
              <a:rPr sz="1000"/>
              <a:t>Apache Spark 배치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66666"/>
                </a:solidFill>
              </a:defRPr>
            </a:pPr>
            <a:r>
              <a:rPr sz="1000"/>
              <a:t>Kafka 실시간 처리</a:t>
            </a:r>
          </a:p>
        </p:txBody>
      </p:sp>
      <p:sp>
        <p:nvSpPr>
          <p:cNvPr id="137" name="Rounded Rectangle 16">
            <a:extLst>
              <a:ext uri="{FF2B5EF4-FFF2-40B4-BE49-F238E27FC236}">
                <a16:creationId xmlns:a16="http://schemas.microsoft.com/office/drawing/2014/main" id="{47DF675E-3AB2-339E-A416-71340F039D52}"/>
              </a:ext>
            </a:extLst>
          </p:cNvPr>
          <p:cNvSpPr/>
          <p:nvPr/>
        </p:nvSpPr>
        <p:spPr>
          <a:xfrm>
            <a:off x="287520" y="4395797"/>
            <a:ext cx="2340000" cy="198000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B2826B8-F622-E503-A5BB-C65F277560CB}"/>
              </a:ext>
            </a:extLst>
          </p:cNvPr>
          <p:cNvSpPr txBox="1"/>
          <p:nvPr/>
        </p:nvSpPr>
        <p:spPr>
          <a:xfrm>
            <a:off x="359520" y="4467797"/>
            <a:ext cx="2196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005BAC"/>
                </a:solidFill>
              </a:defRPr>
            </a:pPr>
            <a:r>
              <a:t>🔍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73DB474E-49AA-B902-630C-949E144586E1}"/>
              </a:ext>
            </a:extLst>
          </p:cNvPr>
          <p:cNvSpPr txBox="1"/>
          <p:nvPr/>
        </p:nvSpPr>
        <p:spPr>
          <a:xfrm>
            <a:off x="359520" y="4719797"/>
            <a:ext cx="2196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5BAC"/>
                </a:solidFill>
              </a:defRPr>
            </a:pPr>
            <a:r>
              <a:t>데이터 탐색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B30AC990-10A6-6213-1138-AB0B84B55844}"/>
              </a:ext>
            </a:extLst>
          </p:cNvPr>
          <p:cNvSpPr txBox="1"/>
          <p:nvPr/>
        </p:nvSpPr>
        <p:spPr>
          <a:xfrm>
            <a:off x="395519" y="4993150"/>
            <a:ext cx="2124000" cy="6052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sz="1000"/>
              <a:t>LangChain SQL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sz="1000"/>
              <a:t>Qwen3-Next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sz="1000"/>
              <a:t>Plotly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91F5F65-4487-7628-4961-50B64FC08FAB}"/>
              </a:ext>
            </a:extLst>
          </p:cNvPr>
          <p:cNvSpPr txBox="1"/>
          <p:nvPr/>
        </p:nvSpPr>
        <p:spPr>
          <a:xfrm>
            <a:off x="395519" y="5587382"/>
            <a:ext cx="2124000" cy="7848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666666"/>
                </a:solidFill>
              </a:defRPr>
            </a:pPr>
            <a:r>
              <a:rPr sz="1000"/>
              <a:t>Text-to-SQL 변환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66666"/>
                </a:solidFill>
              </a:defRPr>
            </a:pPr>
            <a:r>
              <a:rPr sz="1000"/>
              <a:t>CDW 자연어 질의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66666"/>
                </a:solidFill>
              </a:defRPr>
            </a:pPr>
            <a:r>
              <a:rPr sz="1000"/>
              <a:t>자동 시각화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66666"/>
                </a:solidFill>
              </a:defRPr>
            </a:pPr>
            <a:r>
              <a:rPr sz="1000"/>
              <a:t>Interactive Dashboard</a:t>
            </a:r>
          </a:p>
        </p:txBody>
      </p:sp>
      <p:sp>
        <p:nvSpPr>
          <p:cNvPr id="142" name="Rounded Rectangle 21">
            <a:extLst>
              <a:ext uri="{FF2B5EF4-FFF2-40B4-BE49-F238E27FC236}">
                <a16:creationId xmlns:a16="http://schemas.microsoft.com/office/drawing/2014/main" id="{E737C93C-1338-B056-D8E7-E448841655A0}"/>
              </a:ext>
            </a:extLst>
          </p:cNvPr>
          <p:cNvSpPr/>
          <p:nvPr/>
        </p:nvSpPr>
        <p:spPr>
          <a:xfrm>
            <a:off x="2807520" y="4395797"/>
            <a:ext cx="2340000" cy="1980000"/>
          </a:xfrm>
          <a:prstGeom prst="roundRect">
            <a:avLst/>
          </a:prstGeom>
          <a:solidFill>
            <a:srgbClr val="FFF0F5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459E2BF1-A6CC-A0ED-3461-D34F791BC33A}"/>
              </a:ext>
            </a:extLst>
          </p:cNvPr>
          <p:cNvSpPr txBox="1"/>
          <p:nvPr/>
        </p:nvSpPr>
        <p:spPr>
          <a:xfrm>
            <a:off x="2879519" y="4467797"/>
            <a:ext cx="2196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005BAC"/>
                </a:solidFill>
              </a:defRPr>
            </a:pPr>
            <a:r>
              <a:t>📝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0759DC8-1BA4-8278-B3E6-378086796651}"/>
              </a:ext>
            </a:extLst>
          </p:cNvPr>
          <p:cNvSpPr txBox="1"/>
          <p:nvPr/>
        </p:nvSpPr>
        <p:spPr>
          <a:xfrm>
            <a:off x="2879519" y="4719797"/>
            <a:ext cx="2196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005BAC"/>
                </a:solidFill>
              </a:defRPr>
            </a:pPr>
            <a:r>
              <a:t>요약 기능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F0EE8CD-A32F-5478-5E01-133C37D78268}"/>
              </a:ext>
            </a:extLst>
          </p:cNvPr>
          <p:cNvSpPr txBox="1"/>
          <p:nvPr/>
        </p:nvSpPr>
        <p:spPr>
          <a:xfrm>
            <a:off x="2915520" y="4993150"/>
            <a:ext cx="2124000" cy="60529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sz="1000"/>
              <a:t>Qwen3-Next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sz="1000"/>
              <a:t>LangChain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sz="1000"/>
              <a:t>Summarization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EB8C3AF-4A5F-CDBD-CF36-C651F8CBED93}"/>
              </a:ext>
            </a:extLst>
          </p:cNvPr>
          <p:cNvSpPr txBox="1"/>
          <p:nvPr/>
        </p:nvSpPr>
        <p:spPr>
          <a:xfrm>
            <a:off x="2915520" y="5587382"/>
            <a:ext cx="2124000" cy="7848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666666"/>
                </a:solidFill>
              </a:defRPr>
            </a:pPr>
            <a:r>
              <a:rPr sz="1000"/>
              <a:t>의무기록 요약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66666"/>
                </a:solidFill>
              </a:defRPr>
            </a:pPr>
            <a:r>
              <a:rPr sz="1000"/>
              <a:t>검사 결과 통합 분석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66666"/>
                </a:solidFill>
              </a:defRPr>
            </a:pPr>
            <a:r>
              <a:rPr sz="1000"/>
              <a:t>레포트 자동 작성</a:t>
            </a:r>
          </a:p>
          <a:p>
            <a:pPr algn="l">
              <a:spcAft>
                <a:spcPts val="200"/>
              </a:spcAft>
              <a:defRPr sz="850" b="0">
                <a:solidFill>
                  <a:srgbClr val="666666"/>
                </a:solidFill>
              </a:defRPr>
            </a:pPr>
            <a:r>
              <a:rPr sz="1000"/>
              <a:t>다국어 지원 (한↔영)</a:t>
            </a:r>
          </a:p>
        </p:txBody>
      </p:sp>
      <p:sp>
        <p:nvSpPr>
          <p:cNvPr id="147" name="Rounded Rectangle 27">
            <a:extLst>
              <a:ext uri="{FF2B5EF4-FFF2-40B4-BE49-F238E27FC236}">
                <a16:creationId xmlns:a16="http://schemas.microsoft.com/office/drawing/2014/main" id="{649EB294-0DCD-0CF4-814C-D7435ADBE3E3}"/>
              </a:ext>
            </a:extLst>
          </p:cNvPr>
          <p:cNvSpPr/>
          <p:nvPr/>
        </p:nvSpPr>
        <p:spPr>
          <a:xfrm>
            <a:off x="5327520" y="2235797"/>
            <a:ext cx="4235016" cy="262726"/>
          </a:xfrm>
          <a:prstGeom prst="roundRect">
            <a:avLst/>
          </a:prstGeom>
          <a:solidFill>
            <a:srgbClr val="999999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8882EBE-79DB-0E64-F0E1-722919F51009}"/>
              </a:ext>
            </a:extLst>
          </p:cNvPr>
          <p:cNvSpPr txBox="1"/>
          <p:nvPr/>
        </p:nvSpPr>
        <p:spPr>
          <a:xfrm>
            <a:off x="5445160" y="2244050"/>
            <a:ext cx="3999737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rPr dirty="0"/>
              <a:t>사용자 </a:t>
            </a:r>
            <a:r>
              <a:rPr dirty="0" err="1"/>
              <a:t>자연어</a:t>
            </a:r>
            <a:r>
              <a:rPr dirty="0"/>
              <a:t> </a:t>
            </a:r>
            <a:r>
              <a:rPr dirty="0" err="1"/>
              <a:t>질의</a:t>
            </a:r>
            <a:endParaRPr dirty="0"/>
          </a:p>
        </p:txBody>
      </p:sp>
      <p:sp>
        <p:nvSpPr>
          <p:cNvPr id="149" name="Down Arrow 29">
            <a:extLst>
              <a:ext uri="{FF2B5EF4-FFF2-40B4-BE49-F238E27FC236}">
                <a16:creationId xmlns:a16="http://schemas.microsoft.com/office/drawing/2014/main" id="{72F5FE01-5D7E-88DF-5A55-23B8526B48D8}"/>
              </a:ext>
            </a:extLst>
          </p:cNvPr>
          <p:cNvSpPr/>
          <p:nvPr/>
        </p:nvSpPr>
        <p:spPr>
          <a:xfrm>
            <a:off x="7337028" y="2562789"/>
            <a:ext cx="216000" cy="288000"/>
          </a:xfrm>
          <a:prstGeom prst="down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ounded Rectangle 30">
            <a:extLst>
              <a:ext uri="{FF2B5EF4-FFF2-40B4-BE49-F238E27FC236}">
                <a16:creationId xmlns:a16="http://schemas.microsoft.com/office/drawing/2014/main" id="{A83044FD-2498-0A52-7F75-941A9AD087EA}"/>
              </a:ext>
            </a:extLst>
          </p:cNvPr>
          <p:cNvSpPr/>
          <p:nvPr/>
        </p:nvSpPr>
        <p:spPr>
          <a:xfrm>
            <a:off x="5327520" y="2889781"/>
            <a:ext cx="4235016" cy="321110"/>
          </a:xfrm>
          <a:prstGeom prst="roundRect">
            <a:avLst/>
          </a:prstGeom>
          <a:solidFill>
            <a:srgbClr val="722ED1"/>
          </a:solidFill>
          <a:ln w="25400">
            <a:solidFill>
              <a:srgbClr val="501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F63E6DC4-16E3-F5F0-A65B-7ED17126013E}"/>
              </a:ext>
            </a:extLst>
          </p:cNvPr>
          <p:cNvSpPr txBox="1"/>
          <p:nvPr/>
        </p:nvSpPr>
        <p:spPr>
          <a:xfrm>
            <a:off x="5445160" y="2927226"/>
            <a:ext cx="3999737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rPr dirty="0" err="1"/>
              <a:t>LangChain</a:t>
            </a:r>
            <a:r>
              <a:rPr dirty="0"/>
              <a:t> Router Agent</a:t>
            </a:r>
          </a:p>
        </p:txBody>
      </p:sp>
      <p:sp>
        <p:nvSpPr>
          <p:cNvPr id="152" name="Down Arrow 32">
            <a:extLst>
              <a:ext uri="{FF2B5EF4-FFF2-40B4-BE49-F238E27FC236}">
                <a16:creationId xmlns:a16="http://schemas.microsoft.com/office/drawing/2014/main" id="{0C583D70-F566-FF5A-BA35-C1AAFDA56F13}"/>
              </a:ext>
            </a:extLst>
          </p:cNvPr>
          <p:cNvSpPr/>
          <p:nvPr/>
        </p:nvSpPr>
        <p:spPr>
          <a:xfrm>
            <a:off x="7338288" y="3271517"/>
            <a:ext cx="216000" cy="288000"/>
          </a:xfrm>
          <a:prstGeom prst="down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CC1B897-6A9D-AB91-6608-7299519CE395}"/>
              </a:ext>
            </a:extLst>
          </p:cNvPr>
          <p:cNvSpPr txBox="1"/>
          <p:nvPr/>
        </p:nvSpPr>
        <p:spPr>
          <a:xfrm>
            <a:off x="7520491" y="3307795"/>
            <a:ext cx="93600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00AEEF"/>
                </a:solidFill>
              </a:defRPr>
            </a:pPr>
            <a:r>
              <a:rPr dirty="0" err="1"/>
              <a:t>질의</a:t>
            </a:r>
            <a:r>
              <a:rPr dirty="0"/>
              <a:t> </a:t>
            </a:r>
            <a:r>
              <a:rPr lang="en-US" dirty="0"/>
              <a:t> </a:t>
            </a:r>
            <a:r>
              <a:rPr lang="ko-KR" altLang="en-US" dirty="0"/>
              <a:t>유형 </a:t>
            </a:r>
            <a:r>
              <a:rPr dirty="0" err="1"/>
              <a:t>분류</a:t>
            </a:r>
            <a:endParaRPr dirty="0"/>
          </a:p>
        </p:txBody>
      </p:sp>
      <p:sp>
        <p:nvSpPr>
          <p:cNvPr id="154" name="Rounded Rectangle 34">
            <a:extLst>
              <a:ext uri="{FF2B5EF4-FFF2-40B4-BE49-F238E27FC236}">
                <a16:creationId xmlns:a16="http://schemas.microsoft.com/office/drawing/2014/main" id="{09A23D7D-2EAF-6D8E-7591-F1FC8F3C8F5C}"/>
              </a:ext>
            </a:extLst>
          </p:cNvPr>
          <p:cNvSpPr/>
          <p:nvPr/>
        </p:nvSpPr>
        <p:spPr>
          <a:xfrm>
            <a:off x="5319742" y="3617257"/>
            <a:ext cx="4242794" cy="827999"/>
          </a:xfrm>
          <a:prstGeom prst="roundRect">
            <a:avLst/>
          </a:prstGeom>
          <a:solidFill>
            <a:srgbClr val="F0FA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D53D01AB-AB36-73E8-050D-8B2B2183F90C}"/>
              </a:ext>
            </a:extLst>
          </p:cNvPr>
          <p:cNvGrpSpPr/>
          <p:nvPr/>
        </p:nvGrpSpPr>
        <p:grpSpPr>
          <a:xfrm>
            <a:off x="5396401" y="3725257"/>
            <a:ext cx="989378" cy="612000"/>
            <a:chOff x="6578210" y="3725257"/>
            <a:chExt cx="540000" cy="612000"/>
          </a:xfrm>
        </p:grpSpPr>
        <p:sp>
          <p:nvSpPr>
            <p:cNvPr id="155" name="Rounded Rectangle 35">
              <a:extLst>
                <a:ext uri="{FF2B5EF4-FFF2-40B4-BE49-F238E27FC236}">
                  <a16:creationId xmlns:a16="http://schemas.microsoft.com/office/drawing/2014/main" id="{D4DC19A2-76BE-E8BA-5E8D-C5FE5C4A67D7}"/>
                </a:ext>
              </a:extLst>
            </p:cNvPr>
            <p:cNvSpPr/>
            <p:nvPr/>
          </p:nvSpPr>
          <p:spPr>
            <a:xfrm>
              <a:off x="6578210" y="3725257"/>
              <a:ext cx="540000" cy="612000"/>
            </a:xfrm>
            <a:prstGeom prst="roundRect">
              <a:avLst/>
            </a:prstGeom>
            <a:solidFill>
              <a:srgbClr val="C8E6FF"/>
            </a:solidFill>
            <a:ln w="1270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5A4613C2-E668-446D-D5A4-F50765C26572}"/>
                </a:ext>
              </a:extLst>
            </p:cNvPr>
            <p:cNvSpPr txBox="1"/>
            <p:nvPr/>
          </p:nvSpPr>
          <p:spPr>
            <a:xfrm>
              <a:off x="6614208" y="3764146"/>
              <a:ext cx="468000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1">
                  <a:solidFill>
                    <a:srgbClr val="333333"/>
                  </a:solidFill>
                </a:defRPr>
              </a:pPr>
              <a:r>
                <a:rPr sz="1000" dirty="0" err="1"/>
                <a:t>질의응답</a:t>
              </a:r>
              <a:endParaRPr sz="1000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1CF7FC9B-EAF6-20AE-FFD4-FAF888B194AC}"/>
                </a:ext>
              </a:extLst>
            </p:cNvPr>
            <p:cNvSpPr txBox="1"/>
            <p:nvPr/>
          </p:nvSpPr>
          <p:spPr>
            <a:xfrm>
              <a:off x="6614209" y="4016146"/>
              <a:ext cx="468000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0">
                  <a:solidFill>
                    <a:srgbClr val="333333"/>
                  </a:solidFill>
                </a:defRPr>
              </a:pPr>
              <a:r>
                <a:rPr sz="1000" dirty="0" err="1"/>
                <a:t>ChromaDB</a:t>
              </a:r>
              <a:endParaRPr sz="1000" dirty="0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9E69CE3E-292E-BECD-3CEF-41545DB99379}"/>
              </a:ext>
            </a:extLst>
          </p:cNvPr>
          <p:cNvGrpSpPr/>
          <p:nvPr/>
        </p:nvGrpSpPr>
        <p:grpSpPr>
          <a:xfrm>
            <a:off x="6431095" y="3725257"/>
            <a:ext cx="989378" cy="612000"/>
            <a:chOff x="7535268" y="3725257"/>
            <a:chExt cx="540000" cy="612000"/>
          </a:xfrm>
        </p:grpSpPr>
        <p:sp>
          <p:nvSpPr>
            <p:cNvPr id="158" name="Rounded Rectangle 38">
              <a:extLst>
                <a:ext uri="{FF2B5EF4-FFF2-40B4-BE49-F238E27FC236}">
                  <a16:creationId xmlns:a16="http://schemas.microsoft.com/office/drawing/2014/main" id="{89BFF71B-1DD9-52AC-B159-21A3F17500B1}"/>
                </a:ext>
              </a:extLst>
            </p:cNvPr>
            <p:cNvSpPr/>
            <p:nvPr/>
          </p:nvSpPr>
          <p:spPr>
            <a:xfrm>
              <a:off x="7535268" y="3725257"/>
              <a:ext cx="540000" cy="612000"/>
            </a:xfrm>
            <a:prstGeom prst="roundRect">
              <a:avLst/>
            </a:prstGeom>
            <a:solidFill>
              <a:srgbClr val="DCFFDC"/>
            </a:solidFill>
            <a:ln w="1270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F3017D54-1540-BE4C-082C-235875EBF01E}"/>
                </a:ext>
              </a:extLst>
            </p:cNvPr>
            <p:cNvSpPr txBox="1"/>
            <p:nvPr/>
          </p:nvSpPr>
          <p:spPr>
            <a:xfrm>
              <a:off x="7571268" y="3761257"/>
              <a:ext cx="468000" cy="25199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1">
                  <a:solidFill>
                    <a:srgbClr val="333333"/>
                  </a:solidFill>
                </a:defRPr>
              </a:pPr>
              <a:r>
                <a:rPr sz="1000" dirty="0" err="1"/>
                <a:t>탐색</a:t>
              </a:r>
              <a:endParaRPr sz="10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1FE3A65F-7C9F-A530-2389-B7C926C5A8FC}"/>
                </a:ext>
              </a:extLst>
            </p:cNvPr>
            <p:cNvSpPr txBox="1"/>
            <p:nvPr/>
          </p:nvSpPr>
          <p:spPr>
            <a:xfrm>
              <a:off x="7571268" y="4013257"/>
              <a:ext cx="468000" cy="25199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0">
                  <a:solidFill>
                    <a:srgbClr val="333333"/>
                  </a:solidFill>
                </a:defRPr>
              </a:pPr>
              <a:r>
                <a:t>SQL</a:t>
              </a: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DD5530F8-08DD-9F1D-EADB-6C90CCDDA635}"/>
              </a:ext>
            </a:extLst>
          </p:cNvPr>
          <p:cNvGrpSpPr/>
          <p:nvPr/>
        </p:nvGrpSpPr>
        <p:grpSpPr>
          <a:xfrm>
            <a:off x="7465778" y="3687202"/>
            <a:ext cx="989378" cy="650055"/>
            <a:chOff x="8302536" y="3687202"/>
            <a:chExt cx="540000" cy="650055"/>
          </a:xfrm>
        </p:grpSpPr>
        <p:sp>
          <p:nvSpPr>
            <p:cNvPr id="161" name="Rounded Rectangle 41">
              <a:extLst>
                <a:ext uri="{FF2B5EF4-FFF2-40B4-BE49-F238E27FC236}">
                  <a16:creationId xmlns:a16="http://schemas.microsoft.com/office/drawing/2014/main" id="{DDF06556-4C6E-5451-7E51-D1B16D9EF2B7}"/>
                </a:ext>
              </a:extLst>
            </p:cNvPr>
            <p:cNvSpPr/>
            <p:nvPr/>
          </p:nvSpPr>
          <p:spPr>
            <a:xfrm>
              <a:off x="8302536" y="3725257"/>
              <a:ext cx="540000" cy="612000"/>
            </a:xfrm>
            <a:prstGeom prst="roundRect">
              <a:avLst/>
            </a:prstGeom>
            <a:solidFill>
              <a:srgbClr val="FFF0DC"/>
            </a:solidFill>
            <a:ln w="1270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A5554CE3-6BB2-3B58-C1B2-64D2DC99AF8C}"/>
                </a:ext>
              </a:extLst>
            </p:cNvPr>
            <p:cNvSpPr txBox="1"/>
            <p:nvPr/>
          </p:nvSpPr>
          <p:spPr>
            <a:xfrm>
              <a:off x="8338536" y="3687202"/>
              <a:ext cx="468000" cy="40011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1">
                  <a:solidFill>
                    <a:srgbClr val="333333"/>
                  </a:solidFill>
                </a:defRPr>
              </a:pPr>
              <a:r>
                <a:rPr sz="1000" dirty="0" err="1"/>
                <a:t>마이닝</a:t>
              </a:r>
              <a:endParaRPr sz="1000" dirty="0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C6C7D51B-4B97-4981-69FE-0F780AB2DC4B}"/>
                </a:ext>
              </a:extLst>
            </p:cNvPr>
            <p:cNvSpPr txBox="1"/>
            <p:nvPr/>
          </p:nvSpPr>
          <p:spPr>
            <a:xfrm>
              <a:off x="8338536" y="4016146"/>
              <a:ext cx="468000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0">
                  <a:solidFill>
                    <a:srgbClr val="333333"/>
                  </a:solidFill>
                </a:defRPr>
              </a:pPr>
              <a:r>
                <a:rPr sz="1000" dirty="0" err="1"/>
                <a:t>BioBERT</a:t>
              </a:r>
              <a:endParaRPr sz="1000" dirty="0"/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E04FFD1F-71AA-8391-17F2-FCAD42467C7B}"/>
              </a:ext>
            </a:extLst>
          </p:cNvPr>
          <p:cNvGrpSpPr/>
          <p:nvPr/>
        </p:nvGrpSpPr>
        <p:grpSpPr>
          <a:xfrm>
            <a:off x="8500468" y="3725257"/>
            <a:ext cx="989378" cy="612000"/>
            <a:chOff x="8914536" y="3725257"/>
            <a:chExt cx="540000" cy="612000"/>
          </a:xfrm>
        </p:grpSpPr>
        <p:sp>
          <p:nvSpPr>
            <p:cNvPr id="164" name="Rounded Rectangle 44">
              <a:extLst>
                <a:ext uri="{FF2B5EF4-FFF2-40B4-BE49-F238E27FC236}">
                  <a16:creationId xmlns:a16="http://schemas.microsoft.com/office/drawing/2014/main" id="{15E97B96-B099-7B4E-5530-8DB1189E4684}"/>
                </a:ext>
              </a:extLst>
            </p:cNvPr>
            <p:cNvSpPr/>
            <p:nvPr/>
          </p:nvSpPr>
          <p:spPr>
            <a:xfrm>
              <a:off x="8914536" y="3725257"/>
              <a:ext cx="540000" cy="612000"/>
            </a:xfrm>
            <a:prstGeom prst="roundRect">
              <a:avLst/>
            </a:prstGeom>
            <a:solidFill>
              <a:srgbClr val="FFE6F0"/>
            </a:solidFill>
            <a:ln w="12700">
              <a:solidFill>
                <a:srgbClr val="66666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83099BA8-FEDA-EC8E-AF66-0D0D757D03EC}"/>
                </a:ext>
              </a:extLst>
            </p:cNvPr>
            <p:cNvSpPr txBox="1"/>
            <p:nvPr/>
          </p:nvSpPr>
          <p:spPr>
            <a:xfrm>
              <a:off x="8950536" y="3761257"/>
              <a:ext cx="468000" cy="25199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1">
                  <a:solidFill>
                    <a:srgbClr val="333333"/>
                  </a:solidFill>
                </a:defRPr>
              </a:pPr>
              <a:r>
                <a:rPr sz="1000"/>
                <a:t>요약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A08A1771-1364-DB0E-DB95-7ECE71D1E18E}"/>
                </a:ext>
              </a:extLst>
            </p:cNvPr>
            <p:cNvSpPr txBox="1"/>
            <p:nvPr/>
          </p:nvSpPr>
          <p:spPr>
            <a:xfrm>
              <a:off x="8950536" y="4016146"/>
              <a:ext cx="468000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800" b="0">
                  <a:solidFill>
                    <a:srgbClr val="333333"/>
                  </a:solidFill>
                </a:defRPr>
              </a:pPr>
              <a:r>
                <a:rPr sz="1000" dirty="0"/>
                <a:t>Qwen3</a:t>
              </a:r>
            </a:p>
          </p:txBody>
        </p:sp>
      </p:grpSp>
      <p:sp>
        <p:nvSpPr>
          <p:cNvPr id="167" name="Down Arrow 47">
            <a:extLst>
              <a:ext uri="{FF2B5EF4-FFF2-40B4-BE49-F238E27FC236}">
                <a16:creationId xmlns:a16="http://schemas.microsoft.com/office/drawing/2014/main" id="{ED279796-C4D1-6316-ABCC-4AA868EA11F1}"/>
              </a:ext>
            </a:extLst>
          </p:cNvPr>
          <p:cNvSpPr/>
          <p:nvPr/>
        </p:nvSpPr>
        <p:spPr>
          <a:xfrm>
            <a:off x="7337028" y="4491379"/>
            <a:ext cx="216000" cy="288000"/>
          </a:xfrm>
          <a:prstGeom prst="down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ounded Rectangle 48">
            <a:extLst>
              <a:ext uri="{FF2B5EF4-FFF2-40B4-BE49-F238E27FC236}">
                <a16:creationId xmlns:a16="http://schemas.microsoft.com/office/drawing/2014/main" id="{85B49DA9-A8ED-1C47-4869-EEFE198EE9C8}"/>
              </a:ext>
            </a:extLst>
          </p:cNvPr>
          <p:cNvSpPr/>
          <p:nvPr/>
        </p:nvSpPr>
        <p:spPr>
          <a:xfrm>
            <a:off x="5327520" y="4801119"/>
            <a:ext cx="4235016" cy="32400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32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6DEF8F2-85C7-A03F-795A-BDAF743776BF}"/>
              </a:ext>
            </a:extLst>
          </p:cNvPr>
          <p:cNvSpPr txBox="1"/>
          <p:nvPr/>
        </p:nvSpPr>
        <p:spPr>
          <a:xfrm>
            <a:off x="5445160" y="4840009"/>
            <a:ext cx="3999737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응답</a:t>
            </a:r>
            <a:r>
              <a:rPr dirty="0"/>
              <a:t> </a:t>
            </a:r>
            <a:r>
              <a:rPr dirty="0" err="1"/>
              <a:t>생성</a:t>
            </a:r>
            <a:endParaRPr dirty="0"/>
          </a:p>
        </p:txBody>
      </p:sp>
      <p:sp>
        <p:nvSpPr>
          <p:cNvPr id="170" name="Down Arrow 50">
            <a:extLst>
              <a:ext uri="{FF2B5EF4-FFF2-40B4-BE49-F238E27FC236}">
                <a16:creationId xmlns:a16="http://schemas.microsoft.com/office/drawing/2014/main" id="{6407AEDD-07AC-D938-4977-ED896015F38A}"/>
              </a:ext>
            </a:extLst>
          </p:cNvPr>
          <p:cNvSpPr/>
          <p:nvPr/>
        </p:nvSpPr>
        <p:spPr>
          <a:xfrm>
            <a:off x="7337028" y="5153989"/>
            <a:ext cx="216000" cy="288000"/>
          </a:xfrm>
          <a:prstGeom prst="down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ounded Rectangle 51">
            <a:extLst>
              <a:ext uri="{FF2B5EF4-FFF2-40B4-BE49-F238E27FC236}">
                <a16:creationId xmlns:a16="http://schemas.microsoft.com/office/drawing/2014/main" id="{DDE354FF-7DDD-AADF-5E45-693C6B2C7966}"/>
              </a:ext>
            </a:extLst>
          </p:cNvPr>
          <p:cNvSpPr/>
          <p:nvPr/>
        </p:nvSpPr>
        <p:spPr>
          <a:xfrm>
            <a:off x="5327520" y="5463729"/>
            <a:ext cx="4235016" cy="324000"/>
          </a:xfrm>
          <a:prstGeom prst="roundRect">
            <a:avLst/>
          </a:prstGeom>
          <a:solidFill>
            <a:srgbClr val="FAAD14"/>
          </a:solidFill>
          <a:ln w="25400">
            <a:solidFill>
              <a:srgbClr val="C8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35D21D5-9C0B-F6EC-81E9-ECB6AE86A68E}"/>
              </a:ext>
            </a:extLst>
          </p:cNvPr>
          <p:cNvSpPr txBox="1"/>
          <p:nvPr/>
        </p:nvSpPr>
        <p:spPr>
          <a:xfrm>
            <a:off x="5445160" y="5502619"/>
            <a:ext cx="3999737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 err="1"/>
              <a:t>FastAPI</a:t>
            </a:r>
            <a:r>
              <a:rPr dirty="0"/>
              <a:t> + WebSocket</a:t>
            </a:r>
          </a:p>
        </p:txBody>
      </p:sp>
      <p:sp>
        <p:nvSpPr>
          <p:cNvPr id="173" name="Down Arrow 53">
            <a:extLst>
              <a:ext uri="{FF2B5EF4-FFF2-40B4-BE49-F238E27FC236}">
                <a16:creationId xmlns:a16="http://schemas.microsoft.com/office/drawing/2014/main" id="{AF7FBC5A-9104-294F-8E39-47DA3DA310EE}"/>
              </a:ext>
            </a:extLst>
          </p:cNvPr>
          <p:cNvSpPr/>
          <p:nvPr/>
        </p:nvSpPr>
        <p:spPr>
          <a:xfrm>
            <a:off x="7337028" y="5825220"/>
            <a:ext cx="216000" cy="288000"/>
          </a:xfrm>
          <a:prstGeom prst="down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ounded Rectangle 54">
            <a:extLst>
              <a:ext uri="{FF2B5EF4-FFF2-40B4-BE49-F238E27FC236}">
                <a16:creationId xmlns:a16="http://schemas.microsoft.com/office/drawing/2014/main" id="{8F5C6BB1-4C79-D13B-9C13-A1ABE7F192AD}"/>
              </a:ext>
            </a:extLst>
          </p:cNvPr>
          <p:cNvSpPr/>
          <p:nvPr/>
        </p:nvSpPr>
        <p:spPr>
          <a:xfrm>
            <a:off x="5327520" y="6134965"/>
            <a:ext cx="4235016" cy="324000"/>
          </a:xfrm>
          <a:prstGeom prst="roundRect">
            <a:avLst/>
          </a:prstGeom>
          <a:solidFill>
            <a:srgbClr val="6496C8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A83F1632-5475-391E-F592-CE12199092C0}"/>
              </a:ext>
            </a:extLst>
          </p:cNvPr>
          <p:cNvSpPr txBox="1"/>
          <p:nvPr/>
        </p:nvSpPr>
        <p:spPr>
          <a:xfrm>
            <a:off x="5445160" y="6173855"/>
            <a:ext cx="3999737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사용자 인터페이스</a:t>
            </a:r>
          </a:p>
        </p:txBody>
      </p:sp>
      <p:sp>
        <p:nvSpPr>
          <p:cNvPr id="177" name="직사각형 133">
            <a:extLst>
              <a:ext uri="{FF2B5EF4-FFF2-40B4-BE49-F238E27FC236}">
                <a16:creationId xmlns:a16="http://schemas.microsoft.com/office/drawing/2014/main" id="{6C4DF4D1-F69C-E549-B2A7-97DE11DDD7C4}"/>
              </a:ext>
            </a:extLst>
          </p:cNvPr>
          <p:cNvSpPr/>
          <p:nvPr/>
        </p:nvSpPr>
        <p:spPr>
          <a:xfrm>
            <a:off x="272483" y="1908297"/>
            <a:ext cx="4944045" cy="289239"/>
          </a:xfrm>
          <a:prstGeom prst="rect">
            <a:avLst/>
          </a:prstGeom>
          <a:solidFill>
            <a:srgbClr val="0066AC"/>
          </a:solidFill>
          <a:ln w="6350">
            <a:noFill/>
          </a:ln>
        </p:spPr>
        <p:txBody>
          <a:bodyPr vert="horz" wrap="square" lIns="3600" tIns="3600" rIns="3600" bIns="36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임상 현장 최적화 </a:t>
            </a:r>
            <a:r>
              <a:rPr lang="en-US" altLang="ko-KR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AI </a:t>
            </a:r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기능</a:t>
            </a:r>
          </a:p>
        </p:txBody>
      </p:sp>
    </p:spTree>
    <p:extLst>
      <p:ext uri="{BB962C8B-B14F-4D97-AF65-F5344CB8AC3E}">
        <p14:creationId xmlns:p14="http://schemas.microsoft.com/office/powerpoint/2010/main" val="91425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AEA56-38EA-8AE7-F83A-20113FDA0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37DC545D-29B8-0C99-FA32-ABCB7B90305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8.2 AI </a:t>
            </a:r>
            <a:r>
              <a:rPr lang="ko-KR" altLang="en-US" dirty="0"/>
              <a:t>활용 기능 개발 </a:t>
            </a:r>
            <a:r>
              <a:rPr lang="en-US" altLang="ko-KR" dirty="0"/>
              <a:t>(2/4)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781BC5C5-F1B2-6B5F-191C-42C281AA8A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8. AI </a:t>
            </a:r>
            <a:r>
              <a:rPr lang="ko-KR" altLang="en-US" dirty="0"/>
              <a:t>적용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0DF214B-B5A4-0CFF-ACA5-7E4FA8B904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병원 내 데이터 기반 의사 결정 및 분석을 지원하는 임상 현장에 최적화된 </a:t>
            </a:r>
            <a:r>
              <a:rPr lang="en-US" altLang="ko-KR" dirty="0"/>
              <a:t>AI </a:t>
            </a:r>
            <a:r>
              <a:rPr lang="ko-KR" altLang="en-US" dirty="0"/>
              <a:t>기능들을 단계적으로 구현하여 의료진의 진단 정확도 향상과 업무 부담 경감을 동시에 달성하겠습니다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A5707E75-2AA4-94F8-2F55-42AE20B4B5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en-US" altLang="ko-KR" dirty="0"/>
              <a:t>RAG </a:t>
            </a:r>
            <a:r>
              <a:rPr lang="ko-KR" altLang="en-US" dirty="0"/>
              <a:t>및 문서 처리 시스템 </a:t>
            </a:r>
            <a:r>
              <a:rPr lang="en-US" altLang="ko-KR" dirty="0"/>
              <a:t>(Document Processing &amp; RAG Pipeline)</a:t>
            </a:r>
            <a:endParaRPr lang="ko-KR" altLang="en-US" dirty="0"/>
          </a:p>
        </p:txBody>
      </p:sp>
      <p:sp>
        <p:nvSpPr>
          <p:cNvPr id="90" name="직사각형 132">
            <a:extLst>
              <a:ext uri="{FF2B5EF4-FFF2-40B4-BE49-F238E27FC236}">
                <a16:creationId xmlns:a16="http://schemas.microsoft.com/office/drawing/2014/main" id="{086E4002-2EB9-78A9-B285-E6CBD324A278}"/>
              </a:ext>
            </a:extLst>
          </p:cNvPr>
          <p:cNvSpPr/>
          <p:nvPr/>
        </p:nvSpPr>
        <p:spPr>
          <a:xfrm>
            <a:off x="7448658" y="1900424"/>
            <a:ext cx="2170325" cy="45525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91" name="직사각형 133">
            <a:extLst>
              <a:ext uri="{FF2B5EF4-FFF2-40B4-BE49-F238E27FC236}">
                <a16:creationId xmlns:a16="http://schemas.microsoft.com/office/drawing/2014/main" id="{890C781F-F815-9FFB-FBA4-A1ABB4F5BCCB}"/>
              </a:ext>
            </a:extLst>
          </p:cNvPr>
          <p:cNvSpPr/>
          <p:nvPr/>
        </p:nvSpPr>
        <p:spPr>
          <a:xfrm>
            <a:off x="7448658" y="1908297"/>
            <a:ext cx="2175111" cy="289239"/>
          </a:xfrm>
          <a:prstGeom prst="rect">
            <a:avLst/>
          </a:prstGeom>
          <a:solidFill>
            <a:srgbClr val="0066AC"/>
          </a:solidFill>
          <a:ln w="6350">
            <a:noFill/>
          </a:ln>
        </p:spPr>
        <p:txBody>
          <a:bodyPr vert="horz" wrap="square" lIns="3600" tIns="3600" rIns="3600" bIns="36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RAG </a:t>
            </a:r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파이프라인 전체 흐름</a:t>
            </a:r>
          </a:p>
        </p:txBody>
      </p:sp>
      <p:grpSp>
        <p:nvGrpSpPr>
          <p:cNvPr id="34" name="그룹 151">
            <a:extLst>
              <a:ext uri="{FF2B5EF4-FFF2-40B4-BE49-F238E27FC236}">
                <a16:creationId xmlns:a16="http://schemas.microsoft.com/office/drawing/2014/main" id="{8A04FA01-3CCA-A77C-A34C-62EE8619FF84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35" name="모서리가 둥근 직사각형 20">
              <a:extLst>
                <a:ext uri="{FF2B5EF4-FFF2-40B4-BE49-F238E27FC236}">
                  <a16:creationId xmlns:a16="http://schemas.microsoft.com/office/drawing/2014/main" id="{CB2C94B0-E774-75DB-8A0B-7EC4AAFDA2D2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6" name="직사각형 153">
              <a:extLst>
                <a:ext uri="{FF2B5EF4-FFF2-40B4-BE49-F238E27FC236}">
                  <a16:creationId xmlns:a16="http://schemas.microsoft.com/office/drawing/2014/main" id="{D10D7F75-D1A3-E650-B1B3-594B39B78F2A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AAR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-002</a:t>
              </a:r>
            </a:p>
          </p:txBody>
        </p:sp>
        <p:sp>
          <p:nvSpPr>
            <p:cNvPr id="37" name="직사각형 154">
              <a:extLst>
                <a:ext uri="{FF2B5EF4-FFF2-40B4-BE49-F238E27FC236}">
                  <a16:creationId xmlns:a16="http://schemas.microsoft.com/office/drawing/2014/main" id="{A7DD79C7-FDD2-9A66-6A88-C83005EAEAB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38" name="직선 연결선 155">
              <a:extLst>
                <a:ext uri="{FF2B5EF4-FFF2-40B4-BE49-F238E27FC236}">
                  <a16:creationId xmlns:a16="http://schemas.microsoft.com/office/drawing/2014/main" id="{82C3D6C4-39BD-E00B-9163-5AFE08F47F60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Rounded Rectangle 6">
            <a:extLst>
              <a:ext uri="{FF2B5EF4-FFF2-40B4-BE49-F238E27FC236}">
                <a16:creationId xmlns:a16="http://schemas.microsoft.com/office/drawing/2014/main" id="{BE955432-E753-1459-19A3-AC25431A66AA}"/>
              </a:ext>
            </a:extLst>
          </p:cNvPr>
          <p:cNvSpPr/>
          <p:nvPr/>
        </p:nvSpPr>
        <p:spPr>
          <a:xfrm>
            <a:off x="900000" y="2306295"/>
            <a:ext cx="2700000" cy="1007999"/>
          </a:xfrm>
          <a:prstGeom prst="roundRect">
            <a:avLst/>
          </a:prstGeom>
          <a:solidFill>
            <a:srgbClr val="E6F5FF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F3C2F22-0BC4-5383-0F0B-F495AC1435F7}"/>
              </a:ext>
            </a:extLst>
          </p:cNvPr>
          <p:cNvSpPr/>
          <p:nvPr/>
        </p:nvSpPr>
        <p:spPr>
          <a:xfrm>
            <a:off x="1007999" y="2414295"/>
            <a:ext cx="288000" cy="288000"/>
          </a:xfrm>
          <a:prstGeom prst="ellipse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C9CE11-E9C3-EB55-16DD-4A1D8AB2FBEA}"/>
              </a:ext>
            </a:extLst>
          </p:cNvPr>
          <p:cNvSpPr txBox="1"/>
          <p:nvPr/>
        </p:nvSpPr>
        <p:spPr>
          <a:xfrm>
            <a:off x="1007999" y="2414295"/>
            <a:ext cx="288000" cy="28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D880FE-D2CD-8C27-A65B-EA27680A60D7}"/>
              </a:ext>
            </a:extLst>
          </p:cNvPr>
          <p:cNvSpPr txBox="1"/>
          <p:nvPr/>
        </p:nvSpPr>
        <p:spPr>
          <a:xfrm>
            <a:off x="1368000" y="2432295"/>
            <a:ext cx="2124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005BAC"/>
                </a:solidFill>
              </a:defRPr>
            </a:pPr>
            <a:r>
              <a:t>다형식 문서 파싱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9C1D56-A29C-F6AE-C4E7-1F52F63128A9}"/>
              </a:ext>
            </a:extLst>
          </p:cNvPr>
          <p:cNvSpPr txBox="1"/>
          <p:nvPr/>
        </p:nvSpPr>
        <p:spPr>
          <a:xfrm>
            <a:off x="1007999" y="2738295"/>
            <a:ext cx="2484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PDF, DOCX, HWP, TXT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PyMuPDF, pdfplumber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Tesseract OCR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표/이미지 추출</a:t>
            </a:r>
          </a:p>
        </p:txBody>
      </p:sp>
      <p:sp>
        <p:nvSpPr>
          <p:cNvPr id="45" name="Rounded Rectangle 11">
            <a:extLst>
              <a:ext uri="{FF2B5EF4-FFF2-40B4-BE49-F238E27FC236}">
                <a16:creationId xmlns:a16="http://schemas.microsoft.com/office/drawing/2014/main" id="{172DC2A9-CA50-3AD0-0DF2-9587A97186D9}"/>
              </a:ext>
            </a:extLst>
          </p:cNvPr>
          <p:cNvSpPr/>
          <p:nvPr/>
        </p:nvSpPr>
        <p:spPr>
          <a:xfrm>
            <a:off x="4116420" y="2306295"/>
            <a:ext cx="2700000" cy="1007999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0F7DE40-A6BE-93F1-83FE-26423664AE86}"/>
              </a:ext>
            </a:extLst>
          </p:cNvPr>
          <p:cNvSpPr/>
          <p:nvPr/>
        </p:nvSpPr>
        <p:spPr>
          <a:xfrm>
            <a:off x="4224420" y="2414295"/>
            <a:ext cx="288000" cy="288000"/>
          </a:xfrm>
          <a:prstGeom prst="ellipse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EF81ED-711C-91BA-67D6-E3F55FF573F3}"/>
              </a:ext>
            </a:extLst>
          </p:cNvPr>
          <p:cNvSpPr txBox="1"/>
          <p:nvPr/>
        </p:nvSpPr>
        <p:spPr>
          <a:xfrm>
            <a:off x="4224420" y="2414295"/>
            <a:ext cx="288000" cy="28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7D8E119-167F-13A8-9294-56D25882C5C5}"/>
              </a:ext>
            </a:extLst>
          </p:cNvPr>
          <p:cNvSpPr txBox="1"/>
          <p:nvPr/>
        </p:nvSpPr>
        <p:spPr>
          <a:xfrm>
            <a:off x="4584420" y="2432295"/>
            <a:ext cx="2124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005BAC"/>
                </a:solidFill>
              </a:defRPr>
            </a:pPr>
            <a:r>
              <a:t>문서 구조 이해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17DD00-1524-4BB7-BCCC-D7334234E8C4}"/>
              </a:ext>
            </a:extLst>
          </p:cNvPr>
          <p:cNvSpPr txBox="1"/>
          <p:nvPr/>
        </p:nvSpPr>
        <p:spPr>
          <a:xfrm>
            <a:off x="4224420" y="2738295"/>
            <a:ext cx="2484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Semantic Chunking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Heading Detection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Parent-Child 관계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LlamaIndex</a:t>
            </a:r>
          </a:p>
        </p:txBody>
      </p:sp>
      <p:sp>
        <p:nvSpPr>
          <p:cNvPr id="50" name="Rounded Rectangle 16">
            <a:extLst>
              <a:ext uri="{FF2B5EF4-FFF2-40B4-BE49-F238E27FC236}">
                <a16:creationId xmlns:a16="http://schemas.microsoft.com/office/drawing/2014/main" id="{DDCC0757-6649-1286-B262-15FA51D23195}"/>
              </a:ext>
            </a:extLst>
          </p:cNvPr>
          <p:cNvSpPr/>
          <p:nvPr/>
        </p:nvSpPr>
        <p:spPr>
          <a:xfrm>
            <a:off x="900000" y="3742963"/>
            <a:ext cx="2700000" cy="1007999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F42749C6-DD0E-B76E-A41D-384C422E24D5}"/>
              </a:ext>
            </a:extLst>
          </p:cNvPr>
          <p:cNvSpPr/>
          <p:nvPr/>
        </p:nvSpPr>
        <p:spPr>
          <a:xfrm>
            <a:off x="1007999" y="3850963"/>
            <a:ext cx="288000" cy="288000"/>
          </a:xfrm>
          <a:prstGeom prst="ellipse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BFCDBC-C98F-FB79-343D-5AC61B38D1AC}"/>
              </a:ext>
            </a:extLst>
          </p:cNvPr>
          <p:cNvSpPr txBox="1"/>
          <p:nvPr/>
        </p:nvSpPr>
        <p:spPr>
          <a:xfrm>
            <a:off x="1007999" y="3850963"/>
            <a:ext cx="288000" cy="28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0426D0-3ECD-CF6A-C012-5D679D7A99CA}"/>
              </a:ext>
            </a:extLst>
          </p:cNvPr>
          <p:cNvSpPr txBox="1"/>
          <p:nvPr/>
        </p:nvSpPr>
        <p:spPr>
          <a:xfrm>
            <a:off x="1368000" y="3868962"/>
            <a:ext cx="2124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005BAC"/>
                </a:solidFill>
              </a:defRPr>
            </a:pPr>
            <a:r>
              <a:t>메타정보 자동 생성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161C7D1-2E0D-89EB-C93F-CD2BFF0E314C}"/>
              </a:ext>
            </a:extLst>
          </p:cNvPr>
          <p:cNvSpPr txBox="1"/>
          <p:nvPr/>
        </p:nvSpPr>
        <p:spPr>
          <a:xfrm>
            <a:off x="1007999" y="4174962"/>
            <a:ext cx="2484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KeyBERT 키워드 추출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문서 분류/태깅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YAKE 통계 분석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Presidio PHI 탐지</a:t>
            </a:r>
          </a:p>
        </p:txBody>
      </p:sp>
      <p:sp>
        <p:nvSpPr>
          <p:cNvPr id="55" name="Rounded Rectangle 21">
            <a:extLst>
              <a:ext uri="{FF2B5EF4-FFF2-40B4-BE49-F238E27FC236}">
                <a16:creationId xmlns:a16="http://schemas.microsoft.com/office/drawing/2014/main" id="{D8CF21C8-9EB7-4923-6109-961A4B80BAF4}"/>
              </a:ext>
            </a:extLst>
          </p:cNvPr>
          <p:cNvSpPr/>
          <p:nvPr/>
        </p:nvSpPr>
        <p:spPr>
          <a:xfrm>
            <a:off x="4116420" y="3742963"/>
            <a:ext cx="2700000" cy="1007999"/>
          </a:xfrm>
          <a:prstGeom prst="roundRect">
            <a:avLst/>
          </a:prstGeom>
          <a:solidFill>
            <a:srgbClr val="FFF0F5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521FA3CF-7486-02AF-5CD4-FF4F5EC9BC3A}"/>
              </a:ext>
            </a:extLst>
          </p:cNvPr>
          <p:cNvSpPr/>
          <p:nvPr/>
        </p:nvSpPr>
        <p:spPr>
          <a:xfrm>
            <a:off x="4224420" y="3850963"/>
            <a:ext cx="288000" cy="288000"/>
          </a:xfrm>
          <a:prstGeom prst="ellipse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CF7440-6F23-ED82-7AF6-5B369F5A0180}"/>
              </a:ext>
            </a:extLst>
          </p:cNvPr>
          <p:cNvSpPr txBox="1"/>
          <p:nvPr/>
        </p:nvSpPr>
        <p:spPr>
          <a:xfrm>
            <a:off x="4224420" y="3850963"/>
            <a:ext cx="288000" cy="288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43B88F2-4AB2-29EC-BA9B-929799CFF071}"/>
              </a:ext>
            </a:extLst>
          </p:cNvPr>
          <p:cNvSpPr txBox="1"/>
          <p:nvPr/>
        </p:nvSpPr>
        <p:spPr>
          <a:xfrm>
            <a:off x="4584420" y="3868962"/>
            <a:ext cx="2124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005BAC"/>
                </a:solidFill>
              </a:defRPr>
            </a:pPr>
            <a:r>
              <a:t>카탈로그 연계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09B445-20B7-3E22-E303-D6E594D8839F}"/>
              </a:ext>
            </a:extLst>
          </p:cNvPr>
          <p:cNvSpPr txBox="1"/>
          <p:nvPr/>
        </p:nvSpPr>
        <p:spPr>
          <a:xfrm>
            <a:off x="4224420" y="4174962"/>
            <a:ext cx="2484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Apache Atlas 등록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Elasticsearch 인덱싱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RBAC 권한 설정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Audit Log 기록</a:t>
            </a:r>
          </a:p>
        </p:txBody>
      </p:sp>
      <p:sp>
        <p:nvSpPr>
          <p:cNvPr id="60" name="Down Arrow 26">
            <a:extLst>
              <a:ext uri="{FF2B5EF4-FFF2-40B4-BE49-F238E27FC236}">
                <a16:creationId xmlns:a16="http://schemas.microsoft.com/office/drawing/2014/main" id="{AF7468E4-7EC4-B594-E50D-73CEB5B7BE8E}"/>
              </a:ext>
            </a:extLst>
          </p:cNvPr>
          <p:cNvSpPr/>
          <p:nvPr/>
        </p:nvSpPr>
        <p:spPr>
          <a:xfrm>
            <a:off x="2124001" y="3386295"/>
            <a:ext cx="251999" cy="324000"/>
          </a:xfrm>
          <a:prstGeom prst="down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Down Arrow 27">
            <a:extLst>
              <a:ext uri="{FF2B5EF4-FFF2-40B4-BE49-F238E27FC236}">
                <a16:creationId xmlns:a16="http://schemas.microsoft.com/office/drawing/2014/main" id="{2A6F36BA-1BF4-52F9-5351-E1AA44322227}"/>
              </a:ext>
            </a:extLst>
          </p:cNvPr>
          <p:cNvSpPr/>
          <p:nvPr/>
        </p:nvSpPr>
        <p:spPr>
          <a:xfrm>
            <a:off x="5340421" y="3386295"/>
            <a:ext cx="251999" cy="324000"/>
          </a:xfrm>
          <a:prstGeom prst="down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ight Arrow 28">
            <a:extLst>
              <a:ext uri="{FF2B5EF4-FFF2-40B4-BE49-F238E27FC236}">
                <a16:creationId xmlns:a16="http://schemas.microsoft.com/office/drawing/2014/main" id="{F7617059-E631-6442-6CFE-64332A8F7D23}"/>
              </a:ext>
            </a:extLst>
          </p:cNvPr>
          <p:cNvSpPr/>
          <p:nvPr/>
        </p:nvSpPr>
        <p:spPr>
          <a:xfrm>
            <a:off x="3671999" y="2774295"/>
            <a:ext cx="288000" cy="180000"/>
          </a:xfrm>
          <a:prstGeom prst="right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Left Arrow 29">
            <a:extLst>
              <a:ext uri="{FF2B5EF4-FFF2-40B4-BE49-F238E27FC236}">
                <a16:creationId xmlns:a16="http://schemas.microsoft.com/office/drawing/2014/main" id="{95E889B5-7D6A-34EF-5896-6AA248D21D54}"/>
              </a:ext>
            </a:extLst>
          </p:cNvPr>
          <p:cNvSpPr/>
          <p:nvPr/>
        </p:nvSpPr>
        <p:spPr>
          <a:xfrm>
            <a:off x="3671999" y="4210963"/>
            <a:ext cx="288000" cy="180000"/>
          </a:xfrm>
          <a:prstGeom prst="left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31">
            <a:extLst>
              <a:ext uri="{FF2B5EF4-FFF2-40B4-BE49-F238E27FC236}">
                <a16:creationId xmlns:a16="http://schemas.microsoft.com/office/drawing/2014/main" id="{BBA9B74B-4366-BB68-F0F0-C7E81C7CBFE3}"/>
              </a:ext>
            </a:extLst>
          </p:cNvPr>
          <p:cNvSpPr/>
          <p:nvPr/>
        </p:nvSpPr>
        <p:spPr>
          <a:xfrm>
            <a:off x="7565366" y="2244417"/>
            <a:ext cx="1866634" cy="324000"/>
          </a:xfrm>
          <a:prstGeom prst="roundRect">
            <a:avLst/>
          </a:prstGeom>
          <a:solidFill>
            <a:srgbClr val="999999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EA853D-5A71-4D78-717E-944920319C59}"/>
              </a:ext>
            </a:extLst>
          </p:cNvPr>
          <p:cNvSpPr txBox="1"/>
          <p:nvPr/>
        </p:nvSpPr>
        <p:spPr>
          <a:xfrm>
            <a:off x="7625580" y="2283307"/>
            <a:ext cx="174620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rPr dirty="0" err="1"/>
              <a:t>원천</a:t>
            </a:r>
            <a:r>
              <a:rPr dirty="0"/>
              <a:t> </a:t>
            </a: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업로드</a:t>
            </a:r>
            <a:endParaRPr dirty="0"/>
          </a:p>
        </p:txBody>
      </p:sp>
      <p:sp>
        <p:nvSpPr>
          <p:cNvPr id="67" name="Down Arrow 33">
            <a:extLst>
              <a:ext uri="{FF2B5EF4-FFF2-40B4-BE49-F238E27FC236}">
                <a16:creationId xmlns:a16="http://schemas.microsoft.com/office/drawing/2014/main" id="{BA067C61-4F3F-6674-F082-ACB5A063BD88}"/>
              </a:ext>
            </a:extLst>
          </p:cNvPr>
          <p:cNvSpPr/>
          <p:nvPr/>
        </p:nvSpPr>
        <p:spPr>
          <a:xfrm>
            <a:off x="8393309" y="2597287"/>
            <a:ext cx="210748" cy="324000"/>
          </a:xfrm>
          <a:prstGeom prst="down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34">
            <a:extLst>
              <a:ext uri="{FF2B5EF4-FFF2-40B4-BE49-F238E27FC236}">
                <a16:creationId xmlns:a16="http://schemas.microsoft.com/office/drawing/2014/main" id="{2EDECACC-5B56-6D87-C5BF-F7EBE24F21DE}"/>
              </a:ext>
            </a:extLst>
          </p:cNvPr>
          <p:cNvSpPr/>
          <p:nvPr/>
        </p:nvSpPr>
        <p:spPr>
          <a:xfrm>
            <a:off x="7565366" y="2950157"/>
            <a:ext cx="1866634" cy="324000"/>
          </a:xfrm>
          <a:prstGeom prst="roundRect">
            <a:avLst/>
          </a:prstGeom>
          <a:solidFill>
            <a:srgbClr val="E6F5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5CAD7A6-20CE-D5B8-54D8-55CE66754F4D}"/>
              </a:ext>
            </a:extLst>
          </p:cNvPr>
          <p:cNvSpPr txBox="1"/>
          <p:nvPr/>
        </p:nvSpPr>
        <p:spPr>
          <a:xfrm>
            <a:off x="7625580" y="2989047"/>
            <a:ext cx="174620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05BAC"/>
                </a:solidFill>
              </a:defRPr>
            </a:pPr>
            <a:r>
              <a:t>Step 1: 문서 파싱</a:t>
            </a:r>
          </a:p>
        </p:txBody>
      </p:sp>
      <p:sp>
        <p:nvSpPr>
          <p:cNvPr id="70" name="Down Arrow 36">
            <a:extLst>
              <a:ext uri="{FF2B5EF4-FFF2-40B4-BE49-F238E27FC236}">
                <a16:creationId xmlns:a16="http://schemas.microsoft.com/office/drawing/2014/main" id="{97294EA8-B459-0B69-4C80-4009E7C5F7D2}"/>
              </a:ext>
            </a:extLst>
          </p:cNvPr>
          <p:cNvSpPr/>
          <p:nvPr/>
        </p:nvSpPr>
        <p:spPr>
          <a:xfrm>
            <a:off x="8393309" y="3320279"/>
            <a:ext cx="210748" cy="324000"/>
          </a:xfrm>
          <a:prstGeom prst="down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37">
            <a:extLst>
              <a:ext uri="{FF2B5EF4-FFF2-40B4-BE49-F238E27FC236}">
                <a16:creationId xmlns:a16="http://schemas.microsoft.com/office/drawing/2014/main" id="{31CD5787-5BAF-19F5-6467-D6AD9C3A3FCE}"/>
              </a:ext>
            </a:extLst>
          </p:cNvPr>
          <p:cNvSpPr/>
          <p:nvPr/>
        </p:nvSpPr>
        <p:spPr>
          <a:xfrm>
            <a:off x="7565366" y="3655896"/>
            <a:ext cx="1866634" cy="324000"/>
          </a:xfrm>
          <a:prstGeom prst="roundRect">
            <a:avLst/>
          </a:prstGeom>
          <a:solidFill>
            <a:srgbClr val="F0FFF0"/>
          </a:solidFill>
          <a:ln w="19050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A287BFF-B593-599A-8B03-3629DC1E3A5C}"/>
              </a:ext>
            </a:extLst>
          </p:cNvPr>
          <p:cNvSpPr txBox="1"/>
          <p:nvPr/>
        </p:nvSpPr>
        <p:spPr>
          <a:xfrm>
            <a:off x="7625580" y="3694787"/>
            <a:ext cx="174620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2C41A"/>
                </a:solidFill>
              </a:defRPr>
            </a:pPr>
            <a:r>
              <a:t>Step 2: 구조 분석</a:t>
            </a:r>
          </a:p>
        </p:txBody>
      </p:sp>
      <p:sp>
        <p:nvSpPr>
          <p:cNvPr id="85" name="Down Arrow 39">
            <a:extLst>
              <a:ext uri="{FF2B5EF4-FFF2-40B4-BE49-F238E27FC236}">
                <a16:creationId xmlns:a16="http://schemas.microsoft.com/office/drawing/2014/main" id="{967379EF-348C-CFEC-7A3D-FA381BCBBC64}"/>
              </a:ext>
            </a:extLst>
          </p:cNvPr>
          <p:cNvSpPr/>
          <p:nvPr/>
        </p:nvSpPr>
        <p:spPr>
          <a:xfrm>
            <a:off x="8393309" y="4051897"/>
            <a:ext cx="210748" cy="324000"/>
          </a:xfrm>
          <a:prstGeom prst="down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40">
            <a:extLst>
              <a:ext uri="{FF2B5EF4-FFF2-40B4-BE49-F238E27FC236}">
                <a16:creationId xmlns:a16="http://schemas.microsoft.com/office/drawing/2014/main" id="{FB87DDB6-AD53-51B7-6770-2089928B9090}"/>
              </a:ext>
            </a:extLst>
          </p:cNvPr>
          <p:cNvSpPr/>
          <p:nvPr/>
        </p:nvSpPr>
        <p:spPr>
          <a:xfrm>
            <a:off x="7565366" y="4447897"/>
            <a:ext cx="1866634" cy="324000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FAA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8DC9700-D10E-BB84-229C-FCA292080650}"/>
              </a:ext>
            </a:extLst>
          </p:cNvPr>
          <p:cNvSpPr txBox="1"/>
          <p:nvPr/>
        </p:nvSpPr>
        <p:spPr>
          <a:xfrm>
            <a:off x="7625580" y="4486787"/>
            <a:ext cx="174620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AAD14"/>
                </a:solidFill>
              </a:defRPr>
            </a:pPr>
            <a:r>
              <a:t>Step 3: 메타데이터 생성</a:t>
            </a:r>
          </a:p>
        </p:txBody>
      </p:sp>
      <p:sp>
        <p:nvSpPr>
          <p:cNvPr id="88" name="Down Arrow 42">
            <a:extLst>
              <a:ext uri="{FF2B5EF4-FFF2-40B4-BE49-F238E27FC236}">
                <a16:creationId xmlns:a16="http://schemas.microsoft.com/office/drawing/2014/main" id="{D4F4583C-D7D6-432F-E0D6-4D844DACBE0B}"/>
              </a:ext>
            </a:extLst>
          </p:cNvPr>
          <p:cNvSpPr/>
          <p:nvPr/>
        </p:nvSpPr>
        <p:spPr>
          <a:xfrm>
            <a:off x="8393309" y="4843897"/>
            <a:ext cx="210748" cy="324000"/>
          </a:xfrm>
          <a:prstGeom prst="down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43">
            <a:extLst>
              <a:ext uri="{FF2B5EF4-FFF2-40B4-BE49-F238E27FC236}">
                <a16:creationId xmlns:a16="http://schemas.microsoft.com/office/drawing/2014/main" id="{610EC943-85E9-9263-7567-E97736E7BE8A}"/>
              </a:ext>
            </a:extLst>
          </p:cNvPr>
          <p:cNvSpPr/>
          <p:nvPr/>
        </p:nvSpPr>
        <p:spPr>
          <a:xfrm>
            <a:off x="7565366" y="5239897"/>
            <a:ext cx="1866634" cy="324000"/>
          </a:xfrm>
          <a:prstGeom prst="roundRect">
            <a:avLst/>
          </a:prstGeom>
          <a:solidFill>
            <a:srgbClr val="F5F0FF"/>
          </a:solidFill>
          <a:ln w="19050">
            <a:solidFill>
              <a:srgbClr val="643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3B68C15-087D-6736-A94D-0550301494CB}"/>
              </a:ext>
            </a:extLst>
          </p:cNvPr>
          <p:cNvSpPr txBox="1"/>
          <p:nvPr/>
        </p:nvSpPr>
        <p:spPr>
          <a:xfrm>
            <a:off x="7625580" y="5278787"/>
            <a:ext cx="174620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6432C8"/>
                </a:solidFill>
              </a:defRPr>
            </a:pPr>
            <a:r>
              <a:t>Step 4: 벡터 임베딩</a:t>
            </a:r>
          </a:p>
        </p:txBody>
      </p:sp>
      <p:sp>
        <p:nvSpPr>
          <p:cNvPr id="93" name="Down Arrow 45">
            <a:extLst>
              <a:ext uri="{FF2B5EF4-FFF2-40B4-BE49-F238E27FC236}">
                <a16:creationId xmlns:a16="http://schemas.microsoft.com/office/drawing/2014/main" id="{F03D46DE-A33B-F2CE-504D-846CC49E89C1}"/>
              </a:ext>
            </a:extLst>
          </p:cNvPr>
          <p:cNvSpPr/>
          <p:nvPr/>
        </p:nvSpPr>
        <p:spPr>
          <a:xfrm>
            <a:off x="8393309" y="5635897"/>
            <a:ext cx="210748" cy="324000"/>
          </a:xfrm>
          <a:prstGeom prst="down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46">
            <a:extLst>
              <a:ext uri="{FF2B5EF4-FFF2-40B4-BE49-F238E27FC236}">
                <a16:creationId xmlns:a16="http://schemas.microsoft.com/office/drawing/2014/main" id="{9426BB58-F832-9AC9-1554-CBC4ED03C086}"/>
              </a:ext>
            </a:extLst>
          </p:cNvPr>
          <p:cNvSpPr/>
          <p:nvPr/>
        </p:nvSpPr>
        <p:spPr>
          <a:xfrm>
            <a:off x="7565366" y="6031897"/>
            <a:ext cx="1866634" cy="324000"/>
          </a:xfrm>
          <a:prstGeom prst="roundRect">
            <a:avLst/>
          </a:prstGeom>
          <a:solidFill>
            <a:srgbClr val="FFF0F5"/>
          </a:solidFill>
          <a:ln w="19050">
            <a:solidFill>
              <a:srgbClr val="C83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7338DE1-39AD-1002-3090-2F1A395C5EA1}"/>
              </a:ext>
            </a:extLst>
          </p:cNvPr>
          <p:cNvSpPr txBox="1"/>
          <p:nvPr/>
        </p:nvSpPr>
        <p:spPr>
          <a:xfrm>
            <a:off x="7625580" y="6070787"/>
            <a:ext cx="1746206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C83264"/>
                </a:solidFill>
              </a:defRPr>
            </a:pPr>
            <a:r>
              <a:t>Step 5: 카탈로그 등록</a:t>
            </a:r>
          </a:p>
        </p:txBody>
      </p:sp>
      <p:sp>
        <p:nvSpPr>
          <p:cNvPr id="96" name="Rounded Rectangle 48">
            <a:extLst>
              <a:ext uri="{FF2B5EF4-FFF2-40B4-BE49-F238E27FC236}">
                <a16:creationId xmlns:a16="http://schemas.microsoft.com/office/drawing/2014/main" id="{889AF21F-AC0C-A304-6C95-E5E1A8297546}"/>
              </a:ext>
            </a:extLst>
          </p:cNvPr>
          <p:cNvSpPr/>
          <p:nvPr/>
        </p:nvSpPr>
        <p:spPr>
          <a:xfrm>
            <a:off x="900000" y="4915897"/>
            <a:ext cx="5916420" cy="1548000"/>
          </a:xfrm>
          <a:prstGeom prst="roundRect">
            <a:avLst/>
          </a:prstGeom>
          <a:solidFill>
            <a:srgbClr val="FAFAFF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309A68F-478C-BF9B-F820-146108E1A65A}"/>
              </a:ext>
            </a:extLst>
          </p:cNvPr>
          <p:cNvSpPr txBox="1"/>
          <p:nvPr/>
        </p:nvSpPr>
        <p:spPr>
          <a:xfrm>
            <a:off x="972000" y="5010096"/>
            <a:ext cx="5616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005BAC"/>
                </a:solidFill>
              </a:defRPr>
            </a:pPr>
            <a:r>
              <a:rPr dirty="0"/>
              <a:t>🔧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기술</a:t>
            </a:r>
            <a:r>
              <a:rPr dirty="0"/>
              <a:t> </a:t>
            </a:r>
            <a:r>
              <a:rPr dirty="0" err="1"/>
              <a:t>스택</a:t>
            </a:r>
            <a:endParaRPr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7DA9697-980C-54F1-2DD8-B3D01A0B81A6}"/>
              </a:ext>
            </a:extLst>
          </p:cNvPr>
          <p:cNvSpPr txBox="1"/>
          <p:nvPr/>
        </p:nvSpPr>
        <p:spPr>
          <a:xfrm>
            <a:off x="1044000" y="5101181"/>
            <a:ext cx="1728000" cy="15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 err="1"/>
              <a:t>문서</a:t>
            </a:r>
            <a:r>
              <a:rPr dirty="0"/>
              <a:t> </a:t>
            </a:r>
            <a:r>
              <a:rPr dirty="0" err="1"/>
              <a:t>파싱</a:t>
            </a:r>
            <a:r>
              <a:rPr dirty="0"/>
              <a:t>: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• Unstructured.io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PyMuPDF</a:t>
            </a:r>
            <a:endParaRPr dirty="0"/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• python-docx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olefile</a:t>
            </a:r>
            <a:r>
              <a:rPr dirty="0"/>
              <a:t> (HWP)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• Tesseract OCR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EA3C241-FA7E-5FA0-02EB-E74F009F4D0C}"/>
              </a:ext>
            </a:extLst>
          </p:cNvPr>
          <p:cNvSpPr txBox="1"/>
          <p:nvPr/>
        </p:nvSpPr>
        <p:spPr>
          <a:xfrm>
            <a:off x="2880000" y="5101181"/>
            <a:ext cx="1800000" cy="15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 err="1"/>
              <a:t>구조</a:t>
            </a:r>
            <a:r>
              <a:rPr dirty="0"/>
              <a:t>/</a:t>
            </a:r>
            <a:r>
              <a:rPr dirty="0" err="1"/>
              <a:t>관계</a:t>
            </a:r>
            <a:r>
              <a:rPr dirty="0"/>
              <a:t>: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LlamaIndex</a:t>
            </a:r>
            <a:endParaRPr dirty="0"/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LangChain</a:t>
            </a:r>
            <a:endParaRPr dirty="0"/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• Semantic Chunking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• Neo4j (Knowledge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  Graph)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DC219B7-8085-2A8A-2655-97926579011F}"/>
              </a:ext>
            </a:extLst>
          </p:cNvPr>
          <p:cNvSpPr txBox="1"/>
          <p:nvPr/>
        </p:nvSpPr>
        <p:spPr>
          <a:xfrm>
            <a:off x="4788000" y="5101181"/>
            <a:ext cx="1800000" cy="154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메타/카탈로그: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KeyBERT, YAKE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Presidio (PHI)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Apache Atlas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Elasticsearch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OpenAI Embedding</a:t>
            </a:r>
          </a:p>
        </p:txBody>
      </p:sp>
      <p:sp>
        <p:nvSpPr>
          <p:cNvPr id="121" name="직사각형 133">
            <a:extLst>
              <a:ext uri="{FF2B5EF4-FFF2-40B4-BE49-F238E27FC236}">
                <a16:creationId xmlns:a16="http://schemas.microsoft.com/office/drawing/2014/main" id="{5162CE75-0B16-E788-2CD1-28F741B38F83}"/>
              </a:ext>
            </a:extLst>
          </p:cNvPr>
          <p:cNvSpPr/>
          <p:nvPr/>
        </p:nvSpPr>
        <p:spPr>
          <a:xfrm>
            <a:off x="272483" y="1908297"/>
            <a:ext cx="7104176" cy="289239"/>
          </a:xfrm>
          <a:prstGeom prst="rect">
            <a:avLst/>
          </a:prstGeom>
          <a:solidFill>
            <a:srgbClr val="0066AC"/>
          </a:solidFill>
          <a:ln w="6350">
            <a:noFill/>
          </a:ln>
        </p:spPr>
        <p:txBody>
          <a:bodyPr vert="horz" wrap="square" lIns="3600" tIns="3600" rIns="3600" bIns="36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📄 문서 입력 → 파싱 → 구조 분석 → 메타 생성 → 카탈로그 연계</a:t>
            </a:r>
          </a:p>
        </p:txBody>
      </p:sp>
    </p:spTree>
    <p:extLst>
      <p:ext uri="{BB962C8B-B14F-4D97-AF65-F5344CB8AC3E}">
        <p14:creationId xmlns:p14="http://schemas.microsoft.com/office/powerpoint/2010/main" val="1792653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4CFD-5B12-B18A-AE88-24182A6FF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3497F31-7FDF-67B3-6263-27192C13BC3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8.2 AI </a:t>
            </a:r>
            <a:r>
              <a:rPr lang="ko-KR" altLang="en-US" dirty="0"/>
              <a:t>활용 기능 개발 </a:t>
            </a:r>
            <a:r>
              <a:rPr lang="en-US" altLang="ko-KR" dirty="0"/>
              <a:t>(3/4)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6FEC3DD3-1C53-ABDF-F292-79074809DD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8. AI </a:t>
            </a:r>
            <a:r>
              <a:rPr lang="ko-KR" altLang="en-US" dirty="0"/>
              <a:t>적용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D859EAE9-4634-F792-5424-E961C5B4B5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의료 데이터 분석</a:t>
            </a:r>
            <a:r>
              <a:rPr lang="en-US" altLang="ko-KR" dirty="0"/>
              <a:t>, </a:t>
            </a:r>
            <a:r>
              <a:rPr lang="ko-KR" altLang="en-US" dirty="0"/>
              <a:t>병원 운영 최적화</a:t>
            </a:r>
            <a:r>
              <a:rPr lang="en-US" altLang="ko-KR" dirty="0"/>
              <a:t>, RAG </a:t>
            </a:r>
            <a:r>
              <a:rPr lang="ko-KR" altLang="en-US" dirty="0"/>
              <a:t>기반 문서 처리 시스템 구현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F006DDAE-F385-55A4-402A-D4D9C164FD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en-US" altLang="ko-KR" dirty="0"/>
              <a:t>RAG </a:t>
            </a:r>
            <a:r>
              <a:rPr lang="ko-KR" altLang="en-US" dirty="0"/>
              <a:t>기반 의료 문서 지능형 처리 시스템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E5FF154-F99D-2755-40C5-5015388BEB2B}"/>
              </a:ext>
            </a:extLst>
          </p:cNvPr>
          <p:cNvSpPr/>
          <p:nvPr/>
        </p:nvSpPr>
        <p:spPr>
          <a:xfrm>
            <a:off x="285750" y="1903065"/>
            <a:ext cx="93560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문서 형식 지원</a:t>
            </a:r>
            <a:endParaRPr lang="en-US" sz="120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074D61D-287C-AA88-B5C0-169162AB9A9C}"/>
              </a:ext>
            </a:extLst>
          </p:cNvPr>
          <p:cNvSpPr/>
          <p:nvPr/>
        </p:nvSpPr>
        <p:spPr>
          <a:xfrm>
            <a:off x="285750" y="2200126"/>
            <a:ext cx="9172575" cy="868561"/>
          </a:xfrm>
          <a:prstGeom prst="roundRect">
            <a:avLst>
              <a:gd name="adj" fmla="val 877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FF6D8F88-FE7D-B80B-B720-F85BF096E145}"/>
              </a:ext>
            </a:extLst>
          </p:cNvPr>
          <p:cNvSpPr/>
          <p:nvPr/>
        </p:nvSpPr>
        <p:spPr>
          <a:xfrm>
            <a:off x="379191" y="2390626"/>
            <a:ext cx="90026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| HWP/HWPX | DOC/DOCX | 이미지 | 스캔 문서</a:t>
            </a:r>
            <a:endParaRPr lang="en-US" sz="1050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D5371680-F654-E87D-2F42-64BE6EF306A7}"/>
              </a:ext>
            </a:extLst>
          </p:cNvPr>
          <p:cNvSpPr/>
          <p:nvPr/>
        </p:nvSpPr>
        <p:spPr>
          <a:xfrm>
            <a:off x="379191" y="2691557"/>
            <a:ext cx="900263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AI 기반 통합 문서 파싱 및 추출 엔진 ↓</a:t>
            </a:r>
            <a:endParaRPr lang="en-US" sz="105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283B73F2-0940-E805-B0C2-BEE9EFDADB8E}"/>
              </a:ext>
            </a:extLst>
          </p:cNvPr>
          <p:cNvSpPr/>
          <p:nvPr/>
        </p:nvSpPr>
        <p:spPr>
          <a:xfrm>
            <a:off x="285750" y="3181185"/>
            <a:ext cx="4262655" cy="184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3단계 처리 파이프라인</a:t>
            </a:r>
            <a:endParaRPr lang="en-US" sz="12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E2CF799-1AFC-BD82-C112-B0E00F6E858C}"/>
              </a:ext>
            </a:extLst>
          </p:cNvPr>
          <p:cNvGrpSpPr/>
          <p:nvPr/>
        </p:nvGrpSpPr>
        <p:grpSpPr>
          <a:xfrm>
            <a:off x="2719387" y="4140188"/>
            <a:ext cx="4305300" cy="744417"/>
            <a:chOff x="285750" y="4590923"/>
            <a:chExt cx="4305300" cy="744417"/>
          </a:xfrm>
        </p:grpSpPr>
        <p:sp>
          <p:nvSpPr>
            <p:cNvPr id="44" name="Text 11">
              <a:extLst>
                <a:ext uri="{FF2B5EF4-FFF2-40B4-BE49-F238E27FC236}">
                  <a16:creationId xmlns:a16="http://schemas.microsoft.com/office/drawing/2014/main" id="{48A4FB3E-8C97-2443-FEF3-8BE22AF29434}"/>
                </a:ext>
              </a:extLst>
            </p:cNvPr>
            <p:cNvSpPr/>
            <p:nvPr/>
          </p:nvSpPr>
          <p:spPr>
            <a:xfrm>
              <a:off x="285750" y="4590923"/>
              <a:ext cx="4179073" cy="744417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5" name="Shape 12">
              <a:extLst>
                <a:ext uri="{FF2B5EF4-FFF2-40B4-BE49-F238E27FC236}">
                  <a16:creationId xmlns:a16="http://schemas.microsoft.com/office/drawing/2014/main" id="{1501CDDC-C706-259D-8B24-45852BBBA734}"/>
                </a:ext>
              </a:extLst>
            </p:cNvPr>
            <p:cNvSpPr/>
            <p:nvPr/>
          </p:nvSpPr>
          <p:spPr>
            <a:xfrm>
              <a:off x="304800" y="4590923"/>
              <a:ext cx="0" cy="744417"/>
            </a:xfrm>
            <a:prstGeom prst="line">
              <a:avLst/>
            </a:prstGeom>
            <a:noFill/>
            <a:ln w="38100">
              <a:solidFill>
                <a:srgbClr val="00AEE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" name="Text 13">
              <a:extLst>
                <a:ext uri="{FF2B5EF4-FFF2-40B4-BE49-F238E27FC236}">
                  <a16:creationId xmlns:a16="http://schemas.microsoft.com/office/drawing/2014/main" id="{82BBAA41-F119-0D38-686A-D2227BBD8BB9}"/>
                </a:ext>
              </a:extLst>
            </p:cNvPr>
            <p:cNvSpPr/>
            <p:nvPr/>
          </p:nvSpPr>
          <p:spPr>
            <a:xfrm>
              <a:off x="457201" y="4729760"/>
              <a:ext cx="4133849" cy="182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US" sz="1125" b="1" dirty="0">
                  <a:solidFill>
                    <a:srgbClr val="005BA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Stage 2: 지식 구조화</a:t>
              </a:r>
              <a:endParaRPr lang="en-US" sz="1125" dirty="0"/>
            </a:p>
          </p:txBody>
        </p:sp>
        <p:sp>
          <p:nvSpPr>
            <p:cNvPr id="47" name="Text 14">
              <a:extLst>
                <a:ext uri="{FF2B5EF4-FFF2-40B4-BE49-F238E27FC236}">
                  <a16:creationId xmlns:a16="http://schemas.microsoft.com/office/drawing/2014/main" id="{F71A707E-705C-C348-62B0-265AA5EA8320}"/>
                </a:ext>
              </a:extLst>
            </p:cNvPr>
            <p:cNvSpPr/>
            <p:nvPr/>
          </p:nvSpPr>
          <p:spPr>
            <a:xfrm>
              <a:off x="457201" y="4986615"/>
              <a:ext cx="4133849" cy="2153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05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🧠 문서 구조 이해 | 🔗 엔티티 관계 추출 | 🏷️ 메타데이터 생성</a:t>
              </a:r>
              <a:endParaRPr lang="en-US" sz="105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3479847-49E9-9612-3A5A-EC22D8CFB5AE}"/>
              </a:ext>
            </a:extLst>
          </p:cNvPr>
          <p:cNvGrpSpPr/>
          <p:nvPr/>
        </p:nvGrpSpPr>
        <p:grpSpPr>
          <a:xfrm>
            <a:off x="5425240" y="4810585"/>
            <a:ext cx="4305300" cy="744417"/>
            <a:chOff x="285750" y="5442368"/>
            <a:chExt cx="4305300" cy="744417"/>
          </a:xfrm>
        </p:grpSpPr>
        <p:sp>
          <p:nvSpPr>
            <p:cNvPr id="48" name="Text 15">
              <a:extLst>
                <a:ext uri="{FF2B5EF4-FFF2-40B4-BE49-F238E27FC236}">
                  <a16:creationId xmlns:a16="http://schemas.microsoft.com/office/drawing/2014/main" id="{13E1B716-3BDC-733F-6EBC-AAC231CC3350}"/>
                </a:ext>
              </a:extLst>
            </p:cNvPr>
            <p:cNvSpPr/>
            <p:nvPr/>
          </p:nvSpPr>
          <p:spPr>
            <a:xfrm>
              <a:off x="285750" y="5442368"/>
              <a:ext cx="4179073" cy="744417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9" name="Shape 16">
              <a:extLst>
                <a:ext uri="{FF2B5EF4-FFF2-40B4-BE49-F238E27FC236}">
                  <a16:creationId xmlns:a16="http://schemas.microsoft.com/office/drawing/2014/main" id="{47C63868-D14F-1C4C-189D-DC4BD248F814}"/>
                </a:ext>
              </a:extLst>
            </p:cNvPr>
            <p:cNvSpPr/>
            <p:nvPr/>
          </p:nvSpPr>
          <p:spPr>
            <a:xfrm>
              <a:off x="304800" y="5442368"/>
              <a:ext cx="0" cy="744417"/>
            </a:xfrm>
            <a:prstGeom prst="line">
              <a:avLst/>
            </a:prstGeom>
            <a:noFill/>
            <a:ln w="38100">
              <a:solidFill>
                <a:srgbClr val="00AEE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0" name="Text 17">
              <a:extLst>
                <a:ext uri="{FF2B5EF4-FFF2-40B4-BE49-F238E27FC236}">
                  <a16:creationId xmlns:a16="http://schemas.microsoft.com/office/drawing/2014/main" id="{9ED65336-0B0B-0372-0607-C0BDF78DD441}"/>
                </a:ext>
              </a:extLst>
            </p:cNvPr>
            <p:cNvSpPr/>
            <p:nvPr/>
          </p:nvSpPr>
          <p:spPr>
            <a:xfrm>
              <a:off x="457201" y="5581205"/>
              <a:ext cx="4133849" cy="182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US" sz="1125" b="1" dirty="0">
                  <a:solidFill>
                    <a:srgbClr val="005BA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Stage 3: 온톨로지 구축</a:t>
              </a:r>
              <a:endParaRPr lang="en-US" sz="1125" dirty="0"/>
            </a:p>
          </p:txBody>
        </p:sp>
        <p:sp>
          <p:nvSpPr>
            <p:cNvPr id="51" name="Text 18">
              <a:extLst>
                <a:ext uri="{FF2B5EF4-FFF2-40B4-BE49-F238E27FC236}">
                  <a16:creationId xmlns:a16="http://schemas.microsoft.com/office/drawing/2014/main" id="{3B7EDE59-A753-D839-84F6-A40929A5963B}"/>
                </a:ext>
              </a:extLst>
            </p:cNvPr>
            <p:cNvSpPr/>
            <p:nvPr/>
          </p:nvSpPr>
          <p:spPr>
            <a:xfrm>
              <a:off x="457201" y="5838060"/>
              <a:ext cx="4133849" cy="2153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05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🌐 지식 그래프 생성 | 📚 의료 온톨로지 연계 | 🔍 검색 인덱스 구축</a:t>
              </a:r>
              <a:endParaRPr lang="en-US" sz="1050" dirty="0"/>
            </a:p>
          </p:txBody>
        </p:sp>
      </p:grpSp>
      <p:sp>
        <p:nvSpPr>
          <p:cNvPr id="52" name="Text 19">
            <a:extLst>
              <a:ext uri="{FF2B5EF4-FFF2-40B4-BE49-F238E27FC236}">
                <a16:creationId xmlns:a16="http://schemas.microsoft.com/office/drawing/2014/main" id="{411585EF-27B2-A30D-7873-96C06DCC4953}"/>
              </a:ext>
            </a:extLst>
          </p:cNvPr>
          <p:cNvSpPr/>
          <p:nvPr/>
        </p:nvSpPr>
        <p:spPr>
          <a:xfrm>
            <a:off x="285750" y="5758160"/>
            <a:ext cx="935602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거버넌스 연계</a:t>
            </a:r>
            <a:endParaRPr lang="en-US" sz="1200" dirty="0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B0B33E82-3155-6ADA-C593-B0545E0BDCBA}"/>
              </a:ext>
            </a:extLst>
          </p:cNvPr>
          <p:cNvSpPr/>
          <p:nvPr/>
        </p:nvSpPr>
        <p:spPr>
          <a:xfrm>
            <a:off x="285750" y="6144078"/>
            <a:ext cx="9356027" cy="323711"/>
          </a:xfrm>
          <a:prstGeom prst="roundRect">
            <a:avLst>
              <a:gd name="adj" fmla="val 15506"/>
            </a:avLst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21">
            <a:extLst>
              <a:ext uri="{FF2B5EF4-FFF2-40B4-BE49-F238E27FC236}">
                <a16:creationId xmlns:a16="http://schemas.microsoft.com/office/drawing/2014/main" id="{A08652C9-D3B1-50F6-4B67-919D72505151}"/>
              </a:ext>
            </a:extLst>
          </p:cNvPr>
          <p:cNvSpPr/>
          <p:nvPr/>
        </p:nvSpPr>
        <p:spPr>
          <a:xfrm>
            <a:off x="438151" y="6207621"/>
            <a:ext cx="907331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데이터 카탈로그 | 🛡️ 거버넌스 체계 | 🔬 연구/분석 확장</a:t>
            </a:r>
            <a:endParaRPr lang="en-US" sz="1050" dirty="0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CDB70F6-228C-9FAE-A732-C1D460E67803}"/>
              </a:ext>
            </a:extLst>
          </p:cNvPr>
          <p:cNvGrpSpPr/>
          <p:nvPr/>
        </p:nvGrpSpPr>
        <p:grpSpPr>
          <a:xfrm>
            <a:off x="304800" y="3472777"/>
            <a:ext cx="4286250" cy="699293"/>
            <a:chOff x="304800" y="3739477"/>
            <a:chExt cx="4286250" cy="699293"/>
          </a:xfrm>
        </p:grpSpPr>
        <p:sp>
          <p:nvSpPr>
            <p:cNvPr id="42" name="Text 9">
              <a:extLst>
                <a:ext uri="{FF2B5EF4-FFF2-40B4-BE49-F238E27FC236}">
                  <a16:creationId xmlns:a16="http://schemas.microsoft.com/office/drawing/2014/main" id="{7FE4300B-5C03-6CD8-F89A-ACEED41740F7}"/>
                </a:ext>
              </a:extLst>
            </p:cNvPr>
            <p:cNvSpPr/>
            <p:nvPr/>
          </p:nvSpPr>
          <p:spPr>
            <a:xfrm>
              <a:off x="457201" y="3878314"/>
              <a:ext cx="4133849" cy="182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US" sz="1125" b="1" dirty="0">
                  <a:solidFill>
                    <a:srgbClr val="005BA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Stage 1: 자동 추출</a:t>
              </a:r>
              <a:endParaRPr lang="en-US" sz="1125" dirty="0"/>
            </a:p>
          </p:txBody>
        </p:sp>
        <p:sp>
          <p:nvSpPr>
            <p:cNvPr id="41" name="Shape 8">
              <a:extLst>
                <a:ext uri="{FF2B5EF4-FFF2-40B4-BE49-F238E27FC236}">
                  <a16:creationId xmlns:a16="http://schemas.microsoft.com/office/drawing/2014/main" id="{CD193B1C-8444-F790-6234-43DD8A527516}"/>
                </a:ext>
              </a:extLst>
            </p:cNvPr>
            <p:cNvSpPr/>
            <p:nvPr/>
          </p:nvSpPr>
          <p:spPr>
            <a:xfrm>
              <a:off x="304800" y="3739477"/>
              <a:ext cx="0" cy="699293"/>
            </a:xfrm>
            <a:prstGeom prst="line">
              <a:avLst/>
            </a:prstGeom>
            <a:noFill/>
            <a:ln w="38100">
              <a:solidFill>
                <a:srgbClr val="00AEE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Text 10">
              <a:extLst>
                <a:ext uri="{FF2B5EF4-FFF2-40B4-BE49-F238E27FC236}">
                  <a16:creationId xmlns:a16="http://schemas.microsoft.com/office/drawing/2014/main" id="{045BAF98-867B-9370-5D1F-5B103B262694}"/>
                </a:ext>
              </a:extLst>
            </p:cNvPr>
            <p:cNvSpPr/>
            <p:nvPr/>
          </p:nvSpPr>
          <p:spPr>
            <a:xfrm>
              <a:off x="457201" y="4139759"/>
              <a:ext cx="4133849" cy="202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680"/>
                </a:lnSpc>
                <a:buNone/>
              </a:pPr>
              <a:r>
                <a:rPr lang="en-US" sz="105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📄 텍스트 추출 | 📊 표 구조 인식 | 🖼️ 이미지 분석</a:t>
              </a:r>
              <a:endParaRPr lang="en-US" sz="1050" dirty="0"/>
            </a:p>
          </p:txBody>
        </p:sp>
      </p:grpSp>
      <p:grpSp>
        <p:nvGrpSpPr>
          <p:cNvPr id="59" name="그룹 151">
            <a:extLst>
              <a:ext uri="{FF2B5EF4-FFF2-40B4-BE49-F238E27FC236}">
                <a16:creationId xmlns:a16="http://schemas.microsoft.com/office/drawing/2014/main" id="{F3097AA6-762E-F7A8-CCE5-73C95FAF97CB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60" name="모서리가 둥근 직사각형 20">
              <a:extLst>
                <a:ext uri="{FF2B5EF4-FFF2-40B4-BE49-F238E27FC236}">
                  <a16:creationId xmlns:a16="http://schemas.microsoft.com/office/drawing/2014/main" id="{23666FFC-2E3E-F59C-314C-3910597E1038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61" name="직사각형 153">
              <a:extLst>
                <a:ext uri="{FF2B5EF4-FFF2-40B4-BE49-F238E27FC236}">
                  <a16:creationId xmlns:a16="http://schemas.microsoft.com/office/drawing/2014/main" id="{92B64BA1-F6F9-AA8A-72B3-BB3169A8C0C7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AAR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-002</a:t>
              </a:r>
            </a:p>
          </p:txBody>
        </p:sp>
        <p:sp>
          <p:nvSpPr>
            <p:cNvPr id="62" name="직사각형 154">
              <a:extLst>
                <a:ext uri="{FF2B5EF4-FFF2-40B4-BE49-F238E27FC236}">
                  <a16:creationId xmlns:a16="http://schemas.microsoft.com/office/drawing/2014/main" id="{57376D03-B70D-5D32-058F-1CF46268992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63" name="직선 연결선 155">
              <a:extLst>
                <a:ext uri="{FF2B5EF4-FFF2-40B4-BE49-F238E27FC236}">
                  <a16:creationId xmlns:a16="http://schemas.microsoft.com/office/drawing/2014/main" id="{2A96407E-8D58-21CE-FC2F-F790F9FEE866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28122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2754F-3C37-DF97-64BA-3AB3F0C8A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543ADE85-8E71-DD2D-E51F-E7B687B798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8.2 AI </a:t>
            </a:r>
            <a:r>
              <a:rPr lang="ko-KR" altLang="en-US" dirty="0"/>
              <a:t>활용 기능 개발 </a:t>
            </a:r>
            <a:r>
              <a:rPr lang="en-US" altLang="ko-KR" dirty="0"/>
              <a:t>(4/4)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8A1D044F-3150-F9E5-3131-D471BB122FF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8. AI </a:t>
            </a:r>
            <a:r>
              <a:rPr lang="ko-KR" altLang="en-US" dirty="0"/>
              <a:t>적용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E568894C-9025-C0A4-593B-5445ACCA53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Qwen3-Next + </a:t>
            </a:r>
            <a:r>
              <a:rPr lang="en-US" altLang="ko-KR" dirty="0" err="1"/>
              <a:t>LangGraph</a:t>
            </a:r>
            <a:r>
              <a:rPr lang="ko-KR" altLang="en-US" dirty="0"/>
              <a:t>로 복잡한 의료 질의를 처리하고</a:t>
            </a:r>
            <a:r>
              <a:rPr lang="en-US" altLang="ko-KR" dirty="0"/>
              <a:t>, </a:t>
            </a:r>
            <a:r>
              <a:rPr lang="en-US" altLang="ko-KR" dirty="0" err="1"/>
              <a:t>Plotly</a:t>
            </a:r>
            <a:r>
              <a:rPr lang="ko-KR" altLang="en-US" dirty="0"/>
              <a:t>로 </a:t>
            </a:r>
            <a:r>
              <a:rPr lang="en-US" altLang="ko-KR" dirty="0"/>
              <a:t>CDW </a:t>
            </a:r>
            <a:r>
              <a:rPr lang="ko-KR" altLang="en-US" dirty="0"/>
              <a:t>자연어 검색 및 시각화 제공하겠습니다</a:t>
            </a:r>
            <a:r>
              <a:rPr lang="en-US" altLang="ko-KR" dirty="0"/>
              <a:t>. </a:t>
            </a:r>
            <a:r>
              <a:rPr lang="ko-KR" altLang="en-US" dirty="0"/>
              <a:t>더불어</a:t>
            </a:r>
            <a:r>
              <a:rPr lang="en-US" altLang="ko-KR" dirty="0"/>
              <a:t>, SOTA </a:t>
            </a:r>
            <a:r>
              <a:rPr lang="ko-KR" altLang="en-US" dirty="0"/>
              <a:t>모델 기반 </a:t>
            </a:r>
            <a:r>
              <a:rPr lang="en-US" altLang="ko-KR" dirty="0"/>
              <a:t>RAG + Multi-Agent Workflow</a:t>
            </a:r>
            <a:r>
              <a:rPr lang="ko-KR" altLang="en-US" dirty="0"/>
              <a:t>로 문서 요약부터 데이터 분석까지 </a:t>
            </a:r>
            <a:r>
              <a:rPr lang="en-US" altLang="ko-KR" dirty="0"/>
              <a:t>End-to-End </a:t>
            </a:r>
            <a:r>
              <a:rPr lang="ko-KR" altLang="en-US" dirty="0" err="1"/>
              <a:t>자동화을</a:t>
            </a:r>
            <a:r>
              <a:rPr lang="ko-KR" altLang="en-US" dirty="0"/>
              <a:t> 이루겠습니다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3B69248-B309-2EF9-B024-C4F0CFA4B0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의료 운영 최적화를 위한 고급 </a:t>
            </a:r>
            <a:r>
              <a:rPr lang="en-US" altLang="ko-KR" dirty="0"/>
              <a:t>AI </a:t>
            </a:r>
            <a:r>
              <a:rPr lang="ko-KR" altLang="en-US" dirty="0"/>
              <a:t>기능</a:t>
            </a:r>
          </a:p>
        </p:txBody>
      </p:sp>
      <p:grpSp>
        <p:nvGrpSpPr>
          <p:cNvPr id="101" name="그룹 151">
            <a:extLst>
              <a:ext uri="{FF2B5EF4-FFF2-40B4-BE49-F238E27FC236}">
                <a16:creationId xmlns:a16="http://schemas.microsoft.com/office/drawing/2014/main" id="{660E540F-A43C-465D-0EA8-0BC4AE31680D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102" name="모서리가 둥근 직사각형 20">
              <a:extLst>
                <a:ext uri="{FF2B5EF4-FFF2-40B4-BE49-F238E27FC236}">
                  <a16:creationId xmlns:a16="http://schemas.microsoft.com/office/drawing/2014/main" id="{D8FA7948-C411-B0A7-809D-7B019990A83D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103" name="직사각형 153">
              <a:extLst>
                <a:ext uri="{FF2B5EF4-FFF2-40B4-BE49-F238E27FC236}">
                  <a16:creationId xmlns:a16="http://schemas.microsoft.com/office/drawing/2014/main" id="{7BB7EDEA-0BF5-6A5B-52D4-B4183D4AA61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AAR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-002</a:t>
              </a:r>
            </a:p>
          </p:txBody>
        </p:sp>
        <p:sp>
          <p:nvSpPr>
            <p:cNvPr id="104" name="직사각형 154">
              <a:extLst>
                <a:ext uri="{FF2B5EF4-FFF2-40B4-BE49-F238E27FC236}">
                  <a16:creationId xmlns:a16="http://schemas.microsoft.com/office/drawing/2014/main" id="{C0437946-F276-EFA5-6102-BD5C9418EE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105" name="직선 연결선 155">
              <a:extLst>
                <a:ext uri="{FF2B5EF4-FFF2-40B4-BE49-F238E27FC236}">
                  <a16:creationId xmlns:a16="http://schemas.microsoft.com/office/drawing/2014/main" id="{309796CB-F935-3364-3AEF-F4084F93A9DA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Oval 106">
            <a:extLst>
              <a:ext uri="{FF2B5EF4-FFF2-40B4-BE49-F238E27FC236}">
                <a16:creationId xmlns:a16="http://schemas.microsoft.com/office/drawing/2014/main" id="{88D3A2E3-ADD0-3486-A98A-8DE59B85475D}"/>
              </a:ext>
            </a:extLst>
          </p:cNvPr>
          <p:cNvSpPr/>
          <p:nvPr/>
        </p:nvSpPr>
        <p:spPr>
          <a:xfrm>
            <a:off x="537702" y="2335166"/>
            <a:ext cx="1080000" cy="540000"/>
          </a:xfrm>
          <a:prstGeom prst="ellipse">
            <a:avLst/>
          </a:prstGeom>
          <a:solidFill>
            <a:srgbClr val="999999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0372DE6C-3BFE-547A-2B27-70EDFD9F805D}"/>
              </a:ext>
            </a:extLst>
          </p:cNvPr>
          <p:cNvSpPr txBox="1"/>
          <p:nvPr/>
        </p:nvSpPr>
        <p:spPr>
          <a:xfrm>
            <a:off x="573702" y="2407167"/>
            <a:ext cx="1007999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333333"/>
                </a:solidFill>
              </a:defRPr>
            </a:pPr>
            <a:r>
              <a:t>사용자 질의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333333"/>
                </a:solidFill>
              </a:defRPr>
            </a:pPr>
            <a:r>
              <a:t>자연어 입력</a:t>
            </a:r>
          </a:p>
        </p:txBody>
      </p:sp>
      <p:sp>
        <p:nvSpPr>
          <p:cNvPr id="109" name="Right Arrow 8">
            <a:extLst>
              <a:ext uri="{FF2B5EF4-FFF2-40B4-BE49-F238E27FC236}">
                <a16:creationId xmlns:a16="http://schemas.microsoft.com/office/drawing/2014/main" id="{0C487A18-2632-DA5C-984B-46CA98ABDC7E}"/>
              </a:ext>
            </a:extLst>
          </p:cNvPr>
          <p:cNvSpPr/>
          <p:nvPr/>
        </p:nvSpPr>
        <p:spPr>
          <a:xfrm>
            <a:off x="1689702" y="2551167"/>
            <a:ext cx="647999" cy="180000"/>
          </a:xfrm>
          <a:prstGeom prst="right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FAE7151-FABD-EABD-B258-A8DA9C31CCEC}"/>
              </a:ext>
            </a:extLst>
          </p:cNvPr>
          <p:cNvSpPr txBox="1"/>
          <p:nvPr/>
        </p:nvSpPr>
        <p:spPr>
          <a:xfrm>
            <a:off x="1689702" y="2335167"/>
            <a:ext cx="647999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AEEF"/>
                </a:solidFill>
              </a:defRPr>
            </a:pPr>
            <a:r>
              <a:t>질의 분류</a:t>
            </a:r>
          </a:p>
        </p:txBody>
      </p:sp>
      <p:sp>
        <p:nvSpPr>
          <p:cNvPr id="111" name="Rounded Rectangle 10">
            <a:extLst>
              <a:ext uri="{FF2B5EF4-FFF2-40B4-BE49-F238E27FC236}">
                <a16:creationId xmlns:a16="http://schemas.microsoft.com/office/drawing/2014/main" id="{6250D035-E572-64BF-7FB7-E58AF43F708D}"/>
              </a:ext>
            </a:extLst>
          </p:cNvPr>
          <p:cNvSpPr/>
          <p:nvPr/>
        </p:nvSpPr>
        <p:spPr>
          <a:xfrm>
            <a:off x="2409702" y="2335166"/>
            <a:ext cx="1620000" cy="540000"/>
          </a:xfrm>
          <a:prstGeom prst="roundRect">
            <a:avLst/>
          </a:prstGeom>
          <a:solidFill>
            <a:srgbClr val="722ED1"/>
          </a:solidFill>
          <a:ln w="25400">
            <a:solidFill>
              <a:srgbClr val="501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3C469BB-CFB6-AC14-F843-78C8FB448DFA}"/>
              </a:ext>
            </a:extLst>
          </p:cNvPr>
          <p:cNvSpPr txBox="1"/>
          <p:nvPr/>
        </p:nvSpPr>
        <p:spPr>
          <a:xfrm>
            <a:off x="2481702" y="2407167"/>
            <a:ext cx="1475999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🤖 LangGraph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t>Multi-Agent Router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0EC240F-BF5C-3219-01E9-87A8E80F3050}"/>
              </a:ext>
            </a:extLst>
          </p:cNvPr>
          <p:cNvSpPr txBox="1"/>
          <p:nvPr/>
        </p:nvSpPr>
        <p:spPr>
          <a:xfrm>
            <a:off x="4137702" y="2227167"/>
            <a:ext cx="720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>
                <a:solidFill>
                  <a:srgbClr val="722ED1"/>
                </a:solidFill>
              </a:defRPr>
            </a:pPr>
            <a:r>
              <a:t>질의 유형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D8F985C0-A133-A6C7-35F9-0D13ABDC0EE2}"/>
              </a:ext>
            </a:extLst>
          </p:cNvPr>
          <p:cNvSpPr txBox="1"/>
          <p:nvPr/>
        </p:nvSpPr>
        <p:spPr>
          <a:xfrm>
            <a:off x="4137702" y="2407167"/>
            <a:ext cx="720000" cy="14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722ED1"/>
                </a:solidFill>
              </a:defRPr>
            </a:pPr>
            <a:r>
              <a:t>자동 분류</a:t>
            </a:r>
          </a:p>
        </p:txBody>
      </p:sp>
      <p:sp>
        <p:nvSpPr>
          <p:cNvPr id="115" name="Down Arrow 14">
            <a:extLst>
              <a:ext uri="{FF2B5EF4-FFF2-40B4-BE49-F238E27FC236}">
                <a16:creationId xmlns:a16="http://schemas.microsoft.com/office/drawing/2014/main" id="{7EEED618-B06A-71BF-6CD7-C41C628E687A}"/>
              </a:ext>
            </a:extLst>
          </p:cNvPr>
          <p:cNvSpPr/>
          <p:nvPr/>
        </p:nvSpPr>
        <p:spPr>
          <a:xfrm>
            <a:off x="1437702" y="3042053"/>
            <a:ext cx="216000" cy="360000"/>
          </a:xfrm>
          <a:prstGeom prst="down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1A9991A8-8D17-AC8C-2C5A-6C2DCF7D05A6}"/>
              </a:ext>
            </a:extLst>
          </p:cNvPr>
          <p:cNvSpPr txBox="1"/>
          <p:nvPr/>
        </p:nvSpPr>
        <p:spPr>
          <a:xfrm>
            <a:off x="1077702" y="2934053"/>
            <a:ext cx="900000" cy="1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00AEEF"/>
                </a:solidFill>
              </a:defRPr>
            </a:pPr>
            <a:r>
              <a:t>문서 질의</a:t>
            </a:r>
          </a:p>
        </p:txBody>
      </p:sp>
      <p:sp>
        <p:nvSpPr>
          <p:cNvPr id="117" name="Down Arrow 16">
            <a:extLst>
              <a:ext uri="{FF2B5EF4-FFF2-40B4-BE49-F238E27FC236}">
                <a16:creationId xmlns:a16="http://schemas.microsoft.com/office/drawing/2014/main" id="{C2F9DC65-A8CD-7BB7-961B-281B5ED84868}"/>
              </a:ext>
            </a:extLst>
          </p:cNvPr>
          <p:cNvSpPr/>
          <p:nvPr/>
        </p:nvSpPr>
        <p:spPr>
          <a:xfrm>
            <a:off x="3417702" y="3042053"/>
            <a:ext cx="216000" cy="360000"/>
          </a:xfrm>
          <a:prstGeom prst="down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E5682DB-127E-3C4A-D82E-0FFE0409BF06}"/>
              </a:ext>
            </a:extLst>
          </p:cNvPr>
          <p:cNvSpPr txBox="1"/>
          <p:nvPr/>
        </p:nvSpPr>
        <p:spPr>
          <a:xfrm>
            <a:off x="3057702" y="2934053"/>
            <a:ext cx="900000" cy="1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00AEEF"/>
                </a:solidFill>
              </a:defRPr>
            </a:pPr>
            <a:r>
              <a:t>데이터 탐색</a:t>
            </a:r>
          </a:p>
        </p:txBody>
      </p:sp>
      <p:sp>
        <p:nvSpPr>
          <p:cNvPr id="119" name="Down Arrow 18">
            <a:extLst>
              <a:ext uri="{FF2B5EF4-FFF2-40B4-BE49-F238E27FC236}">
                <a16:creationId xmlns:a16="http://schemas.microsoft.com/office/drawing/2014/main" id="{EAEECDA9-8014-B2BE-39A3-E91B1A3B7018}"/>
              </a:ext>
            </a:extLst>
          </p:cNvPr>
          <p:cNvSpPr/>
          <p:nvPr/>
        </p:nvSpPr>
        <p:spPr>
          <a:xfrm>
            <a:off x="5397702" y="3042053"/>
            <a:ext cx="216000" cy="360000"/>
          </a:xfrm>
          <a:prstGeom prst="down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972C877-EA13-4BDB-9438-3550FDBD231F}"/>
              </a:ext>
            </a:extLst>
          </p:cNvPr>
          <p:cNvSpPr txBox="1"/>
          <p:nvPr/>
        </p:nvSpPr>
        <p:spPr>
          <a:xfrm>
            <a:off x="5037702" y="2934053"/>
            <a:ext cx="900000" cy="1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00AEEF"/>
                </a:solidFill>
              </a:defRPr>
            </a:pPr>
            <a:r>
              <a:t>텍스트 분석</a:t>
            </a:r>
          </a:p>
        </p:txBody>
      </p:sp>
      <p:sp>
        <p:nvSpPr>
          <p:cNvPr id="121" name="Down Arrow 20">
            <a:extLst>
              <a:ext uri="{FF2B5EF4-FFF2-40B4-BE49-F238E27FC236}">
                <a16:creationId xmlns:a16="http://schemas.microsoft.com/office/drawing/2014/main" id="{0CB6DE0B-319C-4A72-AB31-43EFA13664EB}"/>
              </a:ext>
            </a:extLst>
          </p:cNvPr>
          <p:cNvSpPr/>
          <p:nvPr/>
        </p:nvSpPr>
        <p:spPr>
          <a:xfrm>
            <a:off x="7377702" y="3042053"/>
            <a:ext cx="216000" cy="360000"/>
          </a:xfrm>
          <a:prstGeom prst="down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4C07FFA4-C3C9-80D6-48C7-5EA55C9731A9}"/>
              </a:ext>
            </a:extLst>
          </p:cNvPr>
          <p:cNvSpPr txBox="1"/>
          <p:nvPr/>
        </p:nvSpPr>
        <p:spPr>
          <a:xfrm>
            <a:off x="7017702" y="2934053"/>
            <a:ext cx="900000" cy="10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00AEEF"/>
                </a:solidFill>
              </a:defRPr>
            </a:pPr>
            <a:r>
              <a:t>요약 요청</a:t>
            </a:r>
          </a:p>
        </p:txBody>
      </p:sp>
      <p:sp>
        <p:nvSpPr>
          <p:cNvPr id="123" name="Rounded Rectangle 22">
            <a:extLst>
              <a:ext uri="{FF2B5EF4-FFF2-40B4-BE49-F238E27FC236}">
                <a16:creationId xmlns:a16="http://schemas.microsoft.com/office/drawing/2014/main" id="{25438789-840B-F654-661D-1B2A9AC25686}"/>
              </a:ext>
            </a:extLst>
          </p:cNvPr>
          <p:cNvSpPr/>
          <p:nvPr/>
        </p:nvSpPr>
        <p:spPr>
          <a:xfrm>
            <a:off x="537702" y="3546052"/>
            <a:ext cx="1800000" cy="1620000"/>
          </a:xfrm>
          <a:prstGeom prst="roundRect">
            <a:avLst/>
          </a:prstGeom>
          <a:solidFill>
            <a:srgbClr val="E6F5FF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A912CFC-C0F6-FA61-AA22-50632C9EEAD2}"/>
              </a:ext>
            </a:extLst>
          </p:cNvPr>
          <p:cNvSpPr txBox="1"/>
          <p:nvPr/>
        </p:nvSpPr>
        <p:spPr>
          <a:xfrm>
            <a:off x="609702" y="3618052"/>
            <a:ext cx="165599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💬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2DB0395-2266-1757-D585-EF10C6E89C4A}"/>
              </a:ext>
            </a:extLst>
          </p:cNvPr>
          <p:cNvSpPr txBox="1"/>
          <p:nvPr/>
        </p:nvSpPr>
        <p:spPr>
          <a:xfrm>
            <a:off x="609702" y="3906052"/>
            <a:ext cx="1655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5BAC"/>
                </a:solidFill>
              </a:defRPr>
            </a:pPr>
            <a:r>
              <a:t>질의응답 (RAG)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FFE9D73-8F96-A674-5AC3-F3D6CB3CF6A3}"/>
              </a:ext>
            </a:extLst>
          </p:cNvPr>
          <p:cNvSpPr txBox="1"/>
          <p:nvPr/>
        </p:nvSpPr>
        <p:spPr>
          <a:xfrm>
            <a:off x="609702" y="4194053"/>
            <a:ext cx="165599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LangChain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Qwen3-Next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Chroma DB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endParaRPr/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의료 문서 검색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문맥 기반 답변</a:t>
            </a:r>
          </a:p>
        </p:txBody>
      </p:sp>
      <p:sp>
        <p:nvSpPr>
          <p:cNvPr id="127" name="Rounded Rectangle 26">
            <a:extLst>
              <a:ext uri="{FF2B5EF4-FFF2-40B4-BE49-F238E27FC236}">
                <a16:creationId xmlns:a16="http://schemas.microsoft.com/office/drawing/2014/main" id="{5515C6F7-BDD1-49D4-A79A-5FF548B70802}"/>
              </a:ext>
            </a:extLst>
          </p:cNvPr>
          <p:cNvSpPr/>
          <p:nvPr/>
        </p:nvSpPr>
        <p:spPr>
          <a:xfrm>
            <a:off x="2517702" y="3546052"/>
            <a:ext cx="1800000" cy="162000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8067CBD-8A0D-81B8-0C05-B116E03B28E1}"/>
              </a:ext>
            </a:extLst>
          </p:cNvPr>
          <p:cNvSpPr txBox="1"/>
          <p:nvPr/>
        </p:nvSpPr>
        <p:spPr>
          <a:xfrm>
            <a:off x="2589701" y="3618052"/>
            <a:ext cx="165599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🔍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A40DEE1-D001-BAC1-28C8-96719F07E21D}"/>
              </a:ext>
            </a:extLst>
          </p:cNvPr>
          <p:cNvSpPr txBox="1"/>
          <p:nvPr/>
        </p:nvSpPr>
        <p:spPr>
          <a:xfrm>
            <a:off x="2589701" y="3906052"/>
            <a:ext cx="1655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5BAC"/>
                </a:solidFill>
              </a:defRPr>
            </a:pPr>
            <a:r>
              <a:t>데이터 탐색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B817737-E057-682F-B73D-5791F0CAA122}"/>
              </a:ext>
            </a:extLst>
          </p:cNvPr>
          <p:cNvSpPr txBox="1"/>
          <p:nvPr/>
        </p:nvSpPr>
        <p:spPr>
          <a:xfrm>
            <a:off x="2589701" y="4194053"/>
            <a:ext cx="165599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Text-to-SQL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Plotly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vanna.ai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endParaRPr/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CDW 자연어 질의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자동 시각화</a:t>
            </a:r>
          </a:p>
        </p:txBody>
      </p:sp>
      <p:sp>
        <p:nvSpPr>
          <p:cNvPr id="131" name="Rounded Rectangle 30">
            <a:extLst>
              <a:ext uri="{FF2B5EF4-FFF2-40B4-BE49-F238E27FC236}">
                <a16:creationId xmlns:a16="http://schemas.microsoft.com/office/drawing/2014/main" id="{7CA9F820-B316-98C1-2A2F-32AD77DF2DFC}"/>
              </a:ext>
            </a:extLst>
          </p:cNvPr>
          <p:cNvSpPr/>
          <p:nvPr/>
        </p:nvSpPr>
        <p:spPr>
          <a:xfrm>
            <a:off x="4497702" y="3546052"/>
            <a:ext cx="1800000" cy="162000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6219310-5B74-0B31-7BCE-7621C7C05F69}"/>
              </a:ext>
            </a:extLst>
          </p:cNvPr>
          <p:cNvSpPr txBox="1"/>
          <p:nvPr/>
        </p:nvSpPr>
        <p:spPr>
          <a:xfrm>
            <a:off x="4569702" y="3618052"/>
            <a:ext cx="165599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📊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2CA8FCD-8182-4402-2B40-BE427437228A}"/>
              </a:ext>
            </a:extLst>
          </p:cNvPr>
          <p:cNvSpPr txBox="1"/>
          <p:nvPr/>
        </p:nvSpPr>
        <p:spPr>
          <a:xfrm>
            <a:off x="4569702" y="3906052"/>
            <a:ext cx="1655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5BAC"/>
                </a:solidFill>
              </a:defRPr>
            </a:pPr>
            <a:r>
              <a:t>텍스트 마이닝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84A1073D-440A-1EA4-555A-A2C29DD5DBAE}"/>
              </a:ext>
            </a:extLst>
          </p:cNvPr>
          <p:cNvSpPr txBox="1"/>
          <p:nvPr/>
        </p:nvSpPr>
        <p:spPr>
          <a:xfrm>
            <a:off x="4569702" y="4194053"/>
            <a:ext cx="165599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BioBERT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spaCy NER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Apache Spark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endParaRPr/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의료 엔티티 추출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EMR 자동 분석</a:t>
            </a:r>
          </a:p>
        </p:txBody>
      </p:sp>
      <p:sp>
        <p:nvSpPr>
          <p:cNvPr id="135" name="Rounded Rectangle 34">
            <a:extLst>
              <a:ext uri="{FF2B5EF4-FFF2-40B4-BE49-F238E27FC236}">
                <a16:creationId xmlns:a16="http://schemas.microsoft.com/office/drawing/2014/main" id="{0582B1BA-E8DC-BD49-6DF9-80D66B5BEBE8}"/>
              </a:ext>
            </a:extLst>
          </p:cNvPr>
          <p:cNvSpPr/>
          <p:nvPr/>
        </p:nvSpPr>
        <p:spPr>
          <a:xfrm>
            <a:off x="6477702" y="3546052"/>
            <a:ext cx="1800000" cy="1620000"/>
          </a:xfrm>
          <a:prstGeom prst="roundRect">
            <a:avLst/>
          </a:prstGeom>
          <a:solidFill>
            <a:srgbClr val="FFF0F5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CC233F66-9226-EF5E-E370-56BE55491CD1}"/>
              </a:ext>
            </a:extLst>
          </p:cNvPr>
          <p:cNvSpPr txBox="1"/>
          <p:nvPr/>
        </p:nvSpPr>
        <p:spPr>
          <a:xfrm>
            <a:off x="6549702" y="3618052"/>
            <a:ext cx="1655999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📝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4E4D4D5-118E-7B84-D518-B6C0649D35E0}"/>
              </a:ext>
            </a:extLst>
          </p:cNvPr>
          <p:cNvSpPr txBox="1"/>
          <p:nvPr/>
        </p:nvSpPr>
        <p:spPr>
          <a:xfrm>
            <a:off x="6549702" y="3906052"/>
            <a:ext cx="1655999" cy="251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5BAC"/>
                </a:solidFill>
              </a:defRPr>
            </a:pPr>
            <a:r>
              <a:t>문서 요약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5696568-EFBE-31A2-C1C9-02C132F1CD25}"/>
              </a:ext>
            </a:extLst>
          </p:cNvPr>
          <p:cNvSpPr txBox="1"/>
          <p:nvPr/>
        </p:nvSpPr>
        <p:spPr>
          <a:xfrm>
            <a:off x="6549702" y="4194053"/>
            <a:ext cx="1655999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Qwen3-Next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MapReduce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DVC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endParaRPr/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의무기록 요약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레포트 자동 작성</a:t>
            </a:r>
          </a:p>
        </p:txBody>
      </p:sp>
      <p:sp>
        <p:nvSpPr>
          <p:cNvPr id="139" name="Down Arrow 38">
            <a:extLst>
              <a:ext uri="{FF2B5EF4-FFF2-40B4-BE49-F238E27FC236}">
                <a16:creationId xmlns:a16="http://schemas.microsoft.com/office/drawing/2014/main" id="{94BCBAA8-49B4-6DF3-438F-6C946C32F2BD}"/>
              </a:ext>
            </a:extLst>
          </p:cNvPr>
          <p:cNvSpPr/>
          <p:nvPr/>
        </p:nvSpPr>
        <p:spPr>
          <a:xfrm>
            <a:off x="1437702" y="5238053"/>
            <a:ext cx="216000" cy="360000"/>
          </a:xfrm>
          <a:prstGeom prst="downArrow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Down Arrow 39">
            <a:extLst>
              <a:ext uri="{FF2B5EF4-FFF2-40B4-BE49-F238E27FC236}">
                <a16:creationId xmlns:a16="http://schemas.microsoft.com/office/drawing/2014/main" id="{24E556A7-898A-C538-3CC3-1FD5852769E8}"/>
              </a:ext>
            </a:extLst>
          </p:cNvPr>
          <p:cNvSpPr/>
          <p:nvPr/>
        </p:nvSpPr>
        <p:spPr>
          <a:xfrm>
            <a:off x="3417702" y="5238053"/>
            <a:ext cx="216000" cy="360000"/>
          </a:xfrm>
          <a:prstGeom prst="downArrow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Down Arrow 40">
            <a:extLst>
              <a:ext uri="{FF2B5EF4-FFF2-40B4-BE49-F238E27FC236}">
                <a16:creationId xmlns:a16="http://schemas.microsoft.com/office/drawing/2014/main" id="{D146A8BA-9536-5FCE-C9D3-F3B4343C7EF0}"/>
              </a:ext>
            </a:extLst>
          </p:cNvPr>
          <p:cNvSpPr/>
          <p:nvPr/>
        </p:nvSpPr>
        <p:spPr>
          <a:xfrm>
            <a:off x="5397702" y="5238053"/>
            <a:ext cx="216000" cy="360000"/>
          </a:xfrm>
          <a:prstGeom prst="downArrow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Down Arrow 41">
            <a:extLst>
              <a:ext uri="{FF2B5EF4-FFF2-40B4-BE49-F238E27FC236}">
                <a16:creationId xmlns:a16="http://schemas.microsoft.com/office/drawing/2014/main" id="{5E45B5B2-C84E-E321-11BC-808632A718E5}"/>
              </a:ext>
            </a:extLst>
          </p:cNvPr>
          <p:cNvSpPr/>
          <p:nvPr/>
        </p:nvSpPr>
        <p:spPr>
          <a:xfrm>
            <a:off x="7377702" y="5238053"/>
            <a:ext cx="216000" cy="360000"/>
          </a:xfrm>
          <a:prstGeom prst="downArrow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B40ACE7-C233-107A-F7BD-D68530E465C3}"/>
              </a:ext>
            </a:extLst>
          </p:cNvPr>
          <p:cNvSpPr txBox="1"/>
          <p:nvPr/>
        </p:nvSpPr>
        <p:spPr>
          <a:xfrm>
            <a:off x="537702" y="5445777"/>
            <a:ext cx="8892000" cy="1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52C41A"/>
                </a:solidFill>
              </a:defRPr>
            </a:pPr>
            <a:r>
              <a:t>결과 통합</a:t>
            </a:r>
          </a:p>
        </p:txBody>
      </p:sp>
      <p:sp>
        <p:nvSpPr>
          <p:cNvPr id="144" name="Rounded Rectangle 43">
            <a:extLst>
              <a:ext uri="{FF2B5EF4-FFF2-40B4-BE49-F238E27FC236}">
                <a16:creationId xmlns:a16="http://schemas.microsoft.com/office/drawing/2014/main" id="{6B6FC4CF-7D7B-966C-3D61-A90BA1F6E026}"/>
              </a:ext>
            </a:extLst>
          </p:cNvPr>
          <p:cNvSpPr/>
          <p:nvPr/>
        </p:nvSpPr>
        <p:spPr>
          <a:xfrm>
            <a:off x="537702" y="5733777"/>
            <a:ext cx="4140000" cy="720000"/>
          </a:xfrm>
          <a:prstGeom prst="roundRect">
            <a:avLst/>
          </a:prstGeom>
          <a:solidFill>
            <a:srgbClr val="F0F5FF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3452216-43D7-22B7-F99C-61BB5CDD2540}"/>
              </a:ext>
            </a:extLst>
          </p:cNvPr>
          <p:cNvSpPr txBox="1"/>
          <p:nvPr/>
        </p:nvSpPr>
        <p:spPr>
          <a:xfrm>
            <a:off x="609702" y="5805777"/>
            <a:ext cx="3996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05BAC"/>
                </a:solidFill>
              </a:defRPr>
            </a:pPr>
            <a:r>
              <a:t>🏆 SOTA 모델 적용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6C52899-2F2D-9ED2-9982-C18747124F4F}"/>
              </a:ext>
            </a:extLst>
          </p:cNvPr>
          <p:cNvSpPr txBox="1"/>
          <p:nvPr/>
        </p:nvSpPr>
        <p:spPr>
          <a:xfrm>
            <a:off x="609702" y="6057777"/>
            <a:ext cx="3996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• Qwen3-Next (Alibaba): 128K context, </a:t>
            </a:r>
            <a:r>
              <a:rPr dirty="0" err="1"/>
              <a:t>의료</a:t>
            </a:r>
            <a:r>
              <a:rPr dirty="0"/>
              <a:t> </a:t>
            </a:r>
            <a:r>
              <a:rPr dirty="0" err="1"/>
              <a:t>도메인</a:t>
            </a:r>
            <a:r>
              <a:rPr dirty="0"/>
              <a:t> </a:t>
            </a:r>
            <a:r>
              <a:rPr dirty="0" err="1"/>
              <a:t>특화</a:t>
            </a:r>
            <a:endParaRPr dirty="0"/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MiniMax</a:t>
            </a:r>
            <a:r>
              <a:rPr dirty="0"/>
              <a:t> M1: </a:t>
            </a:r>
            <a:r>
              <a:rPr dirty="0" err="1"/>
              <a:t>장문</a:t>
            </a:r>
            <a:r>
              <a:rPr dirty="0"/>
              <a:t> </a:t>
            </a:r>
            <a:r>
              <a:rPr dirty="0" err="1"/>
              <a:t>처리</a:t>
            </a:r>
            <a:r>
              <a:rPr dirty="0"/>
              <a:t> 최적화 (</a:t>
            </a:r>
            <a:r>
              <a:rPr dirty="0" err="1"/>
              <a:t>논문</a:t>
            </a:r>
            <a:r>
              <a:rPr dirty="0"/>
              <a:t>/</a:t>
            </a:r>
            <a:r>
              <a:rPr dirty="0" err="1"/>
              <a:t>가이드라인</a:t>
            </a:r>
            <a:r>
              <a:rPr dirty="0"/>
              <a:t> </a:t>
            </a:r>
            <a:r>
              <a:rPr dirty="0" err="1"/>
              <a:t>분석</a:t>
            </a:r>
            <a:r>
              <a:rPr dirty="0"/>
              <a:t>)</a:t>
            </a:r>
          </a:p>
        </p:txBody>
      </p:sp>
      <p:sp>
        <p:nvSpPr>
          <p:cNvPr id="147" name="Rounded Rectangle 46">
            <a:extLst>
              <a:ext uri="{FF2B5EF4-FFF2-40B4-BE49-F238E27FC236}">
                <a16:creationId xmlns:a16="http://schemas.microsoft.com/office/drawing/2014/main" id="{FAEDEA83-1DF1-153F-0B88-CB279C3C18CC}"/>
              </a:ext>
            </a:extLst>
          </p:cNvPr>
          <p:cNvSpPr/>
          <p:nvPr/>
        </p:nvSpPr>
        <p:spPr>
          <a:xfrm>
            <a:off x="4857702" y="5733777"/>
            <a:ext cx="4572000" cy="720000"/>
          </a:xfrm>
          <a:prstGeom prst="roundRect">
            <a:avLst/>
          </a:prstGeom>
          <a:solidFill>
            <a:srgbClr val="F5F0FF"/>
          </a:solidFill>
          <a:ln w="25400">
            <a:solidFill>
              <a:srgbClr val="722E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DB97922-32F0-3FA2-0CB5-904280631E25}"/>
              </a:ext>
            </a:extLst>
          </p:cNvPr>
          <p:cNvSpPr txBox="1"/>
          <p:nvPr/>
        </p:nvSpPr>
        <p:spPr>
          <a:xfrm>
            <a:off x="4929702" y="5805777"/>
            <a:ext cx="4428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722ED1"/>
                </a:solidFill>
              </a:defRPr>
            </a:pPr>
            <a:r>
              <a:t>🔄 Multi-Agent Workflow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5D88C60C-09CE-71B3-363B-C7C3FD0B915E}"/>
              </a:ext>
            </a:extLst>
          </p:cNvPr>
          <p:cNvSpPr txBox="1"/>
          <p:nvPr/>
        </p:nvSpPr>
        <p:spPr>
          <a:xfrm>
            <a:off x="4929702" y="6057777"/>
            <a:ext cx="442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LangGraph: Stateful Agent 오케스트레이션, 조건부 라우팅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LangChain Agent: Tool 기반 동적 작업 (SQL Tool, Search Tool, Calculator)</a:t>
            </a: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BE86D7FD-F2C8-05E1-6A26-B9881EB3DA32}"/>
              </a:ext>
            </a:extLst>
          </p:cNvPr>
          <p:cNvSpPr/>
          <p:nvPr/>
        </p:nvSpPr>
        <p:spPr>
          <a:xfrm>
            <a:off x="3957702" y="5589777"/>
            <a:ext cx="1080000" cy="432000"/>
          </a:xfrm>
          <a:prstGeom prst="ellipse">
            <a:avLst/>
          </a:prstGeom>
          <a:solidFill>
            <a:srgbClr val="52C41A"/>
          </a:solidFill>
          <a:ln w="25400">
            <a:solidFill>
              <a:srgbClr val="32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1457D82-0F16-45EC-EE45-4CB5AF3A83A6}"/>
              </a:ext>
            </a:extLst>
          </p:cNvPr>
          <p:cNvSpPr txBox="1"/>
          <p:nvPr/>
        </p:nvSpPr>
        <p:spPr>
          <a:xfrm>
            <a:off x="3993702" y="5661777"/>
            <a:ext cx="1007999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통합 응답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FFFFFF"/>
                </a:solidFill>
              </a:defRPr>
            </a:pPr>
            <a:r>
              <a:t>사용자 반환</a:t>
            </a:r>
          </a:p>
        </p:txBody>
      </p:sp>
      <p:sp>
        <p:nvSpPr>
          <p:cNvPr id="152" name="직사각형 133">
            <a:extLst>
              <a:ext uri="{FF2B5EF4-FFF2-40B4-BE49-F238E27FC236}">
                <a16:creationId xmlns:a16="http://schemas.microsoft.com/office/drawing/2014/main" id="{B7D87895-D082-EB5C-070C-2B9901A196B9}"/>
              </a:ext>
            </a:extLst>
          </p:cNvPr>
          <p:cNvSpPr/>
          <p:nvPr/>
        </p:nvSpPr>
        <p:spPr>
          <a:xfrm>
            <a:off x="272482" y="1908297"/>
            <a:ext cx="9351287" cy="289239"/>
          </a:xfrm>
          <a:prstGeom prst="rect">
            <a:avLst/>
          </a:prstGeom>
          <a:solidFill>
            <a:srgbClr val="0066AC"/>
          </a:solidFill>
          <a:ln w="6350">
            <a:noFill/>
          </a:ln>
        </p:spPr>
        <p:txBody>
          <a:bodyPr vert="horz" wrap="square" lIns="3600" tIns="3600" rIns="3600" bIns="36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사용자 질의 → </a:t>
            </a:r>
            <a:r>
              <a:rPr lang="en-US" altLang="ko-KR" sz="1200" b="1" dirty="0" err="1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LangGraph</a:t>
            </a:r>
            <a:r>
              <a:rPr lang="en-US" altLang="ko-KR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라우터 → 적절한 </a:t>
            </a:r>
            <a:r>
              <a:rPr lang="en-US" altLang="ko-KR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AI </a:t>
            </a:r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기능 실행 → 통합 응답 생성</a:t>
            </a:r>
          </a:p>
        </p:txBody>
      </p:sp>
    </p:spTree>
    <p:extLst>
      <p:ext uri="{BB962C8B-B14F-4D97-AF65-F5344CB8AC3E}">
        <p14:creationId xmlns:p14="http://schemas.microsoft.com/office/powerpoint/2010/main" val="8681626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400DA-D113-4F4C-DA73-AC2A87551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1C039406-CD7A-0AC8-3C45-58A68A73B5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8.3 AI </a:t>
            </a:r>
            <a:r>
              <a:rPr lang="ko-KR" altLang="en-US" dirty="0"/>
              <a:t>기능 및 자원 관리 방안 </a:t>
            </a:r>
            <a:r>
              <a:rPr lang="en-US" altLang="ko-KR" dirty="0"/>
              <a:t>(1/3)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011E042-4B91-7C4F-8446-622484C4C96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8. AI </a:t>
            </a:r>
            <a:r>
              <a:rPr lang="ko-KR" altLang="en-US" dirty="0"/>
              <a:t>적용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B7784886-9674-1D4A-0CE2-A3D9CDFDF9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Evidently OSS</a:t>
            </a:r>
            <a:r>
              <a:rPr lang="ko-KR" altLang="en-US" dirty="0"/>
              <a:t>로 </a:t>
            </a:r>
            <a:r>
              <a:rPr lang="en-US" altLang="ko-KR" dirty="0"/>
              <a:t>Data Drift</a:t>
            </a:r>
            <a:r>
              <a:rPr lang="ko-KR" altLang="en-US" dirty="0"/>
              <a:t>를 탐지하고 정확도 </a:t>
            </a:r>
            <a:r>
              <a:rPr lang="en-US" altLang="ko-KR" dirty="0"/>
              <a:t>90% </a:t>
            </a:r>
            <a:r>
              <a:rPr lang="ko-KR" altLang="en-US" dirty="0"/>
              <a:t>이하 시 자동 재학습을 </a:t>
            </a:r>
            <a:r>
              <a:rPr lang="ko-KR" altLang="en-US" dirty="0" err="1"/>
              <a:t>트리거하는</a:t>
            </a:r>
            <a:r>
              <a:rPr lang="ko-KR" altLang="en-US" dirty="0"/>
              <a:t> 시스템 구축법과 </a:t>
            </a:r>
            <a:r>
              <a:rPr lang="en-US" altLang="ko-KR" dirty="0"/>
              <a:t>Blue-Green </a:t>
            </a:r>
            <a:r>
              <a:rPr lang="ko-KR" altLang="en-US" dirty="0"/>
              <a:t>배포로 </a:t>
            </a:r>
            <a:r>
              <a:rPr lang="en-US" altLang="ko-KR" dirty="0"/>
              <a:t>24</a:t>
            </a:r>
            <a:r>
              <a:rPr lang="ko-KR" altLang="en-US" dirty="0"/>
              <a:t>분 내 모델 배포 완료하고 </a:t>
            </a:r>
            <a:r>
              <a:rPr lang="en-US" altLang="ko-KR" dirty="0"/>
              <a:t>99.9% </a:t>
            </a:r>
            <a:r>
              <a:rPr lang="ko-KR" altLang="en-US" dirty="0"/>
              <a:t>가동률 달성하는 실무 방법을 적용하겠습니다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BD62415F-05B7-CE54-DEBB-ED049DE264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ko-KR" altLang="en-US" dirty="0"/>
              <a:t>지속 가능한 </a:t>
            </a:r>
            <a:r>
              <a:rPr lang="en-US" altLang="ko-KR" dirty="0"/>
              <a:t>AI </a:t>
            </a:r>
            <a:r>
              <a:rPr lang="ko-KR" altLang="en-US" dirty="0"/>
              <a:t>모델 운영 체계</a:t>
            </a: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549119B0-929C-C516-882B-449B5E50D3A9}"/>
              </a:ext>
            </a:extLst>
          </p:cNvPr>
          <p:cNvSpPr/>
          <p:nvPr/>
        </p:nvSpPr>
        <p:spPr>
          <a:xfrm>
            <a:off x="285750" y="1907679"/>
            <a:ext cx="347431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라이프사이클 관리</a:t>
            </a:r>
            <a:endParaRPr lang="en-US" sz="1200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4A85271-B899-9951-D1FF-D32F004451EE}"/>
              </a:ext>
            </a:extLst>
          </p:cNvPr>
          <p:cNvGrpSpPr/>
          <p:nvPr/>
        </p:nvGrpSpPr>
        <p:grpSpPr>
          <a:xfrm>
            <a:off x="285750" y="2242840"/>
            <a:ext cx="3406191" cy="453330"/>
            <a:chOff x="285750" y="2242840"/>
            <a:chExt cx="3406191" cy="453330"/>
          </a:xfrm>
        </p:grpSpPr>
        <p:sp>
          <p:nvSpPr>
            <p:cNvPr id="3" name="Text 3">
              <a:extLst>
                <a:ext uri="{FF2B5EF4-FFF2-40B4-BE49-F238E27FC236}">
                  <a16:creationId xmlns:a16="http://schemas.microsoft.com/office/drawing/2014/main" id="{1E1FF016-FF29-8ED3-C1C7-DAAE1E1C7C0C}"/>
                </a:ext>
              </a:extLst>
            </p:cNvPr>
            <p:cNvSpPr/>
            <p:nvPr/>
          </p:nvSpPr>
          <p:spPr>
            <a:xfrm>
              <a:off x="285750" y="2242840"/>
              <a:ext cx="3406191" cy="453330"/>
            </a:xfrm>
            <a:prstGeom prst="roundRect">
              <a:avLst>
                <a:gd name="adj" fmla="val 16809"/>
              </a:avLst>
            </a:prstGeom>
            <a:solidFill>
              <a:srgbClr val="F5F5F5"/>
            </a:solidFill>
            <a:ln w="19050">
              <a:solidFill>
                <a:srgbClr val="005BAC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4" name="Text 4">
              <a:extLst>
                <a:ext uri="{FF2B5EF4-FFF2-40B4-BE49-F238E27FC236}">
                  <a16:creationId xmlns:a16="http://schemas.microsoft.com/office/drawing/2014/main" id="{F57AEC55-F1AB-43EB-8A9B-A24CD4AB78FB}"/>
                </a:ext>
              </a:extLst>
            </p:cNvPr>
            <p:cNvSpPr/>
            <p:nvPr/>
          </p:nvSpPr>
          <p:spPr>
            <a:xfrm>
              <a:off x="381420" y="2376190"/>
              <a:ext cx="3244659" cy="1866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470"/>
                </a:lnSpc>
                <a:buNone/>
              </a:pPr>
              <a:r>
                <a:rPr lang="en-US" sz="105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Model Training</a:t>
              </a:r>
              <a:endParaRPr lang="en-US" sz="1050" dirty="0"/>
            </a:p>
          </p:txBody>
        </p:sp>
      </p:grpSp>
      <p:sp>
        <p:nvSpPr>
          <p:cNvPr id="5" name="Text 5">
            <a:extLst>
              <a:ext uri="{FF2B5EF4-FFF2-40B4-BE49-F238E27FC236}">
                <a16:creationId xmlns:a16="http://schemas.microsoft.com/office/drawing/2014/main" id="{0CD6B5F5-C075-B4DC-D233-C88676D034CE}"/>
              </a:ext>
            </a:extLst>
          </p:cNvPr>
          <p:cNvSpPr/>
          <p:nvPr/>
        </p:nvSpPr>
        <p:spPr>
          <a:xfrm>
            <a:off x="245403" y="2747367"/>
            <a:ext cx="34743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CF453F67-7FC7-ADB9-DB65-3999EFB9A730}"/>
              </a:ext>
            </a:extLst>
          </p:cNvPr>
          <p:cNvGrpSpPr/>
          <p:nvPr/>
        </p:nvGrpSpPr>
        <p:grpSpPr>
          <a:xfrm>
            <a:off x="285750" y="3065264"/>
            <a:ext cx="3406191" cy="613321"/>
            <a:chOff x="285750" y="3115270"/>
            <a:chExt cx="3406191" cy="613321"/>
          </a:xfrm>
        </p:grpSpPr>
        <p:sp>
          <p:nvSpPr>
            <p:cNvPr id="12" name="Text 6">
              <a:extLst>
                <a:ext uri="{FF2B5EF4-FFF2-40B4-BE49-F238E27FC236}">
                  <a16:creationId xmlns:a16="http://schemas.microsoft.com/office/drawing/2014/main" id="{B8E4D8BC-17F6-F205-07E9-1E3FD0CE834E}"/>
                </a:ext>
              </a:extLst>
            </p:cNvPr>
            <p:cNvSpPr/>
            <p:nvPr/>
          </p:nvSpPr>
          <p:spPr>
            <a:xfrm>
              <a:off x="285750" y="3115270"/>
              <a:ext cx="3406191" cy="613321"/>
            </a:xfrm>
            <a:prstGeom prst="roundRect">
              <a:avLst>
                <a:gd name="adj" fmla="val 12424"/>
              </a:avLst>
            </a:prstGeom>
            <a:solidFill>
              <a:srgbClr val="F5F5F5"/>
            </a:solidFill>
            <a:ln w="19050">
              <a:solidFill>
                <a:srgbClr val="005BAC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498CC9D8-B906-152F-2564-C83D9A8EE4CA}"/>
                </a:ext>
              </a:extLst>
            </p:cNvPr>
            <p:cNvSpPr/>
            <p:nvPr/>
          </p:nvSpPr>
          <p:spPr>
            <a:xfrm>
              <a:off x="381420" y="3248620"/>
              <a:ext cx="3244659" cy="1866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470"/>
                </a:lnSpc>
                <a:buNone/>
              </a:pPr>
              <a:r>
                <a:rPr lang="en-US" sz="105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Validation</a:t>
              </a:r>
              <a:endParaRPr lang="en-US" sz="1050" dirty="0"/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ECED8F2E-92CF-2B49-0B35-3F118A246C95}"/>
                </a:ext>
              </a:extLst>
            </p:cNvPr>
            <p:cNvSpPr/>
            <p:nvPr/>
          </p:nvSpPr>
          <p:spPr>
            <a:xfrm>
              <a:off x="381420" y="3435251"/>
              <a:ext cx="3244659" cy="1599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60"/>
                </a:lnSpc>
                <a:buNone/>
              </a:pPr>
              <a:r>
                <a:rPr lang="en-US" sz="90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정확도 90% 이상</a:t>
              </a:r>
              <a:endParaRPr lang="en-US" sz="900" dirty="0"/>
            </a:p>
          </p:txBody>
        </p:sp>
      </p:grpSp>
      <p:sp>
        <p:nvSpPr>
          <p:cNvPr id="15" name="Text 9">
            <a:extLst>
              <a:ext uri="{FF2B5EF4-FFF2-40B4-BE49-F238E27FC236}">
                <a16:creationId xmlns:a16="http://schemas.microsoft.com/office/drawing/2014/main" id="{ECD5A38A-882F-E486-ABE4-F6FF947A1882}"/>
              </a:ext>
            </a:extLst>
          </p:cNvPr>
          <p:cNvSpPr/>
          <p:nvPr/>
        </p:nvSpPr>
        <p:spPr>
          <a:xfrm>
            <a:off x="245403" y="3729782"/>
            <a:ext cx="34743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1ECA4CE-EC5D-355E-1A4D-DC3BF6847C39}"/>
              </a:ext>
            </a:extLst>
          </p:cNvPr>
          <p:cNvGrpSpPr/>
          <p:nvPr/>
        </p:nvGrpSpPr>
        <p:grpSpPr>
          <a:xfrm>
            <a:off x="285750" y="4047679"/>
            <a:ext cx="3406191" cy="453330"/>
            <a:chOff x="285750" y="4147691"/>
            <a:chExt cx="3406191" cy="453330"/>
          </a:xfrm>
        </p:grpSpPr>
        <p:sp>
          <p:nvSpPr>
            <p:cNvPr id="19" name="Text 10">
              <a:extLst>
                <a:ext uri="{FF2B5EF4-FFF2-40B4-BE49-F238E27FC236}">
                  <a16:creationId xmlns:a16="http://schemas.microsoft.com/office/drawing/2014/main" id="{C4E8147C-8D1D-B5D9-848C-440FC15D3AE5}"/>
                </a:ext>
              </a:extLst>
            </p:cNvPr>
            <p:cNvSpPr/>
            <p:nvPr/>
          </p:nvSpPr>
          <p:spPr>
            <a:xfrm>
              <a:off x="285750" y="4147691"/>
              <a:ext cx="3406191" cy="453330"/>
            </a:xfrm>
            <a:prstGeom prst="roundRect">
              <a:avLst>
                <a:gd name="adj" fmla="val 16809"/>
              </a:avLst>
            </a:prstGeom>
            <a:solidFill>
              <a:srgbClr val="F5F5F5"/>
            </a:solidFill>
            <a:ln w="19050">
              <a:solidFill>
                <a:srgbClr val="005BAC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0" name="Text 11">
              <a:extLst>
                <a:ext uri="{FF2B5EF4-FFF2-40B4-BE49-F238E27FC236}">
                  <a16:creationId xmlns:a16="http://schemas.microsoft.com/office/drawing/2014/main" id="{90AB4DF3-8FFD-E43C-604B-A758106DED43}"/>
                </a:ext>
              </a:extLst>
            </p:cNvPr>
            <p:cNvSpPr/>
            <p:nvPr/>
          </p:nvSpPr>
          <p:spPr>
            <a:xfrm>
              <a:off x="381420" y="4281041"/>
              <a:ext cx="3244659" cy="1866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470"/>
                </a:lnSpc>
                <a:buNone/>
              </a:pPr>
              <a:r>
                <a:rPr lang="en-US" sz="105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Deployment</a:t>
              </a:r>
              <a:endParaRPr lang="en-US" sz="1050" dirty="0"/>
            </a:p>
          </p:txBody>
        </p:sp>
      </p:grpSp>
      <p:sp>
        <p:nvSpPr>
          <p:cNvPr id="21" name="Text 12">
            <a:extLst>
              <a:ext uri="{FF2B5EF4-FFF2-40B4-BE49-F238E27FC236}">
                <a16:creationId xmlns:a16="http://schemas.microsoft.com/office/drawing/2014/main" id="{5842C5A5-F7DE-EF87-BA9A-37CBA5672FAA}"/>
              </a:ext>
            </a:extLst>
          </p:cNvPr>
          <p:cNvSpPr/>
          <p:nvPr/>
        </p:nvSpPr>
        <p:spPr>
          <a:xfrm>
            <a:off x="245403" y="4552206"/>
            <a:ext cx="34743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5AC1FFE-F432-A7D5-2063-C9B470E13FFB}"/>
              </a:ext>
            </a:extLst>
          </p:cNvPr>
          <p:cNvGrpSpPr/>
          <p:nvPr/>
        </p:nvGrpSpPr>
        <p:grpSpPr>
          <a:xfrm>
            <a:off x="285750" y="4870103"/>
            <a:ext cx="3406191" cy="613321"/>
            <a:chOff x="285750" y="5020121"/>
            <a:chExt cx="3406191" cy="613321"/>
          </a:xfrm>
        </p:grpSpPr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C8BA0E5E-77DF-0071-97B6-F5CD2FD19004}"/>
                </a:ext>
              </a:extLst>
            </p:cNvPr>
            <p:cNvSpPr/>
            <p:nvPr/>
          </p:nvSpPr>
          <p:spPr>
            <a:xfrm>
              <a:off x="285750" y="5020121"/>
              <a:ext cx="3406191" cy="613321"/>
            </a:xfrm>
            <a:prstGeom prst="roundRect">
              <a:avLst>
                <a:gd name="adj" fmla="val 12424"/>
              </a:avLst>
            </a:prstGeom>
            <a:solidFill>
              <a:srgbClr val="F5F5F5"/>
            </a:solidFill>
            <a:ln w="19050">
              <a:solidFill>
                <a:srgbClr val="005BAC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3" name="Text 14">
              <a:extLst>
                <a:ext uri="{FF2B5EF4-FFF2-40B4-BE49-F238E27FC236}">
                  <a16:creationId xmlns:a16="http://schemas.microsoft.com/office/drawing/2014/main" id="{7C3D7E79-A331-8E74-2C06-6CC668290316}"/>
                </a:ext>
              </a:extLst>
            </p:cNvPr>
            <p:cNvSpPr/>
            <p:nvPr/>
          </p:nvSpPr>
          <p:spPr>
            <a:xfrm>
              <a:off x="381420" y="5153471"/>
              <a:ext cx="3244659" cy="1866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470"/>
                </a:lnSpc>
                <a:buNone/>
              </a:pPr>
              <a:r>
                <a:rPr lang="en-US" sz="105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Monitoring</a:t>
              </a:r>
              <a:endParaRPr lang="en-US" sz="1050" dirty="0"/>
            </a:p>
          </p:txBody>
        </p:sp>
        <p:sp>
          <p:nvSpPr>
            <p:cNvPr id="24" name="Text 15">
              <a:extLst>
                <a:ext uri="{FF2B5EF4-FFF2-40B4-BE49-F238E27FC236}">
                  <a16:creationId xmlns:a16="http://schemas.microsoft.com/office/drawing/2014/main" id="{D058D885-9E4D-CE11-4AB8-C7BB76A4FF9B}"/>
                </a:ext>
              </a:extLst>
            </p:cNvPr>
            <p:cNvSpPr/>
            <p:nvPr/>
          </p:nvSpPr>
          <p:spPr>
            <a:xfrm>
              <a:off x="381420" y="5340102"/>
              <a:ext cx="3244659" cy="1599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60"/>
                </a:lnSpc>
                <a:buNone/>
              </a:pPr>
              <a:r>
                <a:rPr lang="en-US" sz="90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성능 지속 평가</a:t>
              </a:r>
              <a:endParaRPr lang="en-US" sz="900" dirty="0"/>
            </a:p>
          </p:txBody>
        </p:sp>
      </p:grpSp>
      <p:sp>
        <p:nvSpPr>
          <p:cNvPr id="25" name="Text 16">
            <a:extLst>
              <a:ext uri="{FF2B5EF4-FFF2-40B4-BE49-F238E27FC236}">
                <a16:creationId xmlns:a16="http://schemas.microsoft.com/office/drawing/2014/main" id="{0CF363AF-C236-B6BA-96A1-48FCD91760C8}"/>
              </a:ext>
            </a:extLst>
          </p:cNvPr>
          <p:cNvSpPr/>
          <p:nvPr/>
        </p:nvSpPr>
        <p:spPr>
          <a:xfrm>
            <a:off x="245403" y="5534621"/>
            <a:ext cx="34743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500" dirty="0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19716978-C500-31E5-E713-5E7535C37C4D}"/>
              </a:ext>
            </a:extLst>
          </p:cNvPr>
          <p:cNvGrpSpPr/>
          <p:nvPr/>
        </p:nvGrpSpPr>
        <p:grpSpPr>
          <a:xfrm>
            <a:off x="285750" y="5852517"/>
            <a:ext cx="3406191" cy="613321"/>
            <a:chOff x="285750" y="6052542"/>
            <a:chExt cx="3406191" cy="613321"/>
          </a:xfrm>
        </p:grpSpPr>
        <p:sp>
          <p:nvSpPr>
            <p:cNvPr id="26" name="Text 17">
              <a:extLst>
                <a:ext uri="{FF2B5EF4-FFF2-40B4-BE49-F238E27FC236}">
                  <a16:creationId xmlns:a16="http://schemas.microsoft.com/office/drawing/2014/main" id="{0047F491-608B-21CE-2C0A-A253EFFBC303}"/>
                </a:ext>
              </a:extLst>
            </p:cNvPr>
            <p:cNvSpPr/>
            <p:nvPr/>
          </p:nvSpPr>
          <p:spPr>
            <a:xfrm>
              <a:off x="285750" y="6052542"/>
              <a:ext cx="3406191" cy="613321"/>
            </a:xfrm>
            <a:prstGeom prst="roundRect">
              <a:avLst>
                <a:gd name="adj" fmla="val 12424"/>
              </a:avLst>
            </a:prstGeom>
            <a:solidFill>
              <a:srgbClr val="F5F5F5"/>
            </a:solidFill>
            <a:ln w="19050">
              <a:solidFill>
                <a:srgbClr val="005BAC"/>
              </a:solidFill>
            </a:ln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dirty="0"/>
            </a:p>
          </p:txBody>
        </p:sp>
        <p:sp>
          <p:nvSpPr>
            <p:cNvPr id="27" name="Text 18">
              <a:extLst>
                <a:ext uri="{FF2B5EF4-FFF2-40B4-BE49-F238E27FC236}">
                  <a16:creationId xmlns:a16="http://schemas.microsoft.com/office/drawing/2014/main" id="{11A1E802-A7EF-BE79-FD98-66FCB8037951}"/>
                </a:ext>
              </a:extLst>
            </p:cNvPr>
            <p:cNvSpPr/>
            <p:nvPr/>
          </p:nvSpPr>
          <p:spPr>
            <a:xfrm>
              <a:off x="381420" y="6185892"/>
              <a:ext cx="3244659" cy="1866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470"/>
                </a:lnSpc>
                <a:buNone/>
              </a:pPr>
              <a:r>
                <a:rPr lang="en-US" sz="105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Re-training</a:t>
              </a:r>
              <a:endParaRPr lang="en-US" sz="1050" dirty="0"/>
            </a:p>
          </p:txBody>
        </p:sp>
        <p:sp>
          <p:nvSpPr>
            <p:cNvPr id="28" name="Text 19">
              <a:extLst>
                <a:ext uri="{FF2B5EF4-FFF2-40B4-BE49-F238E27FC236}">
                  <a16:creationId xmlns:a16="http://schemas.microsoft.com/office/drawing/2014/main" id="{F8F1E7B2-AB6C-8D7A-636A-E8C9F7A72DF4}"/>
                </a:ext>
              </a:extLst>
            </p:cNvPr>
            <p:cNvSpPr/>
            <p:nvPr/>
          </p:nvSpPr>
          <p:spPr>
            <a:xfrm>
              <a:off x="381420" y="6372523"/>
              <a:ext cx="3244659" cy="1599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1260"/>
                </a:lnSpc>
                <a:buNone/>
              </a:pPr>
              <a:r>
                <a:rPr lang="en-US" sz="900" dirty="0">
                  <a:solidFill>
                    <a:srgbClr val="1D1D1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Fine-tuning/RAG 갱신</a:t>
              </a:r>
              <a:endParaRPr lang="en-US" sz="900" dirty="0"/>
            </a:p>
          </p:txBody>
        </p:sp>
      </p:grpSp>
      <p:sp>
        <p:nvSpPr>
          <p:cNvPr id="29" name="Text 20">
            <a:extLst>
              <a:ext uri="{FF2B5EF4-FFF2-40B4-BE49-F238E27FC236}">
                <a16:creationId xmlns:a16="http://schemas.microsoft.com/office/drawing/2014/main" id="{32A85D79-92DD-AC9E-F6C7-D400EC162BB0}"/>
              </a:ext>
            </a:extLst>
          </p:cNvPr>
          <p:cNvSpPr/>
          <p:nvPr/>
        </p:nvSpPr>
        <p:spPr>
          <a:xfrm>
            <a:off x="4625281" y="1900238"/>
            <a:ext cx="494913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관리 시스템</a:t>
            </a:r>
            <a:endParaRPr lang="en-US" sz="12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30A4E981-4ADF-BF23-E90E-780AD4ECD1F5}"/>
              </a:ext>
            </a:extLst>
          </p:cNvPr>
          <p:cNvSpPr/>
          <p:nvPr/>
        </p:nvSpPr>
        <p:spPr>
          <a:xfrm>
            <a:off x="4625280" y="2311598"/>
            <a:ext cx="439761" cy="347883"/>
          </a:xfrm>
          <a:prstGeom prst="roundRect">
            <a:avLst>
              <a:gd name="adj" fmla="val 20000"/>
            </a:avLst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C5EF8A67-F6DC-99C8-B1E5-F21D62B4B5EA}"/>
              </a:ext>
            </a:extLst>
          </p:cNvPr>
          <p:cNvSpPr/>
          <p:nvPr/>
        </p:nvSpPr>
        <p:spPr>
          <a:xfrm>
            <a:off x="4705161" y="2368748"/>
            <a:ext cx="279998" cy="243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500" dirty="0"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B1A17604-8621-1DF3-EB60-C335952E7424}"/>
              </a:ext>
            </a:extLst>
          </p:cNvPr>
          <p:cNvSpPr/>
          <p:nvPr/>
        </p:nvSpPr>
        <p:spPr>
          <a:xfrm>
            <a:off x="5158681" y="2311598"/>
            <a:ext cx="2302580" cy="165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지속적 성능 평가</a:t>
            </a:r>
            <a:endParaRPr lang="en-US" sz="1125" dirty="0"/>
          </a:p>
        </p:txBody>
      </p:sp>
      <p:sp>
        <p:nvSpPr>
          <p:cNvPr id="33" name="Text 24">
            <a:extLst>
              <a:ext uri="{FF2B5EF4-FFF2-40B4-BE49-F238E27FC236}">
                <a16:creationId xmlns:a16="http://schemas.microsoft.com/office/drawing/2014/main" id="{20D6847F-155E-CCD5-99F0-A806BA37AA67}"/>
              </a:ext>
            </a:extLst>
          </p:cNvPr>
          <p:cNvSpPr/>
          <p:nvPr/>
        </p:nvSpPr>
        <p:spPr>
          <a:xfrm>
            <a:off x="5158681" y="2568773"/>
            <a:ext cx="2302580" cy="170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정확도/응답시간 모니터링</a:t>
            </a:r>
            <a:endParaRPr lang="en-US" sz="1050" dirty="0"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8C9C0101-9ABD-011A-3978-334857E01352}"/>
              </a:ext>
            </a:extLst>
          </p:cNvPr>
          <p:cNvSpPr/>
          <p:nvPr/>
        </p:nvSpPr>
        <p:spPr>
          <a:xfrm>
            <a:off x="5158681" y="2831604"/>
            <a:ext cx="2302580" cy="170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테스트를 통한 모델 성능 비교</a:t>
            </a:r>
            <a:endParaRPr lang="en-US" sz="1050" dirty="0"/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BE0361AD-AC9D-28D6-B716-0A30DEC2FB49}"/>
              </a:ext>
            </a:extLst>
          </p:cNvPr>
          <p:cNvSpPr/>
          <p:nvPr/>
        </p:nvSpPr>
        <p:spPr>
          <a:xfrm>
            <a:off x="5158681" y="3094434"/>
            <a:ext cx="2302580" cy="170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피드백 기반 품질 평가</a:t>
            </a:r>
            <a:endParaRPr lang="en-US" sz="1050" dirty="0"/>
          </a:p>
        </p:txBody>
      </p:sp>
      <p:sp>
        <p:nvSpPr>
          <p:cNvPr id="36" name="Text 27">
            <a:extLst>
              <a:ext uri="{FF2B5EF4-FFF2-40B4-BE49-F238E27FC236}">
                <a16:creationId xmlns:a16="http://schemas.microsoft.com/office/drawing/2014/main" id="{5309D538-012F-E2CB-32EF-FCC1309B8898}"/>
              </a:ext>
            </a:extLst>
          </p:cNvPr>
          <p:cNvSpPr/>
          <p:nvPr/>
        </p:nvSpPr>
        <p:spPr>
          <a:xfrm>
            <a:off x="4625280" y="3547765"/>
            <a:ext cx="439761" cy="347883"/>
          </a:xfrm>
          <a:prstGeom prst="roundRect">
            <a:avLst>
              <a:gd name="adj" fmla="val 20000"/>
            </a:avLst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8">
            <a:extLst>
              <a:ext uri="{FF2B5EF4-FFF2-40B4-BE49-F238E27FC236}">
                <a16:creationId xmlns:a16="http://schemas.microsoft.com/office/drawing/2014/main" id="{EF6DC2DA-9A08-4A16-FC1F-0A39325F1F16}"/>
              </a:ext>
            </a:extLst>
          </p:cNvPr>
          <p:cNvSpPr/>
          <p:nvPr/>
        </p:nvSpPr>
        <p:spPr>
          <a:xfrm>
            <a:off x="4705161" y="3604915"/>
            <a:ext cx="279998" cy="243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500" dirty="0"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8E8D7CA8-D71D-CB67-E780-D68BE57A406E}"/>
              </a:ext>
            </a:extLst>
          </p:cNvPr>
          <p:cNvSpPr/>
          <p:nvPr/>
        </p:nvSpPr>
        <p:spPr>
          <a:xfrm>
            <a:off x="5158680" y="3547765"/>
            <a:ext cx="2166045" cy="165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재학습 파이프라인</a:t>
            </a:r>
            <a:endParaRPr lang="en-US" sz="1125" dirty="0"/>
          </a:p>
        </p:txBody>
      </p:sp>
      <p:sp>
        <p:nvSpPr>
          <p:cNvPr id="39" name="Text 30">
            <a:extLst>
              <a:ext uri="{FF2B5EF4-FFF2-40B4-BE49-F238E27FC236}">
                <a16:creationId xmlns:a16="http://schemas.microsoft.com/office/drawing/2014/main" id="{4CBE30C2-C304-E47B-1F7D-899D3F610A46}"/>
              </a:ext>
            </a:extLst>
          </p:cNvPr>
          <p:cNvSpPr/>
          <p:nvPr/>
        </p:nvSpPr>
        <p:spPr>
          <a:xfrm>
            <a:off x="5158680" y="3804940"/>
            <a:ext cx="2166045" cy="170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의료 데이터 반영 자동화</a:t>
            </a:r>
            <a:endParaRPr lang="en-US" sz="1050" dirty="0"/>
          </a:p>
        </p:txBody>
      </p:sp>
      <p:sp>
        <p:nvSpPr>
          <p:cNvPr id="40" name="Text 31">
            <a:extLst>
              <a:ext uri="{FF2B5EF4-FFF2-40B4-BE49-F238E27FC236}">
                <a16:creationId xmlns:a16="http://schemas.microsoft.com/office/drawing/2014/main" id="{1328B4F6-0218-602B-B4BF-6154DD95E3FD}"/>
              </a:ext>
            </a:extLst>
          </p:cNvPr>
          <p:cNvSpPr/>
          <p:nvPr/>
        </p:nvSpPr>
        <p:spPr>
          <a:xfrm>
            <a:off x="5158680" y="4067770"/>
            <a:ext cx="2166045" cy="170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corpus 주기적 업데이트</a:t>
            </a:r>
            <a:endParaRPr lang="en-US" sz="1050" dirty="0"/>
          </a:p>
        </p:txBody>
      </p:sp>
      <p:sp>
        <p:nvSpPr>
          <p:cNvPr id="57" name="Text 32">
            <a:extLst>
              <a:ext uri="{FF2B5EF4-FFF2-40B4-BE49-F238E27FC236}">
                <a16:creationId xmlns:a16="http://schemas.microsoft.com/office/drawing/2014/main" id="{A7D74B06-3E18-0258-ED50-4A3B6FD60B0C}"/>
              </a:ext>
            </a:extLst>
          </p:cNvPr>
          <p:cNvSpPr/>
          <p:nvPr/>
        </p:nvSpPr>
        <p:spPr>
          <a:xfrm>
            <a:off x="5158680" y="4330601"/>
            <a:ext cx="2166045" cy="170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 스케줄링 및 실행</a:t>
            </a:r>
            <a:endParaRPr lang="en-US" sz="1050" dirty="0"/>
          </a:p>
        </p:txBody>
      </p:sp>
      <p:sp>
        <p:nvSpPr>
          <p:cNvPr id="59" name="Text 33">
            <a:extLst>
              <a:ext uri="{FF2B5EF4-FFF2-40B4-BE49-F238E27FC236}">
                <a16:creationId xmlns:a16="http://schemas.microsoft.com/office/drawing/2014/main" id="{20E50235-AFF8-6C43-53D6-A682DBDBF3FC}"/>
              </a:ext>
            </a:extLst>
          </p:cNvPr>
          <p:cNvSpPr/>
          <p:nvPr/>
        </p:nvSpPr>
        <p:spPr>
          <a:xfrm>
            <a:off x="4625280" y="4783931"/>
            <a:ext cx="439761" cy="347883"/>
          </a:xfrm>
          <a:prstGeom prst="roundRect">
            <a:avLst>
              <a:gd name="adj" fmla="val 20000"/>
            </a:avLst>
          </a:prstGeom>
          <a:solidFill>
            <a:srgbClr val="00AEE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34">
            <a:extLst>
              <a:ext uri="{FF2B5EF4-FFF2-40B4-BE49-F238E27FC236}">
                <a16:creationId xmlns:a16="http://schemas.microsoft.com/office/drawing/2014/main" id="{90324B46-6F29-B84C-B1BD-1355F09D93A8}"/>
              </a:ext>
            </a:extLst>
          </p:cNvPr>
          <p:cNvSpPr/>
          <p:nvPr/>
        </p:nvSpPr>
        <p:spPr>
          <a:xfrm>
            <a:off x="4705161" y="4841081"/>
            <a:ext cx="279998" cy="243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1500" dirty="0"/>
          </a:p>
        </p:txBody>
      </p:sp>
      <p:sp>
        <p:nvSpPr>
          <p:cNvPr id="61" name="Text 35">
            <a:extLst>
              <a:ext uri="{FF2B5EF4-FFF2-40B4-BE49-F238E27FC236}">
                <a16:creationId xmlns:a16="http://schemas.microsoft.com/office/drawing/2014/main" id="{63F4AA79-EE82-FAA3-2E5A-C7556F7C1F54}"/>
              </a:ext>
            </a:extLst>
          </p:cNvPr>
          <p:cNvSpPr/>
          <p:nvPr/>
        </p:nvSpPr>
        <p:spPr>
          <a:xfrm>
            <a:off x="5158680" y="4783931"/>
            <a:ext cx="1859057" cy="165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05B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 리포지토리 운영</a:t>
            </a:r>
            <a:endParaRPr lang="en-US" sz="1125" dirty="0"/>
          </a:p>
        </p:txBody>
      </p:sp>
      <p:sp>
        <p:nvSpPr>
          <p:cNvPr id="62" name="Text 36">
            <a:extLst>
              <a:ext uri="{FF2B5EF4-FFF2-40B4-BE49-F238E27FC236}">
                <a16:creationId xmlns:a16="http://schemas.microsoft.com/office/drawing/2014/main" id="{39F92B86-5C6D-A1EF-E47B-8B439B9411BE}"/>
              </a:ext>
            </a:extLst>
          </p:cNvPr>
          <p:cNvSpPr/>
          <p:nvPr/>
        </p:nvSpPr>
        <p:spPr>
          <a:xfrm>
            <a:off x="5158680" y="5041106"/>
            <a:ext cx="1859057" cy="170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버전별 모델 아카이브 관리</a:t>
            </a:r>
            <a:endParaRPr lang="en-US" sz="1050" dirty="0"/>
          </a:p>
        </p:txBody>
      </p:sp>
      <p:sp>
        <p:nvSpPr>
          <p:cNvPr id="63" name="Text 37">
            <a:extLst>
              <a:ext uri="{FF2B5EF4-FFF2-40B4-BE49-F238E27FC236}">
                <a16:creationId xmlns:a16="http://schemas.microsoft.com/office/drawing/2014/main" id="{9C0C9EB4-CC6D-554C-F7F1-405949E4EBC7}"/>
              </a:ext>
            </a:extLst>
          </p:cNvPr>
          <p:cNvSpPr/>
          <p:nvPr/>
        </p:nvSpPr>
        <p:spPr>
          <a:xfrm>
            <a:off x="5158680" y="5303937"/>
            <a:ext cx="1859057" cy="170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특정 시점 모델 복원 기능</a:t>
            </a:r>
            <a:endParaRPr lang="en-US" sz="1050" dirty="0"/>
          </a:p>
        </p:txBody>
      </p:sp>
      <p:sp>
        <p:nvSpPr>
          <p:cNvPr id="64" name="Text 38">
            <a:extLst>
              <a:ext uri="{FF2B5EF4-FFF2-40B4-BE49-F238E27FC236}">
                <a16:creationId xmlns:a16="http://schemas.microsoft.com/office/drawing/2014/main" id="{9154F6BF-0EB1-1124-89F5-13A2D3869C8E}"/>
              </a:ext>
            </a:extLst>
          </p:cNvPr>
          <p:cNvSpPr/>
          <p:nvPr/>
        </p:nvSpPr>
        <p:spPr>
          <a:xfrm>
            <a:off x="5158680" y="5566767"/>
            <a:ext cx="1859057" cy="170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히스토리 추적 및 분석</a:t>
            </a:r>
            <a:endParaRPr lang="en-US" sz="1050" dirty="0"/>
          </a:p>
        </p:txBody>
      </p:sp>
      <p:sp>
        <p:nvSpPr>
          <p:cNvPr id="66" name="Text 40">
            <a:extLst>
              <a:ext uri="{FF2B5EF4-FFF2-40B4-BE49-F238E27FC236}">
                <a16:creationId xmlns:a16="http://schemas.microsoft.com/office/drawing/2014/main" id="{31212741-7197-5B7F-C934-7030CD294414}"/>
              </a:ext>
            </a:extLst>
          </p:cNvPr>
          <p:cNvSpPr/>
          <p:nvPr/>
        </p:nvSpPr>
        <p:spPr>
          <a:xfrm>
            <a:off x="4977706" y="5915323"/>
            <a:ext cx="46210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이력 관리</a:t>
            </a:r>
            <a:endParaRPr lang="en-US" sz="1200" dirty="0"/>
          </a:p>
        </p:txBody>
      </p:sp>
      <p:sp>
        <p:nvSpPr>
          <p:cNvPr id="73" name="직사각형 132">
            <a:extLst>
              <a:ext uri="{FF2B5EF4-FFF2-40B4-BE49-F238E27FC236}">
                <a16:creationId xmlns:a16="http://schemas.microsoft.com/office/drawing/2014/main" id="{804A5FA5-E8AA-4F38-CAD1-B62D0204A8A0}"/>
              </a:ext>
            </a:extLst>
          </p:cNvPr>
          <p:cNvSpPr/>
          <p:nvPr/>
        </p:nvSpPr>
        <p:spPr>
          <a:xfrm>
            <a:off x="7448658" y="1900424"/>
            <a:ext cx="2170325" cy="45525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74" name="직사각형 133">
            <a:extLst>
              <a:ext uri="{FF2B5EF4-FFF2-40B4-BE49-F238E27FC236}">
                <a16:creationId xmlns:a16="http://schemas.microsoft.com/office/drawing/2014/main" id="{58261F79-9DB2-CFDA-7F2D-316B95E2C0B9}"/>
              </a:ext>
            </a:extLst>
          </p:cNvPr>
          <p:cNvSpPr/>
          <p:nvPr/>
        </p:nvSpPr>
        <p:spPr>
          <a:xfrm>
            <a:off x="7448658" y="1908297"/>
            <a:ext cx="2175111" cy="289239"/>
          </a:xfrm>
          <a:prstGeom prst="rect">
            <a:avLst/>
          </a:prstGeom>
          <a:solidFill>
            <a:srgbClr val="0066AC"/>
          </a:solidFill>
          <a:ln w="6350">
            <a:noFill/>
          </a:ln>
        </p:spPr>
        <p:txBody>
          <a:bodyPr vert="horz" wrap="square" lIns="3600" tIns="3600" rIns="3600" bIns="36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 err="1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MLOps</a:t>
            </a:r>
            <a:r>
              <a:rPr lang="en-US" altLang="ko-KR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Pipeline</a:t>
            </a:r>
          </a:p>
        </p:txBody>
      </p:sp>
      <p:sp>
        <p:nvSpPr>
          <p:cNvPr id="90" name="object 77">
            <a:extLst>
              <a:ext uri="{FF2B5EF4-FFF2-40B4-BE49-F238E27FC236}">
                <a16:creationId xmlns:a16="http://schemas.microsoft.com/office/drawing/2014/main" id="{2D468434-6DD1-2CED-8ADB-7ABAC529A295}"/>
              </a:ext>
            </a:extLst>
          </p:cNvPr>
          <p:cNvSpPr txBox="1"/>
          <p:nvPr/>
        </p:nvSpPr>
        <p:spPr>
          <a:xfrm>
            <a:off x="7456313" y="2302676"/>
            <a:ext cx="2109525" cy="188513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</a:defRPr>
            </a:pPr>
            <a:r>
              <a:rPr lang="ko-KR" altLang="en-US" sz="1000" dirty="0"/>
              <a:t>▪ </a:t>
            </a:r>
            <a:r>
              <a:rPr lang="en-US" altLang="ko-KR" sz="1000" dirty="0"/>
              <a:t>Kubeflow Pipelines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</a:defRPr>
            </a:pPr>
            <a:r>
              <a:rPr lang="en-US" altLang="ko-KR" sz="1000" dirty="0"/>
              <a:t>  → </a:t>
            </a:r>
            <a:r>
              <a:rPr lang="ko-KR" altLang="en-US" sz="1000" dirty="0"/>
              <a:t>학습 파이프라인 오케스트레이션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</a:defRPr>
            </a:pPr>
            <a:r>
              <a:rPr lang="ko-KR" altLang="en-US" sz="1000" dirty="0"/>
              <a:t>▪ </a:t>
            </a:r>
            <a:r>
              <a:rPr lang="en-US" altLang="ko-KR" sz="1000" dirty="0" err="1"/>
              <a:t>MLflow</a:t>
            </a:r>
            <a:r>
              <a:rPr lang="ko-KR" altLang="en-US" sz="1000" dirty="0"/>
              <a:t> </a:t>
            </a:r>
            <a:r>
              <a:rPr lang="en-US" altLang="ko-KR" sz="1000" dirty="0"/>
              <a:t>Model Registry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</a:defRPr>
            </a:pPr>
            <a:r>
              <a:rPr lang="en-US" altLang="ko-KR" sz="1000" dirty="0"/>
              <a:t>  → </a:t>
            </a:r>
            <a:r>
              <a:rPr lang="ko-KR" altLang="en-US" sz="1000" dirty="0"/>
              <a:t>모델 버전 관리 및 메타데이터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</a:defRPr>
            </a:pPr>
            <a:r>
              <a:rPr lang="ko-KR" altLang="en-US" sz="1000" dirty="0"/>
              <a:t>▪ </a:t>
            </a:r>
            <a:r>
              <a:rPr lang="en-US" altLang="ko-KR" sz="1000" dirty="0"/>
              <a:t>Seldon Core Serving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</a:defRPr>
            </a:pPr>
            <a:r>
              <a:rPr lang="en-US" altLang="ko-KR" sz="1000" dirty="0"/>
              <a:t>  → </a:t>
            </a:r>
            <a:r>
              <a:rPr lang="ko-KR" altLang="en-US" sz="1000" dirty="0"/>
              <a:t>모델 서빙 및 </a:t>
            </a:r>
            <a:r>
              <a:rPr lang="en-US" altLang="ko-KR" sz="1000" dirty="0"/>
              <a:t>A/B </a:t>
            </a:r>
            <a:r>
              <a:rPr lang="ko-KR" altLang="en-US" sz="1000" dirty="0"/>
              <a:t>테스트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</a:defRPr>
            </a:pPr>
            <a:r>
              <a:rPr lang="ko-KR" altLang="en-US" sz="1000" dirty="0"/>
              <a:t>▪ </a:t>
            </a:r>
            <a:r>
              <a:rPr lang="en-US" altLang="ko-KR" sz="1000" dirty="0"/>
              <a:t>Prometheus + Grafana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</a:defRPr>
            </a:pPr>
            <a:r>
              <a:rPr lang="en-US" altLang="ko-KR" sz="1000" dirty="0"/>
              <a:t>  → </a:t>
            </a:r>
            <a:r>
              <a:rPr lang="ko-KR" altLang="en-US" sz="1000" dirty="0"/>
              <a:t>성능 모니터링 및 알림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</a:defRPr>
            </a:pPr>
            <a:r>
              <a:rPr lang="ko-KR" altLang="en-US" sz="1000" dirty="0"/>
              <a:t>▪ </a:t>
            </a:r>
            <a:r>
              <a:rPr lang="en-US" altLang="ko-KR" sz="1000" dirty="0"/>
              <a:t>DVC + Git</a:t>
            </a:r>
          </a:p>
          <a:p>
            <a:pPr>
              <a:spcAft>
                <a:spcPts val="300"/>
              </a:spcAft>
              <a:defRPr sz="1100" b="0">
                <a:solidFill>
                  <a:srgbClr val="333333"/>
                </a:solidFill>
              </a:defRPr>
            </a:pPr>
            <a:r>
              <a:rPr lang="en-US" altLang="ko-KR" sz="1000" dirty="0"/>
              <a:t>  → </a:t>
            </a:r>
            <a:r>
              <a:rPr lang="ko-KR" altLang="en-US" sz="1000" dirty="0"/>
              <a:t>데이터</a:t>
            </a:r>
            <a:r>
              <a:rPr lang="en-US" altLang="ko-KR" sz="1000" dirty="0"/>
              <a:t>/</a:t>
            </a:r>
            <a:r>
              <a:rPr lang="ko-KR" altLang="en-US" sz="1000" dirty="0"/>
              <a:t>모델 버전 컨트롤</a:t>
            </a:r>
          </a:p>
        </p:txBody>
      </p:sp>
      <p:grpSp>
        <p:nvGrpSpPr>
          <p:cNvPr id="91" name="그룹 151">
            <a:extLst>
              <a:ext uri="{FF2B5EF4-FFF2-40B4-BE49-F238E27FC236}">
                <a16:creationId xmlns:a16="http://schemas.microsoft.com/office/drawing/2014/main" id="{A5CFF908-E017-487C-AEB8-AE96014E2043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92" name="모서리가 둥근 직사각형 20">
              <a:extLst>
                <a:ext uri="{FF2B5EF4-FFF2-40B4-BE49-F238E27FC236}">
                  <a16:creationId xmlns:a16="http://schemas.microsoft.com/office/drawing/2014/main" id="{85AD78FB-8CF8-B28E-1874-EB357167DAF3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93" name="직사각형 153">
              <a:extLst>
                <a:ext uri="{FF2B5EF4-FFF2-40B4-BE49-F238E27FC236}">
                  <a16:creationId xmlns:a16="http://schemas.microsoft.com/office/drawing/2014/main" id="{58C6FA7F-B57C-C0AE-0290-16D709A4DA54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AAR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-003</a:t>
              </a:r>
            </a:p>
          </p:txBody>
        </p:sp>
        <p:sp>
          <p:nvSpPr>
            <p:cNvPr id="94" name="직사각형 154">
              <a:extLst>
                <a:ext uri="{FF2B5EF4-FFF2-40B4-BE49-F238E27FC236}">
                  <a16:creationId xmlns:a16="http://schemas.microsoft.com/office/drawing/2014/main" id="{0CA20CC1-B416-3E81-A2E6-52D49B361AC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95" name="직선 연결선 155">
              <a:extLst>
                <a:ext uri="{FF2B5EF4-FFF2-40B4-BE49-F238E27FC236}">
                  <a16:creationId xmlns:a16="http://schemas.microsoft.com/office/drawing/2014/main" id="{7B1DE331-E3F0-BB9B-99B9-E179F95D8A4F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3169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DB2F0-5B1A-766E-B884-F0238D117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4ECD1FE6-A734-E169-1DF7-D28041C558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8.3 AI </a:t>
            </a:r>
            <a:r>
              <a:rPr lang="ko-KR" altLang="en-US" dirty="0"/>
              <a:t>기능 및 자원 관리 방안 </a:t>
            </a:r>
            <a:r>
              <a:rPr lang="en-US" altLang="ko-KR" dirty="0"/>
              <a:t>(2/3)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FC75CB1-DEBF-BACF-8D20-95B03FF73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8. AI </a:t>
            </a:r>
            <a:r>
              <a:rPr lang="ko-KR" altLang="en-US" dirty="0"/>
              <a:t>적용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676A249A-3ECF-6CF8-5A4E-E329B27470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Prometheus</a:t>
            </a:r>
            <a:r>
              <a:rPr lang="ko-KR" altLang="en-US" dirty="0"/>
              <a:t>로 실시간 </a:t>
            </a:r>
            <a:r>
              <a:rPr lang="ko-KR" altLang="en-US" dirty="0" err="1"/>
              <a:t>메트릭</a:t>
            </a:r>
            <a:r>
              <a:rPr lang="ko-KR" altLang="en-US" dirty="0"/>
              <a:t> 수집 → </a:t>
            </a:r>
            <a:r>
              <a:rPr lang="en-US" altLang="ko-KR" dirty="0"/>
              <a:t>Kubernetes Scheduler</a:t>
            </a:r>
            <a:r>
              <a:rPr lang="ko-KR" altLang="en-US" dirty="0"/>
              <a:t>가 </a:t>
            </a:r>
            <a:r>
              <a:rPr lang="en-US" altLang="ko-KR" dirty="0"/>
              <a:t>Priority </a:t>
            </a:r>
            <a:r>
              <a:rPr lang="ko-KR" altLang="en-US" dirty="0"/>
              <a:t>기반 자원 할당 → </a:t>
            </a:r>
            <a:r>
              <a:rPr lang="en-US" altLang="ko-KR" dirty="0"/>
              <a:t>Docker/K8s</a:t>
            </a:r>
            <a:r>
              <a:rPr lang="ko-KR" altLang="en-US" dirty="0"/>
              <a:t>가 컨테이너 실행하고</a:t>
            </a:r>
            <a:r>
              <a:rPr lang="en-US" altLang="ko-KR" dirty="0"/>
              <a:t>, NVIDIA MIG</a:t>
            </a:r>
            <a:r>
              <a:rPr lang="ko-KR" altLang="en-US" dirty="0"/>
              <a:t>로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  <a:r>
              <a:rPr lang="en-US" altLang="ko-KR" dirty="0"/>
              <a:t>H100 GPU</a:t>
            </a:r>
            <a:r>
              <a:rPr lang="ko-KR" altLang="en-US" dirty="0"/>
              <a:t>를 </a:t>
            </a:r>
            <a:r>
              <a:rPr lang="en-US" altLang="ko-KR" dirty="0"/>
              <a:t>7</a:t>
            </a:r>
            <a:r>
              <a:rPr lang="ko-KR" altLang="en-US" dirty="0"/>
              <a:t>개 가상 인스턴스로 분할하여 </a:t>
            </a:r>
            <a:r>
              <a:rPr lang="ko-KR" altLang="en-US" dirty="0" err="1"/>
              <a:t>멀티테넌시</a:t>
            </a:r>
            <a:r>
              <a:rPr lang="ko-KR" altLang="en-US" dirty="0"/>
              <a:t> 환경 구축</a:t>
            </a:r>
            <a:r>
              <a:rPr lang="en-US" altLang="ko-KR" dirty="0"/>
              <a:t>, </a:t>
            </a:r>
            <a:r>
              <a:rPr lang="ko-KR" altLang="en-US" dirty="0"/>
              <a:t>활용률 </a:t>
            </a:r>
            <a:r>
              <a:rPr lang="en-US" altLang="ko-KR" dirty="0"/>
              <a:t>95% </a:t>
            </a:r>
            <a:r>
              <a:rPr lang="ko-KR" altLang="en-US" dirty="0"/>
              <a:t>이상을</a:t>
            </a:r>
            <a:r>
              <a:rPr lang="en-US" altLang="ko-KR" dirty="0"/>
              <a:t> </a:t>
            </a:r>
            <a:r>
              <a:rPr lang="ko-KR" altLang="en-US" dirty="0"/>
              <a:t>달성하겠습니다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B2439E7F-F71D-8437-B04B-11BC7F306C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전용 컴퓨팅 자원 통합 관리 시스템</a:t>
            </a:r>
          </a:p>
        </p:txBody>
      </p:sp>
      <p:grpSp>
        <p:nvGrpSpPr>
          <p:cNvPr id="97" name="그룹 151">
            <a:extLst>
              <a:ext uri="{FF2B5EF4-FFF2-40B4-BE49-F238E27FC236}">
                <a16:creationId xmlns:a16="http://schemas.microsoft.com/office/drawing/2014/main" id="{9BB26649-CD63-DD0A-81CE-3C43BA8A05F6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98" name="모서리가 둥근 직사각형 20">
              <a:extLst>
                <a:ext uri="{FF2B5EF4-FFF2-40B4-BE49-F238E27FC236}">
                  <a16:creationId xmlns:a16="http://schemas.microsoft.com/office/drawing/2014/main" id="{D1BA2756-663D-CAB3-8153-115FA7A70B0B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99" name="직사각형 153">
              <a:extLst>
                <a:ext uri="{FF2B5EF4-FFF2-40B4-BE49-F238E27FC236}">
                  <a16:creationId xmlns:a16="http://schemas.microsoft.com/office/drawing/2014/main" id="{AFB8311D-90C2-7E54-EEA9-E7E83DC3CF4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AAR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-003</a:t>
              </a:r>
            </a:p>
          </p:txBody>
        </p:sp>
        <p:sp>
          <p:nvSpPr>
            <p:cNvPr id="100" name="직사각형 154">
              <a:extLst>
                <a:ext uri="{FF2B5EF4-FFF2-40B4-BE49-F238E27FC236}">
                  <a16:creationId xmlns:a16="http://schemas.microsoft.com/office/drawing/2014/main" id="{5E9A2F5F-9BC5-98F2-E15E-356464BD56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101" name="직선 연결선 155">
              <a:extLst>
                <a:ext uri="{FF2B5EF4-FFF2-40B4-BE49-F238E27FC236}">
                  <a16:creationId xmlns:a16="http://schemas.microsoft.com/office/drawing/2014/main" id="{288249FA-0C0F-B70C-4E29-5E152443247C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8" name="Rounded Rectangle 6">
            <a:extLst>
              <a:ext uri="{FF2B5EF4-FFF2-40B4-BE49-F238E27FC236}">
                <a16:creationId xmlns:a16="http://schemas.microsoft.com/office/drawing/2014/main" id="{4BA1AF24-6E1E-8FD3-6066-28ADC6A8434F}"/>
              </a:ext>
            </a:extLst>
          </p:cNvPr>
          <p:cNvSpPr/>
          <p:nvPr/>
        </p:nvSpPr>
        <p:spPr>
          <a:xfrm>
            <a:off x="382424" y="2299418"/>
            <a:ext cx="2700000" cy="2514122"/>
          </a:xfrm>
          <a:prstGeom prst="roundRect">
            <a:avLst/>
          </a:prstGeom>
          <a:solidFill>
            <a:srgbClr val="E6F5FF"/>
          </a:solidFill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3D904AA4-963D-5D68-D3C9-2AE86E26F2D0}"/>
              </a:ext>
            </a:extLst>
          </p:cNvPr>
          <p:cNvSpPr txBox="1"/>
          <p:nvPr/>
        </p:nvSpPr>
        <p:spPr>
          <a:xfrm>
            <a:off x="490423" y="2453294"/>
            <a:ext cx="248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5BAC"/>
                </a:solidFill>
              </a:defRPr>
            </a:pPr>
            <a:r>
              <a:t>① 모니터링 레이어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AF4DB7C7-9845-6A71-EAAD-675D843F72F5}"/>
              </a:ext>
            </a:extLst>
          </p:cNvPr>
          <p:cNvSpPr txBox="1"/>
          <p:nvPr/>
        </p:nvSpPr>
        <p:spPr>
          <a:xfrm>
            <a:off x="490423" y="2722804"/>
            <a:ext cx="2484000" cy="18107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📊 Prometheus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  • DCGM Exporter</a:t>
            </a:r>
            <a:r>
              <a:rPr lang="en-US" dirty="0"/>
              <a:t> / </a:t>
            </a:r>
            <a:r>
              <a:rPr dirty="0"/>
              <a:t>Node Exporter</a:t>
            </a:r>
            <a:r>
              <a:rPr lang="en-US" dirty="0"/>
              <a:t> / </a:t>
            </a:r>
            <a:r>
              <a:rPr dirty="0"/>
              <a:t> </a:t>
            </a:r>
            <a:r>
              <a:rPr dirty="0" err="1"/>
              <a:t>cAdvisor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📈 Grafana Dashboard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  • GPU </a:t>
            </a:r>
            <a:r>
              <a:rPr dirty="0" err="1"/>
              <a:t>클러스터</a:t>
            </a:r>
            <a:r>
              <a:rPr dirty="0"/>
              <a:t> Overview</a:t>
            </a:r>
            <a:r>
              <a:rPr lang="en-US" dirty="0"/>
              <a:t> / </a:t>
            </a:r>
            <a:r>
              <a:rPr dirty="0" err="1"/>
              <a:t>노드별</a:t>
            </a:r>
            <a:r>
              <a:rPr dirty="0"/>
              <a:t>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메트릭</a:t>
            </a:r>
            <a:r>
              <a:rPr lang="en-US" dirty="0"/>
              <a:t> / </a:t>
            </a:r>
            <a:r>
              <a:rPr dirty="0" err="1"/>
              <a:t>팀별</a:t>
            </a:r>
            <a:r>
              <a:rPr dirty="0"/>
              <a:t> </a:t>
            </a:r>
            <a:r>
              <a:rPr dirty="0" err="1"/>
              <a:t>리소스</a:t>
            </a:r>
            <a:r>
              <a:rPr dirty="0"/>
              <a:t> </a:t>
            </a:r>
            <a:r>
              <a:rPr dirty="0" err="1"/>
              <a:t>현황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🚨 Alert Manager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  • GPU 95% </a:t>
            </a:r>
            <a:r>
              <a:rPr dirty="0" err="1"/>
              <a:t>초과</a:t>
            </a:r>
            <a:r>
              <a:rPr dirty="0"/>
              <a:t> </a:t>
            </a:r>
            <a:r>
              <a:rPr dirty="0" err="1"/>
              <a:t>알림</a:t>
            </a:r>
            <a:r>
              <a:rPr lang="en-US" dirty="0"/>
              <a:t> / </a:t>
            </a:r>
            <a:r>
              <a:rPr dirty="0" err="1"/>
              <a:t>메모리</a:t>
            </a:r>
            <a:r>
              <a:rPr dirty="0"/>
              <a:t> </a:t>
            </a:r>
            <a:r>
              <a:rPr dirty="0" err="1"/>
              <a:t>부족</a:t>
            </a:r>
            <a:r>
              <a:rPr dirty="0"/>
              <a:t> </a:t>
            </a:r>
            <a:r>
              <a:rPr dirty="0" err="1"/>
              <a:t>경고</a:t>
            </a:r>
            <a:endParaRPr dirty="0"/>
          </a:p>
        </p:txBody>
      </p:sp>
      <p:sp>
        <p:nvSpPr>
          <p:cNvPr id="131" name="Right Arrow 9">
            <a:extLst>
              <a:ext uri="{FF2B5EF4-FFF2-40B4-BE49-F238E27FC236}">
                <a16:creationId xmlns:a16="http://schemas.microsoft.com/office/drawing/2014/main" id="{C0CAEE36-CF9D-B8A4-2181-CC366F908EEE}"/>
              </a:ext>
            </a:extLst>
          </p:cNvPr>
          <p:cNvSpPr/>
          <p:nvPr/>
        </p:nvSpPr>
        <p:spPr>
          <a:xfrm>
            <a:off x="3154423" y="3281294"/>
            <a:ext cx="576000" cy="216000"/>
          </a:xfrm>
          <a:prstGeom prst="right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24E371C-4E1C-299E-E0AD-8038E20B3DD7}"/>
              </a:ext>
            </a:extLst>
          </p:cNvPr>
          <p:cNvSpPr txBox="1"/>
          <p:nvPr/>
        </p:nvSpPr>
        <p:spPr>
          <a:xfrm>
            <a:off x="3154423" y="3101294"/>
            <a:ext cx="5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AEEF"/>
                </a:solidFill>
              </a:defRPr>
            </a:pPr>
            <a:r>
              <a:t>메트릭 전달</a:t>
            </a:r>
          </a:p>
        </p:txBody>
      </p:sp>
      <p:sp>
        <p:nvSpPr>
          <p:cNvPr id="133" name="Rounded Rectangle 11">
            <a:extLst>
              <a:ext uri="{FF2B5EF4-FFF2-40B4-BE49-F238E27FC236}">
                <a16:creationId xmlns:a16="http://schemas.microsoft.com/office/drawing/2014/main" id="{241EDCE7-F959-2AD4-1B7E-1D97A7D44E2B}"/>
              </a:ext>
            </a:extLst>
          </p:cNvPr>
          <p:cNvSpPr/>
          <p:nvPr/>
        </p:nvSpPr>
        <p:spPr>
          <a:xfrm>
            <a:off x="3802424" y="2299418"/>
            <a:ext cx="2700000" cy="2514122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5FB84AF4-0BE9-8102-6676-AC78E86E3905}"/>
              </a:ext>
            </a:extLst>
          </p:cNvPr>
          <p:cNvSpPr txBox="1"/>
          <p:nvPr/>
        </p:nvSpPr>
        <p:spPr>
          <a:xfrm>
            <a:off x="3910424" y="2453294"/>
            <a:ext cx="2484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5BAC"/>
                </a:solidFill>
              </a:defRPr>
            </a:pPr>
            <a:r>
              <a:t>② 스케줄링 레이어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166AD6D-7609-EDD1-EC85-9DA3BAEDEF5C}"/>
              </a:ext>
            </a:extLst>
          </p:cNvPr>
          <p:cNvSpPr txBox="1"/>
          <p:nvPr/>
        </p:nvSpPr>
        <p:spPr>
          <a:xfrm>
            <a:off x="3910424" y="2715097"/>
            <a:ext cx="2484000" cy="2015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⚙️ Kubernetes Scheduler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  • Priority Class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    - Critical: 10000</a:t>
            </a:r>
            <a:r>
              <a:rPr lang="en-US" dirty="0"/>
              <a:t> / </a:t>
            </a:r>
            <a:r>
              <a:rPr dirty="0"/>
              <a:t> - High: 1000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    - Medium: 100</a:t>
            </a:r>
            <a:r>
              <a:rPr lang="en-US" dirty="0"/>
              <a:t> / </a:t>
            </a:r>
            <a:r>
              <a:rPr dirty="0"/>
              <a:t>  - Low: 10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📦 Resource Quotas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  • </a:t>
            </a:r>
            <a:r>
              <a:rPr dirty="0" err="1"/>
              <a:t>데이터팀</a:t>
            </a:r>
            <a:r>
              <a:rPr dirty="0"/>
              <a:t>: 4 GPU</a:t>
            </a:r>
            <a:r>
              <a:rPr lang="en-US" dirty="0"/>
              <a:t> / </a:t>
            </a:r>
            <a:r>
              <a:rPr dirty="0" err="1"/>
              <a:t>연구팀</a:t>
            </a:r>
            <a:r>
              <a:rPr dirty="0"/>
              <a:t>: 3 GPU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🎯 Dynamic Scheduling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  • Bin Packing</a:t>
            </a:r>
            <a:r>
              <a:rPr lang="en-US" dirty="0"/>
              <a:t> / </a:t>
            </a:r>
            <a:r>
              <a:rPr dirty="0"/>
              <a:t>Gang Scheduling</a:t>
            </a:r>
            <a:r>
              <a:rPr lang="en-US" dirty="0"/>
              <a:t> / </a:t>
            </a:r>
            <a:r>
              <a:rPr dirty="0"/>
              <a:t> Preemption</a:t>
            </a:r>
          </a:p>
        </p:txBody>
      </p:sp>
      <p:sp>
        <p:nvSpPr>
          <p:cNvPr id="136" name="Right Arrow 14">
            <a:extLst>
              <a:ext uri="{FF2B5EF4-FFF2-40B4-BE49-F238E27FC236}">
                <a16:creationId xmlns:a16="http://schemas.microsoft.com/office/drawing/2014/main" id="{A09EE2A4-D997-59DA-815F-AED6A07C3192}"/>
              </a:ext>
            </a:extLst>
          </p:cNvPr>
          <p:cNvSpPr/>
          <p:nvPr/>
        </p:nvSpPr>
        <p:spPr>
          <a:xfrm>
            <a:off x="6574424" y="3281294"/>
            <a:ext cx="576000" cy="216000"/>
          </a:xfrm>
          <a:prstGeom prst="right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97845D4-D077-840C-3E6D-3FA1006CA38A}"/>
              </a:ext>
            </a:extLst>
          </p:cNvPr>
          <p:cNvSpPr txBox="1"/>
          <p:nvPr/>
        </p:nvSpPr>
        <p:spPr>
          <a:xfrm>
            <a:off x="6574424" y="3101294"/>
            <a:ext cx="576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AEEF"/>
                </a:solidFill>
              </a:defRPr>
            </a:pPr>
            <a:r>
              <a:t>자원 할당</a:t>
            </a:r>
          </a:p>
        </p:txBody>
      </p:sp>
      <p:sp>
        <p:nvSpPr>
          <p:cNvPr id="138" name="Rounded Rectangle 16">
            <a:extLst>
              <a:ext uri="{FF2B5EF4-FFF2-40B4-BE49-F238E27FC236}">
                <a16:creationId xmlns:a16="http://schemas.microsoft.com/office/drawing/2014/main" id="{9F72AEEF-8A0A-FAD3-6F88-78DB0F68DFBE}"/>
              </a:ext>
            </a:extLst>
          </p:cNvPr>
          <p:cNvSpPr/>
          <p:nvPr/>
        </p:nvSpPr>
        <p:spPr>
          <a:xfrm>
            <a:off x="7222424" y="2299418"/>
            <a:ext cx="2411098" cy="2514122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FAA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1B33260-38FF-3301-4BFF-DE255A488D94}"/>
              </a:ext>
            </a:extLst>
          </p:cNvPr>
          <p:cNvSpPr txBox="1"/>
          <p:nvPr/>
        </p:nvSpPr>
        <p:spPr>
          <a:xfrm>
            <a:off x="7330424" y="2453294"/>
            <a:ext cx="1836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05BAC"/>
                </a:solidFill>
              </a:defRPr>
            </a:pPr>
            <a:r>
              <a:t>③ 실행 레이어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39D0E2A-4934-D80C-09AD-D7D4746A9A6A}"/>
              </a:ext>
            </a:extLst>
          </p:cNvPr>
          <p:cNvSpPr txBox="1"/>
          <p:nvPr/>
        </p:nvSpPr>
        <p:spPr>
          <a:xfrm>
            <a:off x="7330423" y="2753110"/>
            <a:ext cx="2231999" cy="183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🐳 Docker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  • CPU Limits</a:t>
            </a:r>
            <a:r>
              <a:rPr lang="en-US" dirty="0"/>
              <a:t> / </a:t>
            </a:r>
            <a:r>
              <a:rPr dirty="0"/>
              <a:t>Memory Limits</a:t>
            </a:r>
            <a:r>
              <a:rPr lang="en-US" dirty="0"/>
              <a:t> / </a:t>
            </a:r>
            <a:r>
              <a:rPr dirty="0"/>
              <a:t>GPU </a:t>
            </a:r>
            <a:r>
              <a:rPr dirty="0" err="1"/>
              <a:t>할당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☸️ Kubernetes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  • Requests</a:t>
            </a:r>
            <a:r>
              <a:rPr lang="en-US" dirty="0"/>
              <a:t> / </a:t>
            </a:r>
            <a:r>
              <a:rPr dirty="0"/>
              <a:t>Limits</a:t>
            </a:r>
            <a:r>
              <a:rPr lang="en-US" dirty="0"/>
              <a:t> /</a:t>
            </a:r>
            <a:r>
              <a:rPr dirty="0"/>
              <a:t> </a:t>
            </a:r>
            <a:r>
              <a:rPr dirty="0" err="1"/>
              <a:t>LimitRange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🎮 GPU </a:t>
            </a:r>
            <a:r>
              <a:rPr dirty="0" err="1"/>
              <a:t>관리</a:t>
            </a:r>
            <a:endParaRPr dirty="0"/>
          </a:p>
          <a:p>
            <a:pPr algn="l">
              <a:spcAft>
                <a:spcPts val="200"/>
              </a:spcAft>
              <a:defRPr sz="1000" b="0">
                <a:solidFill>
                  <a:srgbClr val="333333"/>
                </a:solidFill>
              </a:defRPr>
            </a:pPr>
            <a:r>
              <a:rPr dirty="0"/>
              <a:t>  • NVIDIA MIG</a:t>
            </a:r>
            <a:r>
              <a:rPr lang="en-US" dirty="0"/>
              <a:t> / </a:t>
            </a:r>
            <a:r>
              <a:rPr dirty="0"/>
              <a:t>CUDA MPS</a:t>
            </a:r>
            <a:r>
              <a:rPr lang="en-US" dirty="0"/>
              <a:t> / </a:t>
            </a:r>
            <a:r>
              <a:rPr dirty="0"/>
              <a:t>Time-Slicing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FEA6FF0-CBF3-2CFE-6773-3D0EC8E83275}"/>
              </a:ext>
            </a:extLst>
          </p:cNvPr>
          <p:cNvSpPr txBox="1"/>
          <p:nvPr/>
        </p:nvSpPr>
        <p:spPr>
          <a:xfrm>
            <a:off x="3370422" y="5012049"/>
            <a:ext cx="6192001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005BAC"/>
                </a:solidFill>
              </a:defRPr>
            </a:pPr>
            <a:r>
              <a:rPr dirty="0"/>
              <a:t>GPU </a:t>
            </a:r>
            <a:r>
              <a:rPr dirty="0" err="1"/>
              <a:t>분할</a:t>
            </a:r>
            <a:r>
              <a:rPr dirty="0"/>
              <a:t> 및 </a:t>
            </a:r>
            <a:r>
              <a:rPr dirty="0" err="1"/>
              <a:t>활용</a:t>
            </a:r>
            <a:r>
              <a:rPr dirty="0"/>
              <a:t> </a:t>
            </a:r>
            <a:r>
              <a:rPr dirty="0" err="1"/>
              <a:t>상세</a:t>
            </a:r>
            <a:r>
              <a:rPr dirty="0"/>
              <a:t> </a:t>
            </a:r>
            <a:r>
              <a:rPr dirty="0" err="1"/>
              <a:t>구조</a:t>
            </a:r>
            <a:endParaRPr dirty="0"/>
          </a:p>
        </p:txBody>
      </p:sp>
      <p:sp>
        <p:nvSpPr>
          <p:cNvPr id="142" name="Rounded Rectangle 20">
            <a:extLst>
              <a:ext uri="{FF2B5EF4-FFF2-40B4-BE49-F238E27FC236}">
                <a16:creationId xmlns:a16="http://schemas.microsoft.com/office/drawing/2014/main" id="{38BE78B8-57C3-E297-17CB-D9F7A7955494}"/>
              </a:ext>
            </a:extLst>
          </p:cNvPr>
          <p:cNvSpPr/>
          <p:nvPr/>
        </p:nvSpPr>
        <p:spPr>
          <a:xfrm>
            <a:off x="382424" y="4901294"/>
            <a:ext cx="2160000" cy="1440000"/>
          </a:xfrm>
          <a:prstGeom prst="roundRect">
            <a:avLst/>
          </a:prstGeom>
          <a:solidFill>
            <a:srgbClr val="6496C8"/>
          </a:solidFill>
          <a:ln w="381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7D4947AF-9E9B-3A7C-A494-862CFFADF88E}"/>
              </a:ext>
            </a:extLst>
          </p:cNvPr>
          <p:cNvSpPr txBox="1"/>
          <p:nvPr/>
        </p:nvSpPr>
        <p:spPr>
          <a:xfrm>
            <a:off x="490423" y="5003176"/>
            <a:ext cx="1944000" cy="12362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rPr dirty="0"/>
              <a:t>NVIDIA </a:t>
            </a:r>
            <a:r>
              <a:rPr lang="en-US" dirty="0"/>
              <a:t>H</a:t>
            </a:r>
            <a:r>
              <a:rPr dirty="0"/>
              <a:t>100 80GB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rPr dirty="0" err="1"/>
              <a:t>물리적</a:t>
            </a:r>
            <a:r>
              <a:rPr dirty="0"/>
              <a:t> GPU 1개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endParaRPr dirty="0"/>
          </a:p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rPr dirty="0"/>
              <a:t>총 </a:t>
            </a:r>
            <a:r>
              <a:rPr dirty="0" err="1"/>
              <a:t>메모리</a:t>
            </a:r>
            <a:r>
              <a:rPr dirty="0"/>
              <a:t>: 80GB</a:t>
            </a:r>
          </a:p>
          <a:p>
            <a:pPr algn="ctr">
              <a:spcAft>
                <a:spcPts val="200"/>
              </a:spcAft>
              <a:defRPr sz="1100" b="1">
                <a:solidFill>
                  <a:srgbClr val="FFFFFF"/>
                </a:solidFill>
              </a:defRPr>
            </a:pPr>
            <a:r>
              <a:rPr dirty="0"/>
              <a:t>CUDA Cores: 6,912개</a:t>
            </a:r>
          </a:p>
        </p:txBody>
      </p:sp>
      <p:sp>
        <p:nvSpPr>
          <p:cNvPr id="144" name="Right Arrow 22">
            <a:extLst>
              <a:ext uri="{FF2B5EF4-FFF2-40B4-BE49-F238E27FC236}">
                <a16:creationId xmlns:a16="http://schemas.microsoft.com/office/drawing/2014/main" id="{86324D2C-2A10-EEC3-1038-52F5C6E59C64}"/>
              </a:ext>
            </a:extLst>
          </p:cNvPr>
          <p:cNvSpPr/>
          <p:nvPr/>
        </p:nvSpPr>
        <p:spPr>
          <a:xfrm>
            <a:off x="2614423" y="5513294"/>
            <a:ext cx="648000" cy="216000"/>
          </a:xfrm>
          <a:prstGeom prst="rightArrow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4B9EE59-3371-ED55-F4D9-F1A0A4C79960}"/>
              </a:ext>
            </a:extLst>
          </p:cNvPr>
          <p:cNvSpPr txBox="1"/>
          <p:nvPr/>
        </p:nvSpPr>
        <p:spPr>
          <a:xfrm>
            <a:off x="2614423" y="5333294"/>
            <a:ext cx="648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AEEF"/>
                </a:solidFill>
              </a:defRPr>
            </a:pPr>
            <a:r>
              <a:t>MIG 분할</a:t>
            </a:r>
          </a:p>
        </p:txBody>
      </p:sp>
      <p:sp>
        <p:nvSpPr>
          <p:cNvPr id="146" name="Rounded Rectangle 24">
            <a:extLst>
              <a:ext uri="{FF2B5EF4-FFF2-40B4-BE49-F238E27FC236}">
                <a16:creationId xmlns:a16="http://schemas.microsoft.com/office/drawing/2014/main" id="{063C841E-E932-59AB-0699-C4FB9BAE8042}"/>
              </a:ext>
            </a:extLst>
          </p:cNvPr>
          <p:cNvSpPr/>
          <p:nvPr/>
        </p:nvSpPr>
        <p:spPr>
          <a:xfrm>
            <a:off x="3334423" y="5349855"/>
            <a:ext cx="827999" cy="64800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32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C9A014E-5AE4-8CB1-50CE-5EA207D55F64}"/>
              </a:ext>
            </a:extLst>
          </p:cNvPr>
          <p:cNvSpPr txBox="1"/>
          <p:nvPr/>
        </p:nvSpPr>
        <p:spPr>
          <a:xfrm>
            <a:off x="3370423" y="5421855"/>
            <a:ext cx="75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MIG-0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1g.10gb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10GB</a:t>
            </a:r>
          </a:p>
        </p:txBody>
      </p:sp>
      <p:sp>
        <p:nvSpPr>
          <p:cNvPr id="148" name="Rounded Rectangle 26">
            <a:extLst>
              <a:ext uri="{FF2B5EF4-FFF2-40B4-BE49-F238E27FC236}">
                <a16:creationId xmlns:a16="http://schemas.microsoft.com/office/drawing/2014/main" id="{F26C8FCB-136E-2288-B588-EE7AF765CAFB}"/>
              </a:ext>
            </a:extLst>
          </p:cNvPr>
          <p:cNvSpPr/>
          <p:nvPr/>
        </p:nvSpPr>
        <p:spPr>
          <a:xfrm>
            <a:off x="4234424" y="5349855"/>
            <a:ext cx="827999" cy="64800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32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9754B0F-E0AA-38C8-BB95-CE437F09AB20}"/>
              </a:ext>
            </a:extLst>
          </p:cNvPr>
          <p:cNvSpPr txBox="1"/>
          <p:nvPr/>
        </p:nvSpPr>
        <p:spPr>
          <a:xfrm>
            <a:off x="4270424" y="5421855"/>
            <a:ext cx="75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MIG-1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1g.10gb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10GB</a:t>
            </a:r>
          </a:p>
        </p:txBody>
      </p:sp>
      <p:sp>
        <p:nvSpPr>
          <p:cNvPr id="150" name="Rounded Rectangle 28">
            <a:extLst>
              <a:ext uri="{FF2B5EF4-FFF2-40B4-BE49-F238E27FC236}">
                <a16:creationId xmlns:a16="http://schemas.microsoft.com/office/drawing/2014/main" id="{4A923741-8EA0-02DA-098C-DE5879865385}"/>
              </a:ext>
            </a:extLst>
          </p:cNvPr>
          <p:cNvSpPr/>
          <p:nvPr/>
        </p:nvSpPr>
        <p:spPr>
          <a:xfrm>
            <a:off x="5134424" y="5349855"/>
            <a:ext cx="827999" cy="64800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32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6DA4B1DD-C333-3591-2E80-7B30E4062EA0}"/>
              </a:ext>
            </a:extLst>
          </p:cNvPr>
          <p:cNvSpPr txBox="1"/>
          <p:nvPr/>
        </p:nvSpPr>
        <p:spPr>
          <a:xfrm>
            <a:off x="5170424" y="5421855"/>
            <a:ext cx="75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MIG-2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1g.10gb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10GB</a:t>
            </a:r>
          </a:p>
        </p:txBody>
      </p:sp>
      <p:sp>
        <p:nvSpPr>
          <p:cNvPr id="152" name="Rounded Rectangle 30">
            <a:extLst>
              <a:ext uri="{FF2B5EF4-FFF2-40B4-BE49-F238E27FC236}">
                <a16:creationId xmlns:a16="http://schemas.microsoft.com/office/drawing/2014/main" id="{D739BA50-58D1-93B4-F151-A8307ACA79BE}"/>
              </a:ext>
            </a:extLst>
          </p:cNvPr>
          <p:cNvSpPr/>
          <p:nvPr/>
        </p:nvSpPr>
        <p:spPr>
          <a:xfrm>
            <a:off x="6034424" y="5349855"/>
            <a:ext cx="827999" cy="64800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32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9608E010-1457-3F4B-E83C-38C2B06ED577}"/>
              </a:ext>
            </a:extLst>
          </p:cNvPr>
          <p:cNvSpPr txBox="1"/>
          <p:nvPr/>
        </p:nvSpPr>
        <p:spPr>
          <a:xfrm>
            <a:off x="6070424" y="5421855"/>
            <a:ext cx="75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MIG-3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1g.10gb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10GB</a:t>
            </a:r>
          </a:p>
        </p:txBody>
      </p:sp>
      <p:sp>
        <p:nvSpPr>
          <p:cNvPr id="154" name="Rounded Rectangle 32">
            <a:extLst>
              <a:ext uri="{FF2B5EF4-FFF2-40B4-BE49-F238E27FC236}">
                <a16:creationId xmlns:a16="http://schemas.microsoft.com/office/drawing/2014/main" id="{BC598CBC-D9AD-A029-33A1-B811B6912636}"/>
              </a:ext>
            </a:extLst>
          </p:cNvPr>
          <p:cNvSpPr/>
          <p:nvPr/>
        </p:nvSpPr>
        <p:spPr>
          <a:xfrm>
            <a:off x="6934424" y="5349855"/>
            <a:ext cx="827999" cy="64800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32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351EE5DF-942A-43AD-9996-CFB01D707BCF}"/>
              </a:ext>
            </a:extLst>
          </p:cNvPr>
          <p:cNvSpPr txBox="1"/>
          <p:nvPr/>
        </p:nvSpPr>
        <p:spPr>
          <a:xfrm>
            <a:off x="6970424" y="5421855"/>
            <a:ext cx="75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MIG-4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1g.10gb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10GB</a:t>
            </a:r>
          </a:p>
        </p:txBody>
      </p:sp>
      <p:sp>
        <p:nvSpPr>
          <p:cNvPr id="156" name="Rounded Rectangle 34">
            <a:extLst>
              <a:ext uri="{FF2B5EF4-FFF2-40B4-BE49-F238E27FC236}">
                <a16:creationId xmlns:a16="http://schemas.microsoft.com/office/drawing/2014/main" id="{5E575B4A-CE01-1646-D1E7-6732004DAFE5}"/>
              </a:ext>
            </a:extLst>
          </p:cNvPr>
          <p:cNvSpPr/>
          <p:nvPr/>
        </p:nvSpPr>
        <p:spPr>
          <a:xfrm>
            <a:off x="7834424" y="5349855"/>
            <a:ext cx="827999" cy="64800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32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89CDF68-8230-8B11-9F06-B7058239119E}"/>
              </a:ext>
            </a:extLst>
          </p:cNvPr>
          <p:cNvSpPr txBox="1"/>
          <p:nvPr/>
        </p:nvSpPr>
        <p:spPr>
          <a:xfrm>
            <a:off x="7870424" y="5421855"/>
            <a:ext cx="75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MIG-5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1g.10gb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10GB</a:t>
            </a:r>
          </a:p>
        </p:txBody>
      </p:sp>
      <p:sp>
        <p:nvSpPr>
          <p:cNvPr id="158" name="Rounded Rectangle 36">
            <a:extLst>
              <a:ext uri="{FF2B5EF4-FFF2-40B4-BE49-F238E27FC236}">
                <a16:creationId xmlns:a16="http://schemas.microsoft.com/office/drawing/2014/main" id="{1A5999CC-D670-471D-A8CE-F5A757E9B6FD}"/>
              </a:ext>
            </a:extLst>
          </p:cNvPr>
          <p:cNvSpPr/>
          <p:nvPr/>
        </p:nvSpPr>
        <p:spPr>
          <a:xfrm>
            <a:off x="8734424" y="5349855"/>
            <a:ext cx="827999" cy="64800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32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7C5FF635-B29F-0E1A-137A-4AC96D0F447F}"/>
              </a:ext>
            </a:extLst>
          </p:cNvPr>
          <p:cNvSpPr txBox="1"/>
          <p:nvPr/>
        </p:nvSpPr>
        <p:spPr>
          <a:xfrm>
            <a:off x="8770424" y="5421855"/>
            <a:ext cx="756000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MIG-6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1g.10gb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FFFFFF"/>
                </a:solidFill>
              </a:defRPr>
            </a:pPr>
            <a:r>
              <a:t>10GB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0435F02-CE91-09D1-212C-41D2BFC51C7F}"/>
              </a:ext>
            </a:extLst>
          </p:cNvPr>
          <p:cNvSpPr txBox="1"/>
          <p:nvPr/>
        </p:nvSpPr>
        <p:spPr>
          <a:xfrm>
            <a:off x="3334423" y="6038343"/>
            <a:ext cx="5940000" cy="5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1000" b="1">
                <a:solidFill>
                  <a:srgbClr val="333333"/>
                </a:solidFill>
              </a:defRPr>
            </a:pPr>
            <a:r>
              <a:t>활용 사례: 7개 가상 GPU로 분할하여 7개 팀이 동시에 학습/추론 작업 수행</a:t>
            </a:r>
          </a:p>
          <a:p>
            <a:pPr algn="ctr">
              <a:spcAft>
                <a:spcPts val="200"/>
              </a:spcAft>
              <a:defRPr sz="1000" b="1">
                <a:solidFill>
                  <a:srgbClr val="333333"/>
                </a:solidFill>
              </a:defRPr>
            </a:pPr>
            <a:r>
              <a:t>→ GPU 활용률: 60% → 95% 향상 (35%p 증가)</a:t>
            </a:r>
          </a:p>
        </p:txBody>
      </p:sp>
      <p:sp>
        <p:nvSpPr>
          <p:cNvPr id="161" name="직사각형 133">
            <a:extLst>
              <a:ext uri="{FF2B5EF4-FFF2-40B4-BE49-F238E27FC236}">
                <a16:creationId xmlns:a16="http://schemas.microsoft.com/office/drawing/2014/main" id="{F614D367-6DD9-97F7-AA60-4ED0A9DCEFEB}"/>
              </a:ext>
            </a:extLst>
          </p:cNvPr>
          <p:cNvSpPr/>
          <p:nvPr/>
        </p:nvSpPr>
        <p:spPr>
          <a:xfrm>
            <a:off x="272482" y="1899419"/>
            <a:ext cx="9351288" cy="289239"/>
          </a:xfrm>
          <a:prstGeom prst="rect">
            <a:avLst/>
          </a:prstGeom>
          <a:solidFill>
            <a:srgbClr val="0066AC"/>
          </a:solidFill>
          <a:ln w="6350">
            <a:noFill/>
          </a:ln>
        </p:spPr>
        <p:txBody>
          <a:bodyPr vert="horz" wrap="square" lIns="3600" tIns="3600" rIns="3600" bIns="36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GPU </a:t>
            </a:r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클러스터 자원 수집 → 사용량 분석 및 스케줄링 결정 → 컨테이너 자원 할당 및 실행</a:t>
            </a:r>
          </a:p>
        </p:txBody>
      </p:sp>
    </p:spTree>
    <p:extLst>
      <p:ext uri="{BB962C8B-B14F-4D97-AF65-F5344CB8AC3E}">
        <p14:creationId xmlns:p14="http://schemas.microsoft.com/office/powerpoint/2010/main" val="2866474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90B80-A004-0ECF-8AD6-1F349A654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C274FDB5-18F2-142C-E73C-BA08F061352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1139" y="468868"/>
            <a:ext cx="5400000" cy="342273"/>
          </a:xfrm>
        </p:spPr>
        <p:txBody>
          <a:bodyPr/>
          <a:lstStyle/>
          <a:p>
            <a:r>
              <a:rPr lang="en-US" altLang="ko-KR" dirty="0"/>
              <a:t>8.3 AI </a:t>
            </a:r>
            <a:r>
              <a:rPr lang="ko-KR" altLang="en-US" dirty="0"/>
              <a:t>기능 및 자원 관리 방안 </a:t>
            </a:r>
            <a:r>
              <a:rPr lang="en-US" altLang="ko-KR" dirty="0"/>
              <a:t>(3/3)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AC0567DC-C100-363D-19BD-2C1AA8EB3F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8. AI </a:t>
            </a:r>
            <a:r>
              <a:rPr lang="ko-KR" altLang="en-US" dirty="0"/>
              <a:t>적용 요구사항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A0C8298-73DC-B334-4F0C-CA6693704E2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Circuit Breaker</a:t>
            </a:r>
            <a:r>
              <a:rPr lang="ko-KR" altLang="en-US" dirty="0"/>
              <a:t>로 </a:t>
            </a:r>
            <a:r>
              <a:rPr lang="en-US" altLang="ko-KR" dirty="0" err="1"/>
              <a:t>Primary→Secondary→Rule-based</a:t>
            </a:r>
            <a:r>
              <a:rPr lang="en-US" altLang="ko-KR" dirty="0"/>
              <a:t> </a:t>
            </a:r>
            <a:r>
              <a:rPr lang="ko-KR" altLang="en-US" dirty="0"/>
              <a:t>자동 </a:t>
            </a:r>
            <a:r>
              <a:rPr lang="en-US" altLang="ko-KR" dirty="0"/>
              <a:t>Fallback, Shadow/Blue-Green/Canary </a:t>
            </a:r>
            <a:r>
              <a:rPr lang="ko-KR" altLang="en-US" dirty="0"/>
              <a:t>배포로 </a:t>
            </a:r>
            <a:r>
              <a:rPr lang="ko-KR" altLang="en-US" dirty="0" err="1"/>
              <a:t>무중단</a:t>
            </a:r>
            <a:r>
              <a:rPr lang="ko-KR" altLang="en-US" dirty="0"/>
              <a:t> 전환 및 </a:t>
            </a:r>
            <a:r>
              <a:rPr lang="en-US" altLang="ko-KR" dirty="0" err="1"/>
              <a:t>DVC+MLflow+Velero</a:t>
            </a:r>
            <a:r>
              <a:rPr lang="ko-KR" altLang="en-US" dirty="0"/>
              <a:t>로 데이터</a:t>
            </a:r>
            <a:r>
              <a:rPr lang="en-US" altLang="ko-KR" dirty="0"/>
              <a:t>/</a:t>
            </a:r>
            <a:r>
              <a:rPr lang="ko-KR" altLang="en-US" dirty="0"/>
              <a:t>모델</a:t>
            </a:r>
            <a:r>
              <a:rPr lang="en-US" altLang="ko-KR" dirty="0"/>
              <a:t>/</a:t>
            </a:r>
            <a:r>
              <a:rPr lang="ko-KR" altLang="en-US" dirty="0"/>
              <a:t>클러스터 백업</a:t>
            </a:r>
            <a:r>
              <a:rPr lang="en-US" altLang="ko-KR" dirty="0"/>
              <a:t>, 3-2-1 </a:t>
            </a:r>
            <a:r>
              <a:rPr lang="ko-KR" altLang="en-US" dirty="0"/>
              <a:t>전략으로 재해 복구 대비 </a:t>
            </a:r>
            <a:r>
              <a:rPr lang="en-US" altLang="ko-KR" dirty="0"/>
              <a:t>(RPO 1</a:t>
            </a:r>
            <a:r>
              <a:rPr lang="ko-KR" altLang="en-US" dirty="0"/>
              <a:t>시간</a:t>
            </a:r>
            <a:r>
              <a:rPr lang="en-US" altLang="ko-KR" dirty="0"/>
              <a:t>, RTO 30</a:t>
            </a:r>
            <a:r>
              <a:rPr lang="ko-KR" altLang="en-US" dirty="0"/>
              <a:t>분</a:t>
            </a:r>
            <a:r>
              <a:rPr lang="en-US" altLang="ko-KR" dirty="0"/>
              <a:t>) </a:t>
            </a:r>
            <a:r>
              <a:rPr lang="ko-KR" altLang="en-US" dirty="0"/>
              <a:t>하겠습니다</a:t>
            </a:r>
            <a:endParaRPr lang="en-US" altLang="ko-KR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CF92DA8C-210D-0F07-B345-FFA8C15208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4381" y="1599539"/>
            <a:ext cx="9041457" cy="166649"/>
          </a:xfrm>
        </p:spPr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서비스 안정성 보장을 위한 통합 관리 체계</a:t>
            </a:r>
          </a:p>
        </p:txBody>
      </p:sp>
      <p:grpSp>
        <p:nvGrpSpPr>
          <p:cNvPr id="35" name="그룹 151">
            <a:extLst>
              <a:ext uri="{FF2B5EF4-FFF2-40B4-BE49-F238E27FC236}">
                <a16:creationId xmlns:a16="http://schemas.microsoft.com/office/drawing/2014/main" id="{952190E6-2E01-CEAD-DCD6-45B315480B24}"/>
              </a:ext>
            </a:extLst>
          </p:cNvPr>
          <p:cNvGrpSpPr/>
          <p:nvPr/>
        </p:nvGrpSpPr>
        <p:grpSpPr>
          <a:xfrm>
            <a:off x="7898941" y="590597"/>
            <a:ext cx="1762812" cy="176675"/>
            <a:chOff x="7549613" y="1988184"/>
            <a:chExt cx="2091765" cy="209972"/>
          </a:xfrm>
          <a:gradFill>
            <a:gsLst>
              <a:gs pos="42000">
                <a:srgbClr val="0078B9"/>
              </a:gs>
              <a:gs pos="100000">
                <a:srgbClr val="0CB8EE"/>
              </a:gs>
              <a:gs pos="0">
                <a:srgbClr val="0067AC"/>
              </a:gs>
            </a:gsLst>
            <a:lin ang="2700000" scaled="1"/>
          </a:gradFill>
        </p:grpSpPr>
        <p:sp>
          <p:nvSpPr>
            <p:cNvPr id="36" name="모서리가 둥근 직사각형 20">
              <a:extLst>
                <a:ext uri="{FF2B5EF4-FFF2-40B4-BE49-F238E27FC236}">
                  <a16:creationId xmlns:a16="http://schemas.microsoft.com/office/drawing/2014/main" id="{50396A51-5736-F9AE-34F8-6C1B46C17C1F}"/>
                </a:ext>
              </a:extLst>
            </p:cNvPr>
            <p:cNvSpPr/>
            <p:nvPr userDrawn="1"/>
          </p:nvSpPr>
          <p:spPr>
            <a:xfrm>
              <a:off x="7549613" y="1988184"/>
              <a:ext cx="2091765" cy="209972"/>
            </a:xfrm>
            <a:prstGeom prst="roundRect">
              <a:avLst>
                <a:gd name="adj" fmla="val 50000"/>
              </a:avLst>
            </a:prstGeom>
            <a:grp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 dirty="0"/>
            </a:p>
          </p:txBody>
        </p:sp>
        <p:sp>
          <p:nvSpPr>
            <p:cNvPr id="37" name="직사각형 153">
              <a:extLst>
                <a:ext uri="{FF2B5EF4-FFF2-40B4-BE49-F238E27FC236}">
                  <a16:creationId xmlns:a16="http://schemas.microsoft.com/office/drawing/2014/main" id="{5A759278-9522-6370-2F7B-B672A7CB3D6F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390667" y="2009195"/>
              <a:ext cx="1237130" cy="1679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lang="en-US" altLang="ko-KR" sz="800" kern="0" dirty="0">
                  <a:solidFill>
                    <a:schemeClr val="bg1"/>
                  </a:solidFill>
                  <a:latin typeface="KoPub돋움체 Bold"/>
                  <a:ea typeface="KoPub돋움체 Bold"/>
                </a:rPr>
                <a:t>AAR</a:t>
              </a:r>
              <a:r>
                <a:rPr kumimoji="1" lang="en-US" altLang="ko-KR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-003</a:t>
              </a:r>
            </a:p>
          </p:txBody>
        </p:sp>
        <p:sp>
          <p:nvSpPr>
            <p:cNvPr id="38" name="직사각형 154">
              <a:extLst>
                <a:ext uri="{FF2B5EF4-FFF2-40B4-BE49-F238E27FC236}">
                  <a16:creationId xmlns:a16="http://schemas.microsoft.com/office/drawing/2014/main" id="{F52B613A-E6A0-A4E3-4707-3DEA2D3A9B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569174" y="2022683"/>
              <a:ext cx="831273" cy="146313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ko-KR"/>
              </a:defPPr>
              <a:lvl1pPr marL="92075" indent="-92075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1pPr>
              <a:lvl2pPr marL="742950" indent="-28575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2pPr>
              <a:lvl3pPr marL="11430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3pPr>
              <a:lvl4pPr marL="16002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4pPr>
              <a:lvl5pPr marL="2057400" indent="-228600" algn="l" defTabSz="914400" rtl="0" eaLnBrk="0" latinLnBrk="1" hangingPunct="0"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5pPr>
              <a:lvl6pPr marL="25146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6pPr>
              <a:lvl7pPr marL="29718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7pPr>
              <a:lvl8pPr marL="34290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8pPr>
              <a:lvl9pPr marL="3886200" indent="-228600" algn="l" defTabSz="914400" rtl="0" eaLnBrk="0" fontAlgn="base" latinLnBrk="1" hangingPunct="0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산돌고딕B" pitchFamily="18" charset="-127"/>
                  <a:ea typeface="산돌고딕B" pitchFamily="18" charset="-127"/>
                  <a:cs typeface="+mn-cs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25000"/>
                </a:spcBef>
                <a:spcAft>
                  <a:spcPts val="0"/>
                </a:spcAft>
                <a:buClr>
                  <a:srgbClr val="333333"/>
                </a:buClr>
                <a:buSzPts val="800"/>
                <a:buFontTx/>
                <a:buNone/>
                <a:tabLst/>
                <a:defRPr/>
              </a:pPr>
              <a:r>
                <a:rPr kumimoji="1" lang="ko-KR" altLang="en-US" sz="800" b="0" i="0" u="none" strike="noStrike" kern="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KoPub돋움체 Bold"/>
                  <a:ea typeface="KoPub돋움체 Bold"/>
                </a:rPr>
                <a:t>요구사항 번호</a:t>
              </a:r>
            </a:p>
          </p:txBody>
        </p:sp>
        <p:cxnSp>
          <p:nvCxnSpPr>
            <p:cNvPr id="39" name="직선 연결선 155">
              <a:extLst>
                <a:ext uri="{FF2B5EF4-FFF2-40B4-BE49-F238E27FC236}">
                  <a16:creationId xmlns:a16="http://schemas.microsoft.com/office/drawing/2014/main" id="{1D0D65CD-DC5C-C298-08FB-3023019F913F}"/>
                </a:ext>
              </a:extLst>
            </p:cNvPr>
            <p:cNvCxnSpPr/>
            <p:nvPr userDrawn="1"/>
          </p:nvCxnSpPr>
          <p:spPr>
            <a:xfrm>
              <a:off x="8400403" y="2034080"/>
              <a:ext cx="0" cy="118180"/>
            </a:xfrm>
            <a:prstGeom prst="line">
              <a:avLst/>
            </a:prstGeom>
            <a:grpFill/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3AE8836F-B72A-021E-3B62-6E40359690E7}"/>
              </a:ext>
            </a:extLst>
          </p:cNvPr>
          <p:cNvSpPr/>
          <p:nvPr/>
        </p:nvSpPr>
        <p:spPr>
          <a:xfrm>
            <a:off x="520440" y="2281921"/>
            <a:ext cx="900000" cy="432000"/>
          </a:xfrm>
          <a:prstGeom prst="ellipse">
            <a:avLst/>
          </a:prstGeom>
          <a:solidFill>
            <a:srgbClr val="999999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67529D4-A0A8-414C-7CBE-A9C504B4E393}"/>
              </a:ext>
            </a:extLst>
          </p:cNvPr>
          <p:cNvSpPr txBox="1"/>
          <p:nvPr/>
        </p:nvSpPr>
        <p:spPr>
          <a:xfrm>
            <a:off x="556440" y="2282477"/>
            <a:ext cx="827999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rPr dirty="0"/>
              <a:t>사용자</a:t>
            </a:r>
          </a:p>
          <a:p>
            <a:pPr algn="ctr"/>
            <a:r>
              <a:rPr sz="1200" dirty="0" err="1"/>
              <a:t>질의</a:t>
            </a:r>
            <a:endParaRPr sz="1200" dirty="0"/>
          </a:p>
        </p:txBody>
      </p:sp>
      <p:sp>
        <p:nvSpPr>
          <p:cNvPr id="60" name="Right Arrow 8">
            <a:extLst>
              <a:ext uri="{FF2B5EF4-FFF2-40B4-BE49-F238E27FC236}">
                <a16:creationId xmlns:a16="http://schemas.microsoft.com/office/drawing/2014/main" id="{50A31686-846E-BBD0-F0FB-FFB5AFFEC938}"/>
              </a:ext>
            </a:extLst>
          </p:cNvPr>
          <p:cNvSpPr/>
          <p:nvPr/>
        </p:nvSpPr>
        <p:spPr>
          <a:xfrm>
            <a:off x="1492440" y="2461921"/>
            <a:ext cx="575999" cy="180000"/>
          </a:xfrm>
          <a:prstGeom prst="rightArrow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CEEF13-68E2-73EF-7EED-7EA34BFD458C}"/>
              </a:ext>
            </a:extLst>
          </p:cNvPr>
          <p:cNvSpPr txBox="1"/>
          <p:nvPr/>
        </p:nvSpPr>
        <p:spPr>
          <a:xfrm>
            <a:off x="1490136" y="2245921"/>
            <a:ext cx="58060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2C41A"/>
                </a:solidFill>
              </a:defRPr>
            </a:pPr>
            <a:r>
              <a:t>1차 시도</a:t>
            </a:r>
          </a:p>
        </p:txBody>
      </p:sp>
      <p:sp>
        <p:nvSpPr>
          <p:cNvPr id="62" name="Rounded Rectangle 10">
            <a:extLst>
              <a:ext uri="{FF2B5EF4-FFF2-40B4-BE49-F238E27FC236}">
                <a16:creationId xmlns:a16="http://schemas.microsoft.com/office/drawing/2014/main" id="{8E22C18F-6A98-C385-DA10-00C145579976}"/>
              </a:ext>
            </a:extLst>
          </p:cNvPr>
          <p:cNvSpPr/>
          <p:nvPr/>
        </p:nvSpPr>
        <p:spPr>
          <a:xfrm>
            <a:off x="2140440" y="2281921"/>
            <a:ext cx="1007999" cy="432000"/>
          </a:xfrm>
          <a:prstGeom prst="roundRect">
            <a:avLst/>
          </a:prstGeom>
          <a:solidFill>
            <a:srgbClr val="52C41A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887EAB1-844A-5885-0E65-A3C646304726}"/>
              </a:ext>
            </a:extLst>
          </p:cNvPr>
          <p:cNvSpPr txBox="1"/>
          <p:nvPr/>
        </p:nvSpPr>
        <p:spPr>
          <a:xfrm>
            <a:off x="2176440" y="2267087"/>
            <a:ext cx="93599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Primary</a:t>
            </a:r>
          </a:p>
          <a:p>
            <a:pPr algn="ctr"/>
            <a:r>
              <a:rPr sz="1400" dirty="0"/>
              <a:t>Model</a:t>
            </a:r>
          </a:p>
        </p:txBody>
      </p:sp>
      <p:sp>
        <p:nvSpPr>
          <p:cNvPr id="64" name="Right Arrow 12">
            <a:extLst>
              <a:ext uri="{FF2B5EF4-FFF2-40B4-BE49-F238E27FC236}">
                <a16:creationId xmlns:a16="http://schemas.microsoft.com/office/drawing/2014/main" id="{359F8C29-A4FB-C418-4086-DB8B2DAFC55F}"/>
              </a:ext>
            </a:extLst>
          </p:cNvPr>
          <p:cNvSpPr/>
          <p:nvPr/>
        </p:nvSpPr>
        <p:spPr>
          <a:xfrm>
            <a:off x="3220440" y="2461921"/>
            <a:ext cx="575999" cy="180000"/>
          </a:xfrm>
          <a:prstGeom prst="rightArrow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802777-7B11-B017-D9C9-986D321D75E8}"/>
              </a:ext>
            </a:extLst>
          </p:cNvPr>
          <p:cNvSpPr txBox="1"/>
          <p:nvPr/>
        </p:nvSpPr>
        <p:spPr>
          <a:xfrm>
            <a:off x="3218136" y="2245921"/>
            <a:ext cx="58060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222D"/>
                </a:solidFill>
              </a:defRPr>
            </a:pPr>
            <a:r>
              <a:t>5회 실패</a:t>
            </a:r>
          </a:p>
        </p:txBody>
      </p:sp>
      <p:sp>
        <p:nvSpPr>
          <p:cNvPr id="66" name="Rounded Rectangle 14">
            <a:extLst>
              <a:ext uri="{FF2B5EF4-FFF2-40B4-BE49-F238E27FC236}">
                <a16:creationId xmlns:a16="http://schemas.microsoft.com/office/drawing/2014/main" id="{9E684EEB-0351-CCA2-73D4-C4CE6026E644}"/>
              </a:ext>
            </a:extLst>
          </p:cNvPr>
          <p:cNvSpPr/>
          <p:nvPr/>
        </p:nvSpPr>
        <p:spPr>
          <a:xfrm>
            <a:off x="3868440" y="2281921"/>
            <a:ext cx="1007999" cy="432000"/>
          </a:xfrm>
          <a:prstGeom prst="roundRect">
            <a:avLst/>
          </a:prstGeom>
          <a:solidFill>
            <a:srgbClr val="FAAD14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7A83F90-CA26-A9CE-6DB9-279B40176796}"/>
              </a:ext>
            </a:extLst>
          </p:cNvPr>
          <p:cNvSpPr txBox="1"/>
          <p:nvPr/>
        </p:nvSpPr>
        <p:spPr>
          <a:xfrm>
            <a:off x="3904440" y="2267087"/>
            <a:ext cx="93599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Secondary</a:t>
            </a:r>
          </a:p>
          <a:p>
            <a:pPr algn="ctr"/>
            <a:r>
              <a:rPr sz="1400" dirty="0"/>
              <a:t>Model</a:t>
            </a:r>
          </a:p>
        </p:txBody>
      </p:sp>
      <p:sp>
        <p:nvSpPr>
          <p:cNvPr id="68" name="Right Arrow 16">
            <a:extLst>
              <a:ext uri="{FF2B5EF4-FFF2-40B4-BE49-F238E27FC236}">
                <a16:creationId xmlns:a16="http://schemas.microsoft.com/office/drawing/2014/main" id="{07130B19-ED9D-A455-2F62-E64E01F1DC0E}"/>
              </a:ext>
            </a:extLst>
          </p:cNvPr>
          <p:cNvSpPr/>
          <p:nvPr/>
        </p:nvSpPr>
        <p:spPr>
          <a:xfrm>
            <a:off x="4948440" y="2461921"/>
            <a:ext cx="575999" cy="180000"/>
          </a:xfrm>
          <a:prstGeom prst="rightArrow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42ADFE0-1E3A-9FCA-610D-AE32131DA9F8}"/>
              </a:ext>
            </a:extLst>
          </p:cNvPr>
          <p:cNvSpPr txBox="1"/>
          <p:nvPr/>
        </p:nvSpPr>
        <p:spPr>
          <a:xfrm>
            <a:off x="4946136" y="2245921"/>
            <a:ext cx="58060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5222D"/>
                </a:solidFill>
              </a:defRPr>
            </a:pPr>
            <a:r>
              <a:t>2차 실패</a:t>
            </a:r>
          </a:p>
        </p:txBody>
      </p:sp>
      <p:sp>
        <p:nvSpPr>
          <p:cNvPr id="70" name="Rounded Rectangle 18">
            <a:extLst>
              <a:ext uri="{FF2B5EF4-FFF2-40B4-BE49-F238E27FC236}">
                <a16:creationId xmlns:a16="http://schemas.microsoft.com/office/drawing/2014/main" id="{40056AAA-116C-CD39-2E6E-66BCD701E4EC}"/>
              </a:ext>
            </a:extLst>
          </p:cNvPr>
          <p:cNvSpPr/>
          <p:nvPr/>
        </p:nvSpPr>
        <p:spPr>
          <a:xfrm>
            <a:off x="5596440" y="2281921"/>
            <a:ext cx="1007999" cy="432000"/>
          </a:xfrm>
          <a:prstGeom prst="roundRect">
            <a:avLst/>
          </a:prstGeom>
          <a:solidFill>
            <a:srgbClr val="F5222D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81F9089-AD31-2656-20C8-1AF3DEC0A06B}"/>
              </a:ext>
            </a:extLst>
          </p:cNvPr>
          <p:cNvSpPr txBox="1"/>
          <p:nvPr/>
        </p:nvSpPr>
        <p:spPr>
          <a:xfrm>
            <a:off x="5560440" y="2267089"/>
            <a:ext cx="1008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 dirty="0"/>
              <a:t>Rule-based</a:t>
            </a:r>
          </a:p>
          <a:p>
            <a:pPr algn="ctr"/>
            <a:r>
              <a:rPr sz="1400" dirty="0"/>
              <a:t>Response</a:t>
            </a:r>
          </a:p>
        </p:txBody>
      </p:sp>
      <p:sp>
        <p:nvSpPr>
          <p:cNvPr id="72" name="Right Arrow 20">
            <a:extLst>
              <a:ext uri="{FF2B5EF4-FFF2-40B4-BE49-F238E27FC236}">
                <a16:creationId xmlns:a16="http://schemas.microsoft.com/office/drawing/2014/main" id="{56FA821F-B361-F72B-A33B-D9ADACE09786}"/>
              </a:ext>
            </a:extLst>
          </p:cNvPr>
          <p:cNvSpPr/>
          <p:nvPr/>
        </p:nvSpPr>
        <p:spPr>
          <a:xfrm>
            <a:off x="6676440" y="2461921"/>
            <a:ext cx="575999" cy="180000"/>
          </a:xfrm>
          <a:prstGeom prst="rightArrow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05D82C3-C3BF-BB0E-9743-5F63FEA43487}"/>
              </a:ext>
            </a:extLst>
          </p:cNvPr>
          <p:cNvSpPr txBox="1"/>
          <p:nvPr/>
        </p:nvSpPr>
        <p:spPr>
          <a:xfrm>
            <a:off x="6772720" y="2245921"/>
            <a:ext cx="38343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52C41A"/>
                </a:solidFill>
              </a:defRPr>
            </a:pPr>
            <a:r>
              <a:t>응답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7AF9C2A0-7F8B-47E3-B0C3-7B86018E2618}"/>
              </a:ext>
            </a:extLst>
          </p:cNvPr>
          <p:cNvSpPr/>
          <p:nvPr/>
        </p:nvSpPr>
        <p:spPr>
          <a:xfrm>
            <a:off x="7324439" y="2281921"/>
            <a:ext cx="900000" cy="432000"/>
          </a:xfrm>
          <a:prstGeom prst="ellipse">
            <a:avLst/>
          </a:prstGeom>
          <a:solidFill>
            <a:srgbClr val="52C41A"/>
          </a:solidFill>
          <a:ln w="25400">
            <a:solidFill>
              <a:srgbClr val="32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4816603-5E5A-EC41-5F27-0E3AE6F43F8D}"/>
              </a:ext>
            </a:extLst>
          </p:cNvPr>
          <p:cNvSpPr txBox="1"/>
          <p:nvPr/>
        </p:nvSpPr>
        <p:spPr>
          <a:xfrm>
            <a:off x="7360440" y="2267087"/>
            <a:ext cx="827999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dirty="0"/>
              <a:t>사용자</a:t>
            </a:r>
          </a:p>
          <a:p>
            <a:pPr algn="ctr"/>
            <a:r>
              <a:rPr sz="1400" dirty="0" err="1"/>
              <a:t>답변</a:t>
            </a:r>
            <a:endParaRPr sz="1400" dirty="0"/>
          </a:p>
        </p:txBody>
      </p:sp>
      <p:sp>
        <p:nvSpPr>
          <p:cNvPr id="100" name="Rounded Rectangle 24">
            <a:extLst>
              <a:ext uri="{FF2B5EF4-FFF2-40B4-BE49-F238E27FC236}">
                <a16:creationId xmlns:a16="http://schemas.microsoft.com/office/drawing/2014/main" id="{4BD660F3-A8C0-C460-751B-41483D02CF9A}"/>
              </a:ext>
            </a:extLst>
          </p:cNvPr>
          <p:cNvSpPr/>
          <p:nvPr/>
        </p:nvSpPr>
        <p:spPr>
          <a:xfrm>
            <a:off x="8332440" y="2209921"/>
            <a:ext cx="1080000" cy="5760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F52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6BE9ADB-6B20-9DE5-CFA2-4165877734C6}"/>
              </a:ext>
            </a:extLst>
          </p:cNvPr>
          <p:cNvSpPr txBox="1"/>
          <p:nvPr/>
        </p:nvSpPr>
        <p:spPr>
          <a:xfrm>
            <a:off x="8368440" y="2245921"/>
            <a:ext cx="1007999" cy="503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800" b="0">
                <a:solidFill>
                  <a:srgbClr val="F5222D"/>
                </a:solidFill>
              </a:defRPr>
            </a:pPr>
            <a:r>
              <a:t>Circuit Open: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5222D"/>
                </a:solidFill>
              </a:defRPr>
            </a:pPr>
            <a:r>
              <a:t>연속 5회 실패 시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5222D"/>
                </a:solidFill>
              </a:defRPr>
            </a:pPr>
            <a:r>
              <a:t>30초 대기 후</a:t>
            </a:r>
          </a:p>
          <a:p>
            <a:pPr algn="l">
              <a:spcAft>
                <a:spcPts val="200"/>
              </a:spcAft>
              <a:defRPr sz="800" b="0">
                <a:solidFill>
                  <a:srgbClr val="F5222D"/>
                </a:solidFill>
              </a:defRPr>
            </a:pPr>
            <a:r>
              <a:t>Half-Open 복구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5EFC17A-D62D-F41F-6641-627AD5B2A60B}"/>
              </a:ext>
            </a:extLst>
          </p:cNvPr>
          <p:cNvSpPr txBox="1"/>
          <p:nvPr/>
        </p:nvSpPr>
        <p:spPr>
          <a:xfrm>
            <a:off x="520440" y="2929921"/>
            <a:ext cx="43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05BAC"/>
                </a:solidFill>
              </a:defRPr>
            </a:pPr>
            <a:r>
              <a:t>② Multi-Model 배포 전략</a:t>
            </a:r>
          </a:p>
        </p:txBody>
      </p:sp>
      <p:sp>
        <p:nvSpPr>
          <p:cNvPr id="103" name="Rounded Rectangle 27">
            <a:extLst>
              <a:ext uri="{FF2B5EF4-FFF2-40B4-BE49-F238E27FC236}">
                <a16:creationId xmlns:a16="http://schemas.microsoft.com/office/drawing/2014/main" id="{24CF8E79-A7CB-0DA1-7C0E-0A5F31FAF598}"/>
              </a:ext>
            </a:extLst>
          </p:cNvPr>
          <p:cNvSpPr/>
          <p:nvPr/>
        </p:nvSpPr>
        <p:spPr>
          <a:xfrm>
            <a:off x="520440" y="3217921"/>
            <a:ext cx="1368000" cy="900000"/>
          </a:xfrm>
          <a:prstGeom prst="roundRect">
            <a:avLst/>
          </a:prstGeom>
          <a:solidFill>
            <a:srgbClr val="E6F5FF"/>
          </a:solidFill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51021E6-7393-B1C3-7979-18754D571C6F}"/>
              </a:ext>
            </a:extLst>
          </p:cNvPr>
          <p:cNvSpPr txBox="1"/>
          <p:nvPr/>
        </p:nvSpPr>
        <p:spPr>
          <a:xfrm>
            <a:off x="592440" y="3289921"/>
            <a:ext cx="1224000" cy="75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Shadow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endParaRPr/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신규 모델 검증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트래픽 복제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응답은 기존 모델</a:t>
            </a:r>
          </a:p>
        </p:txBody>
      </p:sp>
      <p:sp>
        <p:nvSpPr>
          <p:cNvPr id="105" name="Rounded Rectangle 29">
            <a:extLst>
              <a:ext uri="{FF2B5EF4-FFF2-40B4-BE49-F238E27FC236}">
                <a16:creationId xmlns:a16="http://schemas.microsoft.com/office/drawing/2014/main" id="{C03C37F0-5EEC-7558-FC10-0B209853AF80}"/>
              </a:ext>
            </a:extLst>
          </p:cNvPr>
          <p:cNvSpPr/>
          <p:nvPr/>
        </p:nvSpPr>
        <p:spPr>
          <a:xfrm>
            <a:off x="1996440" y="3217921"/>
            <a:ext cx="1368000" cy="900000"/>
          </a:xfrm>
          <a:prstGeom prst="roundRect">
            <a:avLst/>
          </a:prstGeom>
          <a:solidFill>
            <a:srgbClr val="E6FFE6"/>
          </a:solidFill>
          <a:ln w="25400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BED4EFE-D5D7-DF06-FE05-500081A66021}"/>
              </a:ext>
            </a:extLst>
          </p:cNvPr>
          <p:cNvSpPr txBox="1"/>
          <p:nvPr/>
        </p:nvSpPr>
        <p:spPr>
          <a:xfrm>
            <a:off x="2068440" y="3289921"/>
            <a:ext cx="1224000" cy="75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Blue-Green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endParaRPr/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두 버전 동시 운영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즉시 전환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1분 내 Rollback</a:t>
            </a:r>
          </a:p>
        </p:txBody>
      </p:sp>
      <p:sp>
        <p:nvSpPr>
          <p:cNvPr id="107" name="Rounded Rectangle 31">
            <a:extLst>
              <a:ext uri="{FF2B5EF4-FFF2-40B4-BE49-F238E27FC236}">
                <a16:creationId xmlns:a16="http://schemas.microsoft.com/office/drawing/2014/main" id="{7B680C2C-EADF-A2E7-19E6-5E557861F678}"/>
              </a:ext>
            </a:extLst>
          </p:cNvPr>
          <p:cNvSpPr/>
          <p:nvPr/>
        </p:nvSpPr>
        <p:spPr>
          <a:xfrm>
            <a:off x="3472439" y="3217921"/>
            <a:ext cx="1368000" cy="900000"/>
          </a:xfrm>
          <a:prstGeom prst="roundRect">
            <a:avLst/>
          </a:prstGeom>
          <a:solidFill>
            <a:srgbClr val="FFFAE6"/>
          </a:solidFill>
          <a:ln w="25400">
            <a:solidFill>
              <a:srgbClr val="FAA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2452066-8707-63AC-F089-859CDE2F918B}"/>
              </a:ext>
            </a:extLst>
          </p:cNvPr>
          <p:cNvSpPr txBox="1"/>
          <p:nvPr/>
        </p:nvSpPr>
        <p:spPr>
          <a:xfrm>
            <a:off x="3544440" y="3289921"/>
            <a:ext cx="1224000" cy="75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Canary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endParaRPr/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점진적 트래픽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5% → 25% →</a:t>
            </a:r>
          </a:p>
          <a:p>
            <a:pPr algn="ctr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50% → 100%</a:t>
            </a:r>
          </a:p>
        </p:txBody>
      </p:sp>
      <p:sp>
        <p:nvSpPr>
          <p:cNvPr id="109" name="Rounded Rectangle 33">
            <a:extLst>
              <a:ext uri="{FF2B5EF4-FFF2-40B4-BE49-F238E27FC236}">
                <a16:creationId xmlns:a16="http://schemas.microsoft.com/office/drawing/2014/main" id="{EF8A6A60-54B0-E7DF-1761-F155B8C2DC3F}"/>
              </a:ext>
            </a:extLst>
          </p:cNvPr>
          <p:cNvSpPr/>
          <p:nvPr/>
        </p:nvSpPr>
        <p:spPr>
          <a:xfrm>
            <a:off x="520440" y="4225921"/>
            <a:ext cx="4320000" cy="468000"/>
          </a:xfrm>
          <a:prstGeom prst="roundRect">
            <a:avLst/>
          </a:prstGeom>
          <a:solidFill>
            <a:srgbClr val="F0FFF0"/>
          </a:solidFill>
          <a:ln w="19050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518C94E-5EF4-1E0E-879F-B62D360077E5}"/>
              </a:ext>
            </a:extLst>
          </p:cNvPr>
          <p:cNvSpPr txBox="1"/>
          <p:nvPr/>
        </p:nvSpPr>
        <p:spPr>
          <a:xfrm>
            <a:off x="592440" y="4261921"/>
            <a:ext cx="4176000" cy="39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52C41A"/>
                </a:solidFill>
              </a:defRPr>
            </a:pPr>
            <a:r>
              <a:t>Health Check &amp; Auto-Healing: Liveness/Readiness Probe → 장애 감지 시 K8s 자동 재시작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E784AC9-6A2B-FF07-419B-0CE34A0D42D3}"/>
              </a:ext>
            </a:extLst>
          </p:cNvPr>
          <p:cNvSpPr txBox="1"/>
          <p:nvPr/>
        </p:nvSpPr>
        <p:spPr>
          <a:xfrm>
            <a:off x="5092440" y="2929921"/>
            <a:ext cx="4320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005BAC"/>
                </a:solidFill>
              </a:defRPr>
            </a:pPr>
            <a:r>
              <a:t>③④ 데이터 &amp; 모델 &amp; 클러스터 백업</a:t>
            </a:r>
          </a:p>
        </p:txBody>
      </p:sp>
      <p:sp>
        <p:nvSpPr>
          <p:cNvPr id="112" name="Rounded Rectangle 36">
            <a:extLst>
              <a:ext uri="{FF2B5EF4-FFF2-40B4-BE49-F238E27FC236}">
                <a16:creationId xmlns:a16="http://schemas.microsoft.com/office/drawing/2014/main" id="{F43EF507-C7EF-EA1C-36DD-15FEE2E8372D}"/>
              </a:ext>
            </a:extLst>
          </p:cNvPr>
          <p:cNvSpPr/>
          <p:nvPr/>
        </p:nvSpPr>
        <p:spPr>
          <a:xfrm>
            <a:off x="5092440" y="3217921"/>
            <a:ext cx="2088000" cy="1475999"/>
          </a:xfrm>
          <a:prstGeom prst="roundRect">
            <a:avLst/>
          </a:prstGeom>
          <a:solidFill>
            <a:srgbClr val="F5F0FF"/>
          </a:solidFill>
          <a:ln w="25400">
            <a:solidFill>
              <a:srgbClr val="643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71FC730-FDC7-4B9E-F88E-D916623C8096}"/>
              </a:ext>
            </a:extLst>
          </p:cNvPr>
          <p:cNvSpPr txBox="1"/>
          <p:nvPr/>
        </p:nvSpPr>
        <p:spPr>
          <a:xfrm>
            <a:off x="5164440" y="3289921"/>
            <a:ext cx="1944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6432C8"/>
                </a:solidFill>
              </a:defRPr>
            </a:pPr>
            <a:r>
              <a:t>DVC 데이터 백업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82294AC-106B-58E9-6836-DBC2097146C3}"/>
              </a:ext>
            </a:extLst>
          </p:cNvPr>
          <p:cNvSpPr txBox="1"/>
          <p:nvPr/>
        </p:nvSpPr>
        <p:spPr>
          <a:xfrm>
            <a:off x="5164440" y="3510063"/>
            <a:ext cx="1944000" cy="121571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• Git-like </a:t>
            </a:r>
            <a:r>
              <a:rPr dirty="0" err="1"/>
              <a:t>버전</a:t>
            </a:r>
            <a:r>
              <a:rPr dirty="0"/>
              <a:t> </a:t>
            </a:r>
            <a:r>
              <a:rPr dirty="0" err="1"/>
              <a:t>관리</a:t>
            </a:r>
            <a:endParaRPr dirty="0"/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MinIO</a:t>
            </a:r>
            <a:r>
              <a:rPr dirty="0"/>
              <a:t> </a:t>
            </a:r>
            <a:r>
              <a:rPr dirty="0" err="1"/>
              <a:t>백엔드</a:t>
            </a:r>
            <a:endParaRPr dirty="0"/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• Lineage 추적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증분</a:t>
            </a:r>
            <a:r>
              <a:rPr dirty="0"/>
              <a:t> </a:t>
            </a:r>
            <a:r>
              <a:rPr dirty="0" err="1"/>
              <a:t>백업</a:t>
            </a:r>
            <a:endParaRPr dirty="0"/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/>
              <a:t>• </a:t>
            </a:r>
            <a:r>
              <a:rPr dirty="0" err="1"/>
              <a:t>dvc</a:t>
            </a:r>
            <a:r>
              <a:rPr dirty="0"/>
              <a:t> push/checkout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endParaRPr dirty="0"/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rPr dirty="0" err="1"/>
              <a:t>학습</a:t>
            </a:r>
            <a:r>
              <a:rPr dirty="0"/>
              <a:t> </a:t>
            </a:r>
            <a:r>
              <a:rPr dirty="0" err="1"/>
              <a:t>데이터셋</a:t>
            </a:r>
            <a:r>
              <a:rPr dirty="0"/>
              <a:t> </a:t>
            </a:r>
            <a:r>
              <a:rPr dirty="0" err="1"/>
              <a:t>백업</a:t>
            </a:r>
            <a:endParaRPr dirty="0"/>
          </a:p>
        </p:txBody>
      </p:sp>
      <p:sp>
        <p:nvSpPr>
          <p:cNvPr id="115" name="Rounded Rectangle 39">
            <a:extLst>
              <a:ext uri="{FF2B5EF4-FFF2-40B4-BE49-F238E27FC236}">
                <a16:creationId xmlns:a16="http://schemas.microsoft.com/office/drawing/2014/main" id="{DCE0FF13-5515-B6EB-17FB-2D0480936EFE}"/>
              </a:ext>
            </a:extLst>
          </p:cNvPr>
          <p:cNvSpPr/>
          <p:nvPr/>
        </p:nvSpPr>
        <p:spPr>
          <a:xfrm>
            <a:off x="7252440" y="3217921"/>
            <a:ext cx="2160000" cy="1475999"/>
          </a:xfrm>
          <a:prstGeom prst="roundRect">
            <a:avLst/>
          </a:prstGeom>
          <a:solidFill>
            <a:srgbClr val="F0FAFF"/>
          </a:solidFill>
          <a:ln w="25400">
            <a:solidFill>
              <a:srgbClr val="005B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7A194846-F543-6FEB-5128-137D0DC93DF8}"/>
              </a:ext>
            </a:extLst>
          </p:cNvPr>
          <p:cNvSpPr txBox="1"/>
          <p:nvPr/>
        </p:nvSpPr>
        <p:spPr>
          <a:xfrm>
            <a:off x="7324439" y="3289921"/>
            <a:ext cx="2015999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005BAC"/>
                </a:solidFill>
              </a:defRPr>
            </a:pPr>
            <a:r>
              <a:t>MLflow + Velero 백업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B0280FC4-52CE-C72C-9659-166F9A6154B2}"/>
              </a:ext>
            </a:extLst>
          </p:cNvPr>
          <p:cNvSpPr txBox="1"/>
          <p:nvPr/>
        </p:nvSpPr>
        <p:spPr>
          <a:xfrm>
            <a:off x="7324439" y="3577921"/>
            <a:ext cx="2015999" cy="10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MLflow Artifact Store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  - 모델 체크포인트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  - 하이퍼파라미터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Velero K8s 백업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  - PV/PVC/ConfigMap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  - Restic 증분 백업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333333"/>
                </a:solidFill>
              </a:defRPr>
            </a:pPr>
            <a:r>
              <a:t>• 매일 02:00, 30일 보관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63BBF58-5098-1A13-2106-C4F11908A179}"/>
              </a:ext>
            </a:extLst>
          </p:cNvPr>
          <p:cNvSpPr txBox="1"/>
          <p:nvPr/>
        </p:nvSpPr>
        <p:spPr>
          <a:xfrm>
            <a:off x="520440" y="4873921"/>
            <a:ext cx="8892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5BAC"/>
                </a:solidFill>
              </a:defRPr>
            </a:pPr>
            <a:r>
              <a:t>3-2-1 백업 전략 및 복구 목표</a:t>
            </a:r>
          </a:p>
        </p:txBody>
      </p:sp>
      <p:sp>
        <p:nvSpPr>
          <p:cNvPr id="119" name="Rounded Rectangle 43">
            <a:extLst>
              <a:ext uri="{FF2B5EF4-FFF2-40B4-BE49-F238E27FC236}">
                <a16:creationId xmlns:a16="http://schemas.microsoft.com/office/drawing/2014/main" id="{639CB32B-3B16-BF47-E0B0-CF678A34B4AF}"/>
              </a:ext>
            </a:extLst>
          </p:cNvPr>
          <p:cNvSpPr/>
          <p:nvPr/>
        </p:nvSpPr>
        <p:spPr>
          <a:xfrm>
            <a:off x="520440" y="5197921"/>
            <a:ext cx="2700000" cy="1260000"/>
          </a:xfrm>
          <a:prstGeom prst="roundRect">
            <a:avLst/>
          </a:prstGeom>
          <a:solidFill>
            <a:srgbClr val="E6F5FF"/>
          </a:solidFill>
          <a:ln w="2540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9AEB099-2B99-7509-F0C0-2CCB52D62456}"/>
              </a:ext>
            </a:extLst>
          </p:cNvPr>
          <p:cNvSpPr txBox="1"/>
          <p:nvPr/>
        </p:nvSpPr>
        <p:spPr>
          <a:xfrm>
            <a:off x="592440" y="5269921"/>
            <a:ext cx="2556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00AEEF"/>
                </a:solidFill>
              </a:defRPr>
            </a:pPr>
            <a:r>
              <a:t>3개 복사본</a:t>
            </a:r>
          </a:p>
        </p:txBody>
      </p:sp>
      <p:sp>
        <p:nvSpPr>
          <p:cNvPr id="121" name="Rounded Rectangle 45">
            <a:extLst>
              <a:ext uri="{FF2B5EF4-FFF2-40B4-BE49-F238E27FC236}">
                <a16:creationId xmlns:a16="http://schemas.microsoft.com/office/drawing/2014/main" id="{9579C2D8-FBD7-89C4-7BE3-BAF98D65FCC0}"/>
              </a:ext>
            </a:extLst>
          </p:cNvPr>
          <p:cNvSpPr/>
          <p:nvPr/>
        </p:nvSpPr>
        <p:spPr>
          <a:xfrm>
            <a:off x="700440" y="5593921"/>
            <a:ext cx="720000" cy="432000"/>
          </a:xfrm>
          <a:prstGeom prst="round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C8FC365-BB78-5B83-1764-9E2AE4BFB000}"/>
              </a:ext>
            </a:extLst>
          </p:cNvPr>
          <p:cNvSpPr txBox="1"/>
          <p:nvPr/>
        </p:nvSpPr>
        <p:spPr>
          <a:xfrm>
            <a:off x="736440" y="5629921"/>
            <a:ext cx="64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운영 서버</a:t>
            </a:r>
          </a:p>
        </p:txBody>
      </p:sp>
      <p:sp>
        <p:nvSpPr>
          <p:cNvPr id="123" name="Rounded Rectangle 47">
            <a:extLst>
              <a:ext uri="{FF2B5EF4-FFF2-40B4-BE49-F238E27FC236}">
                <a16:creationId xmlns:a16="http://schemas.microsoft.com/office/drawing/2014/main" id="{59B33D23-4A05-404B-9088-F2E167D3D095}"/>
              </a:ext>
            </a:extLst>
          </p:cNvPr>
          <p:cNvSpPr/>
          <p:nvPr/>
        </p:nvSpPr>
        <p:spPr>
          <a:xfrm>
            <a:off x="1528440" y="5593921"/>
            <a:ext cx="720000" cy="432000"/>
          </a:xfrm>
          <a:prstGeom prst="round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4B3CA52-7064-FDB1-37D9-6C800244437A}"/>
              </a:ext>
            </a:extLst>
          </p:cNvPr>
          <p:cNvSpPr txBox="1"/>
          <p:nvPr/>
        </p:nvSpPr>
        <p:spPr>
          <a:xfrm>
            <a:off x="1564440" y="5629921"/>
            <a:ext cx="64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백업 서버</a:t>
            </a:r>
          </a:p>
        </p:txBody>
      </p:sp>
      <p:sp>
        <p:nvSpPr>
          <p:cNvPr id="125" name="Rounded Rectangle 49">
            <a:extLst>
              <a:ext uri="{FF2B5EF4-FFF2-40B4-BE49-F238E27FC236}">
                <a16:creationId xmlns:a16="http://schemas.microsoft.com/office/drawing/2014/main" id="{BB7B1E6E-BCAB-5604-9644-CC5CD3CF156B}"/>
              </a:ext>
            </a:extLst>
          </p:cNvPr>
          <p:cNvSpPr/>
          <p:nvPr/>
        </p:nvSpPr>
        <p:spPr>
          <a:xfrm>
            <a:off x="2356440" y="5593921"/>
            <a:ext cx="720000" cy="432000"/>
          </a:xfrm>
          <a:prstGeom prst="roundRect">
            <a:avLst/>
          </a:prstGeom>
          <a:solidFill>
            <a:srgbClr val="005B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FCBC43D-F4B8-99C2-4462-E3C74B7E8BE2}"/>
              </a:ext>
            </a:extLst>
          </p:cNvPr>
          <p:cNvSpPr txBox="1"/>
          <p:nvPr/>
        </p:nvSpPr>
        <p:spPr>
          <a:xfrm>
            <a:off x="2392440" y="5629921"/>
            <a:ext cx="648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오프사이트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9C90BD2-FF64-6C64-E4CA-0E0F96F3D51B}"/>
              </a:ext>
            </a:extLst>
          </p:cNvPr>
          <p:cNvSpPr txBox="1"/>
          <p:nvPr/>
        </p:nvSpPr>
        <p:spPr>
          <a:xfrm>
            <a:off x="592440" y="6097921"/>
            <a:ext cx="2556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0AEEF"/>
                </a:solidFill>
              </a:defRPr>
            </a:pPr>
            <a:r>
              <a:t>3개 위치에 복제 보관</a:t>
            </a:r>
          </a:p>
        </p:txBody>
      </p:sp>
      <p:sp>
        <p:nvSpPr>
          <p:cNvPr id="128" name="Rounded Rectangle 52">
            <a:extLst>
              <a:ext uri="{FF2B5EF4-FFF2-40B4-BE49-F238E27FC236}">
                <a16:creationId xmlns:a16="http://schemas.microsoft.com/office/drawing/2014/main" id="{7475D1E3-4FAC-9E15-918F-7D32023E2018}"/>
              </a:ext>
            </a:extLst>
          </p:cNvPr>
          <p:cNvSpPr/>
          <p:nvPr/>
        </p:nvSpPr>
        <p:spPr>
          <a:xfrm>
            <a:off x="3400440" y="5197921"/>
            <a:ext cx="2520000" cy="1260000"/>
          </a:xfrm>
          <a:prstGeom prst="roundRect">
            <a:avLst/>
          </a:prstGeom>
          <a:solidFill>
            <a:srgbClr val="F0FFF0"/>
          </a:solidFill>
          <a:ln w="25400">
            <a:solidFill>
              <a:srgbClr val="52C4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C24890F-C663-B40B-4A51-C8752B42957B}"/>
              </a:ext>
            </a:extLst>
          </p:cNvPr>
          <p:cNvSpPr txBox="1"/>
          <p:nvPr/>
        </p:nvSpPr>
        <p:spPr>
          <a:xfrm>
            <a:off x="3472439" y="5269921"/>
            <a:ext cx="2376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52C41A"/>
                </a:solidFill>
              </a:defRPr>
            </a:pPr>
            <a:r>
              <a:t>2개 매체</a:t>
            </a:r>
          </a:p>
        </p:txBody>
      </p:sp>
      <p:sp>
        <p:nvSpPr>
          <p:cNvPr id="130" name="Rounded Rectangle 54">
            <a:extLst>
              <a:ext uri="{FF2B5EF4-FFF2-40B4-BE49-F238E27FC236}">
                <a16:creationId xmlns:a16="http://schemas.microsoft.com/office/drawing/2014/main" id="{335D1D8D-65D3-5C3A-F2BC-40608146F622}"/>
              </a:ext>
            </a:extLst>
          </p:cNvPr>
          <p:cNvSpPr/>
          <p:nvPr/>
        </p:nvSpPr>
        <p:spPr>
          <a:xfrm>
            <a:off x="3652439" y="5593921"/>
            <a:ext cx="1007999" cy="432000"/>
          </a:xfrm>
          <a:prstGeom prst="round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66ECF2D-BD2B-80AB-CD89-1CB3B6866A93}"/>
              </a:ext>
            </a:extLst>
          </p:cNvPr>
          <p:cNvSpPr txBox="1"/>
          <p:nvPr/>
        </p:nvSpPr>
        <p:spPr>
          <a:xfrm>
            <a:off x="3688440" y="5609866"/>
            <a:ext cx="936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1000" dirty="0"/>
              <a:t>SSD</a:t>
            </a:r>
          </a:p>
          <a:p>
            <a:r>
              <a:rPr sz="1000" dirty="0"/>
              <a:t>(</a:t>
            </a:r>
            <a:r>
              <a:rPr sz="1000" dirty="0" err="1"/>
              <a:t>온프레미스</a:t>
            </a:r>
            <a:r>
              <a:rPr sz="1000" dirty="0"/>
              <a:t>)</a:t>
            </a:r>
          </a:p>
        </p:txBody>
      </p:sp>
      <p:sp>
        <p:nvSpPr>
          <p:cNvPr id="132" name="Rounded Rectangle 56">
            <a:extLst>
              <a:ext uri="{FF2B5EF4-FFF2-40B4-BE49-F238E27FC236}">
                <a16:creationId xmlns:a16="http://schemas.microsoft.com/office/drawing/2014/main" id="{CF628023-427B-FDC2-E146-F9E37BE52C94}"/>
              </a:ext>
            </a:extLst>
          </p:cNvPr>
          <p:cNvSpPr/>
          <p:nvPr/>
        </p:nvSpPr>
        <p:spPr>
          <a:xfrm>
            <a:off x="4768440" y="5593921"/>
            <a:ext cx="1007999" cy="432000"/>
          </a:xfrm>
          <a:prstGeom prst="round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681730F-A5CD-0577-5381-38CF10BE504C}"/>
              </a:ext>
            </a:extLst>
          </p:cNvPr>
          <p:cNvSpPr txBox="1"/>
          <p:nvPr/>
        </p:nvSpPr>
        <p:spPr>
          <a:xfrm>
            <a:off x="4804440" y="5609866"/>
            <a:ext cx="93600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lang="en-US" sz="1000" dirty="0" err="1"/>
              <a:t>MinIO</a:t>
            </a:r>
            <a:endParaRPr sz="1000" dirty="0"/>
          </a:p>
          <a:p>
            <a:pPr algn="ctr"/>
            <a:r>
              <a:rPr sz="1000" dirty="0"/>
              <a:t>(</a:t>
            </a:r>
            <a:r>
              <a:rPr lang="ko-KR" altLang="en-US" sz="1000" dirty="0" err="1"/>
              <a:t>온프레미스</a:t>
            </a:r>
            <a:r>
              <a:rPr sz="1000" dirty="0"/>
              <a:t>)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8ADF899-8C37-1932-119E-1DFD178D49AF}"/>
              </a:ext>
            </a:extLst>
          </p:cNvPr>
          <p:cNvSpPr txBox="1"/>
          <p:nvPr/>
        </p:nvSpPr>
        <p:spPr>
          <a:xfrm>
            <a:off x="3472439" y="6097921"/>
            <a:ext cx="2376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52C41A"/>
                </a:solidFill>
              </a:defRPr>
            </a:pPr>
            <a:r>
              <a:t>2가지 매체 사용</a:t>
            </a:r>
          </a:p>
        </p:txBody>
      </p:sp>
      <p:sp>
        <p:nvSpPr>
          <p:cNvPr id="135" name="Rounded Rectangle 59">
            <a:extLst>
              <a:ext uri="{FF2B5EF4-FFF2-40B4-BE49-F238E27FC236}">
                <a16:creationId xmlns:a16="http://schemas.microsoft.com/office/drawing/2014/main" id="{401A6FC4-941E-12C7-AD5B-57270FB8CFDC}"/>
              </a:ext>
            </a:extLst>
          </p:cNvPr>
          <p:cNvSpPr/>
          <p:nvPr/>
        </p:nvSpPr>
        <p:spPr>
          <a:xfrm>
            <a:off x="6100440" y="5197921"/>
            <a:ext cx="3311999" cy="1260000"/>
          </a:xfrm>
          <a:prstGeom prst="roundRect">
            <a:avLst/>
          </a:prstGeom>
          <a:solidFill>
            <a:srgbClr val="FFF5E6"/>
          </a:solidFill>
          <a:ln w="25400">
            <a:solidFill>
              <a:srgbClr val="F52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5D444EAB-5A24-8D05-5A8B-8D4760E0915C}"/>
              </a:ext>
            </a:extLst>
          </p:cNvPr>
          <p:cNvSpPr txBox="1"/>
          <p:nvPr/>
        </p:nvSpPr>
        <p:spPr>
          <a:xfrm>
            <a:off x="6172440" y="5269921"/>
            <a:ext cx="3168000" cy="251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5222D"/>
                </a:solidFill>
              </a:defRPr>
            </a:pPr>
            <a:r>
              <a:t>1개 오프사이트 + 복구 목표</a:t>
            </a:r>
          </a:p>
        </p:txBody>
      </p:sp>
      <p:sp>
        <p:nvSpPr>
          <p:cNvPr id="137" name="Rounded Rectangle 61">
            <a:extLst>
              <a:ext uri="{FF2B5EF4-FFF2-40B4-BE49-F238E27FC236}">
                <a16:creationId xmlns:a16="http://schemas.microsoft.com/office/drawing/2014/main" id="{9F11E1AF-43EF-6C27-DA97-9E12774C0835}"/>
              </a:ext>
            </a:extLst>
          </p:cNvPr>
          <p:cNvSpPr/>
          <p:nvPr/>
        </p:nvSpPr>
        <p:spPr>
          <a:xfrm>
            <a:off x="6280440" y="5593921"/>
            <a:ext cx="1440000" cy="432000"/>
          </a:xfrm>
          <a:prstGeom prst="roundRect">
            <a:avLst/>
          </a:prstGeom>
          <a:solidFill>
            <a:srgbClr val="F52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E9BC465-6CD3-D2A1-8AFE-417CE98E333E}"/>
              </a:ext>
            </a:extLst>
          </p:cNvPr>
          <p:cNvSpPr txBox="1"/>
          <p:nvPr/>
        </p:nvSpPr>
        <p:spPr>
          <a:xfrm>
            <a:off x="6316440" y="5594478"/>
            <a:ext cx="13680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lang="ko-KR" altLang="en-US" sz="1000" dirty="0"/>
              <a:t>원격데이터센터</a:t>
            </a:r>
            <a:endParaRPr sz="1000" dirty="0"/>
          </a:p>
          <a:p>
            <a:pPr algn="ctr"/>
            <a:r>
              <a:rPr lang="en-US" sz="1100" dirty="0" err="1"/>
              <a:t>MinIO</a:t>
            </a:r>
            <a:endParaRPr sz="1100" dirty="0"/>
          </a:p>
        </p:txBody>
      </p:sp>
      <p:sp>
        <p:nvSpPr>
          <p:cNvPr id="139" name="Rounded Rectangle 63">
            <a:extLst>
              <a:ext uri="{FF2B5EF4-FFF2-40B4-BE49-F238E27FC236}">
                <a16:creationId xmlns:a16="http://schemas.microsoft.com/office/drawing/2014/main" id="{FC043F5E-77B9-258A-CF8C-851760EBB8F6}"/>
              </a:ext>
            </a:extLst>
          </p:cNvPr>
          <p:cNvSpPr/>
          <p:nvPr/>
        </p:nvSpPr>
        <p:spPr>
          <a:xfrm>
            <a:off x="7828440" y="5593921"/>
            <a:ext cx="1440000" cy="432000"/>
          </a:xfrm>
          <a:prstGeom prst="round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C73E9AC8-9C1A-3B17-0B17-7CFE282FC266}"/>
              </a:ext>
            </a:extLst>
          </p:cNvPr>
          <p:cNvSpPr txBox="1"/>
          <p:nvPr/>
        </p:nvSpPr>
        <p:spPr>
          <a:xfrm>
            <a:off x="7864439" y="5586783"/>
            <a:ext cx="1368000" cy="4462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dirty="0"/>
              <a:t>RPO: 1시간</a:t>
            </a:r>
          </a:p>
          <a:p>
            <a:pPr algn="ctr"/>
            <a:r>
              <a:rPr sz="1400" dirty="0"/>
              <a:t>RTO: 30분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517BA56-B015-7C0D-86A8-DB80064F0687}"/>
              </a:ext>
            </a:extLst>
          </p:cNvPr>
          <p:cNvSpPr txBox="1"/>
          <p:nvPr/>
        </p:nvSpPr>
        <p:spPr>
          <a:xfrm>
            <a:off x="6172440" y="6097921"/>
            <a:ext cx="3168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5222D"/>
                </a:solidFill>
              </a:defRPr>
            </a:pPr>
            <a:r>
              <a:t>재해 복구 대비 + 신속한 복구</a:t>
            </a:r>
          </a:p>
        </p:txBody>
      </p:sp>
      <p:sp>
        <p:nvSpPr>
          <p:cNvPr id="142" name="직사각형 133">
            <a:extLst>
              <a:ext uri="{FF2B5EF4-FFF2-40B4-BE49-F238E27FC236}">
                <a16:creationId xmlns:a16="http://schemas.microsoft.com/office/drawing/2014/main" id="{5469CDBE-3EDB-78D1-546D-11CC20DE1103}"/>
              </a:ext>
            </a:extLst>
          </p:cNvPr>
          <p:cNvSpPr/>
          <p:nvPr/>
        </p:nvSpPr>
        <p:spPr>
          <a:xfrm>
            <a:off x="272482" y="1899419"/>
            <a:ext cx="9351288" cy="289239"/>
          </a:xfrm>
          <a:prstGeom prst="rect">
            <a:avLst/>
          </a:prstGeom>
          <a:solidFill>
            <a:srgbClr val="0066AC"/>
          </a:solidFill>
          <a:ln w="6350">
            <a:noFill/>
          </a:ln>
        </p:spPr>
        <p:txBody>
          <a:bodyPr vert="horz" wrap="square" lIns="3600" tIns="3600" rIns="3600" bIns="36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① Circuit Breaker: </a:t>
            </a:r>
            <a:r>
              <a:rPr lang="ko-KR" altLang="en-US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모델 장애 시 자동 </a:t>
            </a:r>
            <a:r>
              <a:rPr lang="en-US" altLang="ko-KR" sz="1200" b="1" dirty="0">
                <a:solidFill>
                  <a:schemeClr val="bg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Fallback</a:t>
            </a:r>
          </a:p>
        </p:txBody>
      </p:sp>
    </p:spTree>
    <p:extLst>
      <p:ext uri="{BB962C8B-B14F-4D97-AF65-F5344CB8AC3E}">
        <p14:creationId xmlns:p14="http://schemas.microsoft.com/office/powerpoint/2010/main" val="3808613474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코펍">
      <a:majorFont>
        <a:latin typeface="KoPub돋움체 Bold"/>
        <a:ea typeface="KoPub돋움체 Bold"/>
        <a:cs typeface=""/>
      </a:majorFont>
      <a:minorFont>
        <a:latin typeface="KoPub돋움체 Medium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스퀘어 ExtraBold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10098</TotalTime>
  <Words>5986</Words>
  <Application>Microsoft Office PowerPoint</Application>
  <PresentationFormat>A4 Paper (210x297 mm)</PresentationFormat>
  <Paragraphs>1387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KoPub돋움체 Light</vt:lpstr>
      <vt:lpstr>KoPub돋움체 Bold</vt:lpstr>
      <vt:lpstr>Arial</vt:lpstr>
      <vt:lpstr>맑은 고딕</vt:lpstr>
      <vt:lpstr>KoPub돋움체 Medium</vt:lpstr>
      <vt:lpstr>디자인 사용자 지정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지수 김</dc:creator>
  <cp:lastModifiedBy>Daniel Kwak</cp:lastModifiedBy>
  <cp:revision>173</cp:revision>
  <dcterms:created xsi:type="dcterms:W3CDTF">2023-07-07T00:08:24Z</dcterms:created>
  <dcterms:modified xsi:type="dcterms:W3CDTF">2025-11-26T08:14:36Z</dcterms:modified>
</cp:coreProperties>
</file>